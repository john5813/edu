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IMG_20250823_092819_616_1764043160501.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914400" y="2743200"/>
            <a:ext cx="10360152" cy="1828800"/>
          </a:xfrm>
          <a:prstGeom prst="rect">
            <a:avLst/>
          </a:prstGeom>
          <a:noFill/>
        </p:spPr>
        <p:txBody>
          <a:bodyPr wrap="square">
            <a:spAutoFit/>
          </a:bodyPr>
          <a:lstStyle/>
          <a:p>
            <a:pPr algn="ctr">
              <a:defRPr sz="4600" b="1"/>
            </a:pPr>
            <a:r>
              <a:t>Yadro reaktoʻri va tezlatgizlardagi jarayonlar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IMG_20250823_092819_616_1764043160501.jpg"/>
          <p:cNvPicPr>
            <a:picLocks noChangeAspect="1"/>
          </p:cNvPicPr>
          <p:nvPr/>
        </p:nvPicPr>
        <p:blipFill>
          <a:blip r:embed="rId2"/>
          <a:stretch>
            <a:fillRect/>
          </a:stretch>
        </p:blipFill>
        <p:spPr>
          <a:xfrm>
            <a:off x="0" y="0"/>
            <a:ext cx="12188952" cy="6858000"/>
          </a:xfrm>
          <a:prstGeom prst="rect">
            <a:avLst/>
          </a:prstGeom>
        </p:spPr>
      </p:pic>
      <p:sp>
        <p:nvSpPr>
          <p:cNvPr id="2" name="Title 1"/>
          <p:cNvSpPr>
            <a:spLocks noGrp="1"/>
          </p:cNvSpPr>
          <p:nvPr>
            <p:ph type="title"/>
          </p:nvPr>
        </p:nvSpPr>
        <p:spPr/>
        <p:txBody>
          <a:bodyPr/>
          <a:lstStyle/>
          <a:p>
            <a:pPr algn="ctr">
              <a:defRPr sz="3000" b="1"/>
            </a:pPr>
            <a:r>
              <a:t>Yadro Reaktorlari: Asosiy Tushunchalar</a:t>
            </a:r>
          </a:p>
        </p:txBody>
      </p:sp>
      <p:sp>
        <p:nvSpPr>
          <p:cNvPr id="3" name="Content Placeholder 2"/>
          <p:cNvSpPr>
            <a:spLocks noGrp="1"/>
          </p:cNvSpPr>
          <p:nvPr>
            <p:ph idx="1"/>
          </p:nvPr>
        </p:nvSpPr>
        <p:spPr/>
        <p:txBody>
          <a:bodyPr wrap="square"/>
          <a:lstStyle/>
          <a:p>
            <a:pPr algn="l">
              <a:defRPr sz="1800"/>
            </a:pPr>
            <a:r>
              <a:t>Yadro reaktorlari atom energiyasini ishlab chiqarish uchun ishlatiladigan qurilmalardir. Ular yadro bo'linish jarayonini boshqarish orqali energiya olishga imkon beradi. Yadro reaktorlari elektr energiyasini ishlab chiqarishda muhim rol o'ynaydi va ko'plab mamlakatlarda keng qo'llaniladi. Reaktorlarda yoqilg'i sifatida uran yoki plutoniy kabi radioaktiv elementlar ishlatiladi. Ushbu elementlar zanjirli reaksiya hosil qilib, katta miqdorda issiqlik energiyasini chiqaradi.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IMG_20250823_092819_616_1764043160501.jpg"/>
          <p:cNvPicPr>
            <a:picLocks noChangeAspect="1"/>
          </p:cNvPicPr>
          <p:nvPr/>
        </p:nvPicPr>
        <p:blipFill>
          <a:blip r:embed="rId2"/>
          <a:stretch>
            <a:fillRect/>
          </a:stretch>
        </p:blipFill>
        <p:spPr>
          <a:xfrm>
            <a:off x="0" y="0"/>
            <a:ext cx="12188952" cy="6858000"/>
          </a:xfrm>
          <a:prstGeom prst="rect">
            <a:avLst/>
          </a:prstGeom>
        </p:spPr>
      </p:pic>
      <p:sp>
        <p:nvSpPr>
          <p:cNvPr id="2" name="Title 1"/>
          <p:cNvSpPr>
            <a:spLocks noGrp="1"/>
          </p:cNvSpPr>
          <p:nvPr>
            <p:ph type="title"/>
          </p:nvPr>
        </p:nvSpPr>
        <p:spPr/>
        <p:txBody>
          <a:bodyPr/>
          <a:lstStyle/>
          <a:p>
            <a:pPr algn="ctr">
              <a:defRPr sz="3000" b="1"/>
            </a:pPr>
            <a:r>
              <a:t>Tezlatgichlar va Ularning Vazifalari</a:t>
            </a:r>
          </a:p>
        </p:txBody>
      </p:sp>
      <p:sp>
        <p:nvSpPr>
          <p:cNvPr id="3" name="Content Placeholder 2"/>
          <p:cNvSpPr>
            <a:spLocks noGrp="1"/>
          </p:cNvSpPr>
          <p:nvPr>
            <p:ph idx="1"/>
          </p:nvPr>
        </p:nvSpPr>
        <p:spPr/>
        <p:txBody>
          <a:bodyPr wrap="square"/>
          <a:lstStyle/>
          <a:p>
            <a:pPr algn="l">
              <a:defRPr sz="1800"/>
            </a:pPr>
            <a:r>
              <a:t>Tezlatgichlar elementar zarrachalarni yuqori energiya darajalariga chiqarish uchun ishlatiladigan asboblar bo'lib, ular yadro fizikasi, materiallar tadqiqoti va tibbiyotda keng qo'llaniladi. Tezlatgichlar zarrachalarni juda yuqori tezlikka, hatto yorug'lik tezligiga yaqin tezlikka yetkazishi mumkin. Ushbu jarayonlar ilmiy tadqiqotlar uchun muhim ahamiyatga ega bo'lib, ular atom tuzilishini chuqur o'rganishga yordam beradi va yangi texnologiyalarni rivojlantirishda foydalaniladi.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IMG_20250823_092819_616_1764043160501.jpg"/>
          <p:cNvPicPr>
            <a:picLocks noChangeAspect="1"/>
          </p:cNvPicPr>
          <p:nvPr/>
        </p:nvPicPr>
        <p:blipFill>
          <a:blip r:embed="rId3"/>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Yadro Reaktorlaridagi Jarayonlar</a:t>
            </a:r>
          </a:p>
        </p:txBody>
      </p:sp>
      <p:sp>
        <p:nvSpPr>
          <p:cNvPr id="3" name="TextBox 2"/>
          <p:cNvSpPr txBox="1"/>
          <p:nvPr/>
        </p:nvSpPr>
        <p:spPr>
          <a:xfrm>
            <a:off x="457200" y="1828800"/>
            <a:ext cx="5486400" cy="4572000"/>
          </a:xfrm>
          <a:prstGeom prst="rect">
            <a:avLst/>
          </a:prstGeom>
          <a:noFill/>
        </p:spPr>
        <p:txBody>
          <a:bodyPr wrap="square">
            <a:spAutoFit/>
          </a:bodyPr>
          <a:lstStyle/>
          <a:p>
            <a:pPr algn="l">
              <a:defRPr sz="2000" b="1">
                <a:solidFill>
                  <a:srgbClr val="000000"/>
                </a:solidFill>
              </a:defRPr>
            </a:pPr>
            <a:r>
              <a:t>Yadro reaktorlari ichida, yadro bo'linish jarayoni davomida uran yoki plutoniy atomlari neytronlar bilan to'qnashadi va bo'linadi, natijada katta miqdorda energiya ajralib chiqadi. Ushbu energiya issiqlik ko'rinishida chiqib, suyuqlik yoki gaz orqali issiqlik almashtirgichlarga o'tkaziladi, bu esa bug' generatorlarini harakatga keltiradi. Bug' esa, o'z navbatida, turbinani aylantirib, elektr generatorini harakatga keltiradi. Shu tariqa, yadro energiyasi elektr energiyasiga aylanadi, bu esa butun dunyo bo'ylab ko'plab uylar va korxonalarga energiya yetkazib beradi.</a:t>
            </a:r>
          </a:p>
        </p:txBody>
      </p:sp>
      <p:pic>
        <p:nvPicPr>
          <p:cNvPr id="4" name="Picture 3" descr="dalle_slide_3.png"/>
          <p:cNvPicPr>
            <a:picLocks noChangeAspect="1"/>
          </p:cNvPicPr>
          <p:nvPr/>
        </p:nvPicPr>
        <p:blipFill>
          <a:blip r:embed="rId2"/>
          <a:stretch>
            <a:fillRect/>
          </a:stretch>
        </p:blipFill>
        <p:spPr>
          <a:xfrm>
            <a:off x="6217920" y="1828800"/>
            <a:ext cx="5486400" cy="4572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IMG_20250823_092819_616_1764043160501.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Reaktorning Ishlash Tamoyillari</a:t>
            </a:r>
          </a:p>
        </p:txBody>
      </p:sp>
      <p:sp>
        <p:nvSpPr>
          <p:cNvPr id="3" name="TextBox 2"/>
          <p:cNvSpPr txBox="1"/>
          <p:nvPr/>
        </p:nvSpPr>
        <p:spPr>
          <a:xfrm>
            <a:off x="457200" y="1828800"/>
            <a:ext cx="3474720" cy="4114800"/>
          </a:xfrm>
          <a:prstGeom prst="rect">
            <a:avLst/>
          </a:prstGeom>
          <a:noFill/>
        </p:spPr>
        <p:txBody>
          <a:bodyPr wrap="square">
            <a:spAutoFit/>
          </a:bodyPr>
          <a:lstStyle/>
          <a:p>
            <a:pPr algn="ctr">
              <a:defRPr sz="1800" b="1">
                <a:solidFill>
                  <a:srgbClr val="000000"/>
                </a:solidFill>
                <a:latin typeface="Times New Roman"/>
              </a:defRPr>
            </a:pPr>
            <a:r>
              <a:t>Yadro Reaktorining Asosiy Elementlari</a:t>
            </a:r>
          </a:p>
          <a:p>
            <a:pPr algn="l">
              <a:defRPr sz="1800">
                <a:solidFill>
                  <a:srgbClr val="000000"/>
                </a:solidFill>
                <a:latin typeface="Times New Roman"/>
              </a:defRPr>
            </a:pPr>
            <a:r>
              <a:t>Yadro reaktorining asosiy elementlari orasida yoqilgʻi majmuasi, moderator, sovutgich, va boshqaruv novdalari kiradi. Yoqilgʻi majmuasi odatda uran yoki plutoniydan iborat bo'lib, yadroviy zanjir reaktsiyasini boshlaydi. Moderator neytronlarning tezligini pasaytirish orqali reaktivlikni boshqaradi. Sovutgich issiqlikni olib tashlash uchun ishlatiladi, boshqaruv novdalari esa reaktsiyani tezligini nazorat qilishda muhim ahamiyatga ega.</a:t>
            </a:r>
          </a:p>
        </p:txBody>
      </p:sp>
      <p:sp>
        <p:nvSpPr>
          <p:cNvPr id="4" name="TextBox 3"/>
          <p:cNvSpPr txBox="1"/>
          <p:nvPr/>
        </p:nvSpPr>
        <p:spPr>
          <a:xfrm>
            <a:off x="4297680" y="1828800"/>
            <a:ext cx="3474720" cy="4114800"/>
          </a:xfrm>
          <a:prstGeom prst="rect">
            <a:avLst/>
          </a:prstGeom>
          <a:noFill/>
        </p:spPr>
        <p:txBody>
          <a:bodyPr wrap="square">
            <a:spAutoFit/>
          </a:bodyPr>
          <a:lstStyle/>
          <a:p>
            <a:pPr algn="ctr">
              <a:defRPr sz="1800" b="1">
                <a:solidFill>
                  <a:srgbClr val="000000"/>
                </a:solidFill>
                <a:latin typeface="Times New Roman"/>
              </a:defRPr>
            </a:pPr>
            <a:r>
              <a:t>Reaktorlar Turlari</a:t>
            </a:r>
          </a:p>
          <a:p>
            <a:pPr algn="l">
              <a:defRPr sz="1800">
                <a:solidFill>
                  <a:srgbClr val="000000"/>
                </a:solidFill>
                <a:latin typeface="Times New Roman"/>
              </a:defRPr>
            </a:pPr>
            <a:r>
              <a:t>Yadro reaktorlari bir qancha turlarga bo'linadi: bosimli suv reaktorlari, qaynoq suv reaktorlari, tez neytron reaktorlari va gaz sovutgichli reaktorlari. Bosimli suv reaktorlari, asosan, elektr energiyasi ishlab chiqarishda ishlatiladi va ular suvni sovutgich va moderator sifatida qo'llaydi. Tez neytron reaktorlari esa tez neytronlar yordamida ishlaydi va yoqilgʻi samaradorligini oshirish imkonini beradi.</a:t>
            </a:r>
          </a:p>
        </p:txBody>
      </p:sp>
      <p:sp>
        <p:nvSpPr>
          <p:cNvPr id="5" name="TextBox 4"/>
          <p:cNvSpPr txBox="1"/>
          <p:nvPr/>
        </p:nvSpPr>
        <p:spPr>
          <a:xfrm>
            <a:off x="8138160" y="1828800"/>
            <a:ext cx="3474720" cy="4114800"/>
          </a:xfrm>
          <a:prstGeom prst="rect">
            <a:avLst/>
          </a:prstGeom>
          <a:noFill/>
        </p:spPr>
        <p:txBody>
          <a:bodyPr wrap="square">
            <a:spAutoFit/>
          </a:bodyPr>
          <a:lstStyle/>
          <a:p>
            <a:pPr algn="ctr">
              <a:defRPr sz="1800" b="1">
                <a:solidFill>
                  <a:srgbClr val="000000"/>
                </a:solidFill>
                <a:latin typeface="Times New Roman"/>
              </a:defRPr>
            </a:pPr>
            <a:r>
              <a:t>Xavfsizlik Choralari</a:t>
            </a:r>
          </a:p>
          <a:p>
            <a:pPr algn="l">
              <a:defRPr sz="1800">
                <a:solidFill>
                  <a:srgbClr val="000000"/>
                </a:solidFill>
                <a:latin typeface="Times New Roman"/>
              </a:defRPr>
            </a:pPr>
            <a:r>
              <a:t>Yadro reaktorlarida xavfsizlik choralari juda muhimdir. Barcha tizimlar ortiqcha bosimdan himoya qilish, reaktivlikni nazorat qilish va issiqlikni samarali chiqarib tashlash uchun maxsus mo'ljallangan. Favqulodda vaziyatlarda reaktorni o'chirish uchun avtomatik tizimlar mavjud. Boshqa muhim choralarga zahiralangan sovutgich tizimlari va radiatsiyadan himoyalanish kiradi, bu esa yadro xavfsizligini ta'minlashga xizmat qiladi.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IMG_20250823_092819_616_1764043160501.jpg"/>
          <p:cNvPicPr>
            <a:picLocks noChangeAspect="1"/>
          </p:cNvPicPr>
          <p:nvPr/>
        </p:nvPicPr>
        <p:blipFill>
          <a:blip r:embed="rId2"/>
          <a:stretch>
            <a:fillRect/>
          </a:stretch>
        </p:blipFill>
        <p:spPr>
          <a:xfrm>
            <a:off x="0" y="0"/>
            <a:ext cx="12188952" cy="6858000"/>
          </a:xfrm>
          <a:prstGeom prst="rect">
            <a:avLst/>
          </a:prstGeom>
        </p:spPr>
      </p:pic>
      <p:sp>
        <p:nvSpPr>
          <p:cNvPr id="2" name="Title 1"/>
          <p:cNvSpPr>
            <a:spLocks noGrp="1"/>
          </p:cNvSpPr>
          <p:nvPr>
            <p:ph type="title"/>
          </p:nvPr>
        </p:nvSpPr>
        <p:spPr/>
        <p:txBody>
          <a:bodyPr/>
          <a:lstStyle/>
          <a:p>
            <a:pPr algn="ctr">
              <a:defRPr sz="3000" b="1"/>
            </a:pPr>
            <a:r>
              <a:t>Tezlatgichlarning Vazifasi</a:t>
            </a:r>
          </a:p>
        </p:txBody>
      </p:sp>
      <p:sp>
        <p:nvSpPr>
          <p:cNvPr id="3" name="Content Placeholder 2"/>
          <p:cNvSpPr>
            <a:spLocks noGrp="1"/>
          </p:cNvSpPr>
          <p:nvPr>
            <p:ph idx="1"/>
          </p:nvPr>
        </p:nvSpPr>
        <p:spPr/>
        <p:txBody>
          <a:bodyPr wrap="square"/>
          <a:lstStyle/>
          <a:p>
            <a:pPr algn="l">
              <a:defRPr sz="1800"/>
            </a:pPr>
            <a:r>
              <a:t>Tezlatgichlar elementar zarrachalarni yuqori energiyaga ko'tarish uchun ishlatiladi, bu esa ilmiy tadqiqotlar va tibbiyotda keng qo'llaniladi. Ular zarrachalarni juda yuqori tezlikka yetkazib, yadro reaksiyalarini boshlash yoki yangi elementar zarrachalarni kashf etishga yordam beradi. Ushbu jarayonlar, ayniqsa, subatomik zarrachalar fizikasi va yadro tibbiyotida katta ahamiyatga ega bo'lib, ular bilan ko'plab fundamental kashfiyotlar amalga oshiriladi.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IMG_20250823_092819_616_1764043160501.jpg"/>
          <p:cNvPicPr>
            <a:picLocks noChangeAspect="1"/>
          </p:cNvPicPr>
          <p:nvPr/>
        </p:nvPicPr>
        <p:blipFill>
          <a:blip r:embed="rId3"/>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Zarrachalar Tezlatgichlarining Turlari</a:t>
            </a:r>
          </a:p>
        </p:txBody>
      </p:sp>
      <p:sp>
        <p:nvSpPr>
          <p:cNvPr id="3" name="TextBox 2"/>
          <p:cNvSpPr txBox="1"/>
          <p:nvPr/>
        </p:nvSpPr>
        <p:spPr>
          <a:xfrm>
            <a:off x="457200" y="1828800"/>
            <a:ext cx="5486400" cy="4572000"/>
          </a:xfrm>
          <a:prstGeom prst="rect">
            <a:avLst/>
          </a:prstGeom>
          <a:noFill/>
        </p:spPr>
        <p:txBody>
          <a:bodyPr wrap="square">
            <a:spAutoFit/>
          </a:bodyPr>
          <a:lstStyle/>
          <a:p>
            <a:pPr algn="l">
              <a:defRPr sz="2000" b="1">
                <a:solidFill>
                  <a:srgbClr val="000000"/>
                </a:solidFill>
              </a:defRPr>
            </a:pPr>
            <a:r>
              <a:t>Zarrachalar tezlatgichlari turli maqsadlarga xizmat qiladi va bir nechta turlarga bo'linadi. Lineer tezlatgichlar zarrachalarni to'g'ri chiziqli yo'nalishda tezlatadi, bu esa ularni tibbiy maqsadlarda, xususan, radioterapiyada qo'llashga imkon beradi. Siklotronlar esa zarrachalarni aylanma yo'nalishda tezlatadi va ular ko'proq fundamental tadqiqotlar uchun ishlatiladi. Boshqa bir tur - sinxrotronlar, ular zarrachalarni doimiy magnit maydonlar yordamida tezlatadi va turli ilmiy tajribalarda qo'llaniladi. Tezlatgichlarning har bir turi o'ziga xos xususiyatlari va afzalliklariga ega bo'lib, ular turli sohalarda keng qo'llaniladi.</a:t>
            </a:r>
          </a:p>
        </p:txBody>
      </p:sp>
      <p:pic>
        <p:nvPicPr>
          <p:cNvPr id="4" name="Picture 3" descr="dalle_slide_6.png"/>
          <p:cNvPicPr>
            <a:picLocks noChangeAspect="1"/>
          </p:cNvPicPr>
          <p:nvPr/>
        </p:nvPicPr>
        <p:blipFill>
          <a:blip r:embed="rId2"/>
          <a:stretch>
            <a:fillRect/>
          </a:stretch>
        </p:blipFill>
        <p:spPr>
          <a:xfrm>
            <a:off x="6217920" y="1828800"/>
            <a:ext cx="5486400" cy="4572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IMG_20250823_092819_616_1764043160501.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Yadro Reaktorlarining Turlari</a:t>
            </a:r>
          </a:p>
        </p:txBody>
      </p:sp>
      <p:sp>
        <p:nvSpPr>
          <p:cNvPr id="3" name="TextBox 2"/>
          <p:cNvSpPr txBox="1"/>
          <p:nvPr/>
        </p:nvSpPr>
        <p:spPr>
          <a:xfrm>
            <a:off x="457200" y="1828800"/>
            <a:ext cx="3474720" cy="4114800"/>
          </a:xfrm>
          <a:prstGeom prst="rect">
            <a:avLst/>
          </a:prstGeom>
          <a:noFill/>
        </p:spPr>
        <p:txBody>
          <a:bodyPr wrap="square">
            <a:spAutoFit/>
          </a:bodyPr>
          <a:lstStyle/>
          <a:p>
            <a:pPr algn="ctr">
              <a:defRPr sz="1800" b="1">
                <a:solidFill>
                  <a:srgbClr val="000000"/>
                </a:solidFill>
                <a:latin typeface="Times New Roman"/>
              </a:defRPr>
            </a:pPr>
            <a:r>
              <a:t>Yadro Energiya Reaktorlari</a:t>
            </a:r>
          </a:p>
          <a:p>
            <a:pPr algn="l">
              <a:defRPr sz="1800">
                <a:solidFill>
                  <a:srgbClr val="000000"/>
                </a:solidFill>
                <a:latin typeface="Times New Roman"/>
              </a:defRPr>
            </a:pPr>
            <a:r>
              <a:t>Yadro energiyasi reaktorlari, atom yadrosining bo'linishi natijasida hosil bo'lgan energiyani nazorat ostida chiqarish orqali elektr energiyasini ishlab chiqaradi. Eng keng tarqalgan reaktorlarga yengil suv, og'ir suv va tez neytro'n reaktorlari kiradi. Har bir turi o'ziga xos texnologik xususiyatlarga ega, bu ularning samaradorligi va xavfsizligini belgilaydi.</a:t>
            </a:r>
          </a:p>
        </p:txBody>
      </p:sp>
      <p:sp>
        <p:nvSpPr>
          <p:cNvPr id="4" name="TextBox 3"/>
          <p:cNvSpPr txBox="1"/>
          <p:nvPr/>
        </p:nvSpPr>
        <p:spPr>
          <a:xfrm>
            <a:off x="4297680" y="1828800"/>
            <a:ext cx="3474720" cy="4114800"/>
          </a:xfrm>
          <a:prstGeom prst="rect">
            <a:avLst/>
          </a:prstGeom>
          <a:noFill/>
        </p:spPr>
        <p:txBody>
          <a:bodyPr wrap="square">
            <a:spAutoFit/>
          </a:bodyPr>
          <a:lstStyle/>
          <a:p>
            <a:pPr algn="ctr">
              <a:defRPr sz="1800" b="1">
                <a:solidFill>
                  <a:srgbClr val="000000"/>
                </a:solidFill>
                <a:latin typeface="Times New Roman"/>
              </a:defRPr>
            </a:pPr>
            <a:r>
              <a:t>Tezlatgichlar</a:t>
            </a:r>
          </a:p>
          <a:p>
            <a:pPr algn="l">
              <a:defRPr sz="1800">
                <a:solidFill>
                  <a:srgbClr val="000000"/>
                </a:solidFill>
                <a:latin typeface="Times New Roman"/>
              </a:defRPr>
            </a:pPr>
            <a:r>
              <a:t>Tezlatgichlar yadro zarralarini yuqori tezlikda harakatlantirish uchun ishlatiladi, bu esa ularni yangi elementlar yaratish yoki tibbiy amaliyotlarda qo'llash imkonini beradi. Sinxrotron va siklotron kabi texnologiyalar tezlatgichlarda keng qo'llaniladi. Tezlatgichlar ilmiy tadqiqotlarda muhim rol o'ynaydi.</a:t>
            </a:r>
          </a:p>
        </p:txBody>
      </p:sp>
      <p:sp>
        <p:nvSpPr>
          <p:cNvPr id="5" name="TextBox 4"/>
          <p:cNvSpPr txBox="1"/>
          <p:nvPr/>
        </p:nvSpPr>
        <p:spPr>
          <a:xfrm>
            <a:off x="8138160" y="1828800"/>
            <a:ext cx="3474720" cy="4114800"/>
          </a:xfrm>
          <a:prstGeom prst="rect">
            <a:avLst/>
          </a:prstGeom>
          <a:noFill/>
        </p:spPr>
        <p:txBody>
          <a:bodyPr wrap="square">
            <a:spAutoFit/>
          </a:bodyPr>
          <a:lstStyle/>
          <a:p>
            <a:pPr algn="ctr">
              <a:defRPr sz="1800" b="1">
                <a:solidFill>
                  <a:srgbClr val="000000"/>
                </a:solidFill>
                <a:latin typeface="Times New Roman"/>
              </a:defRPr>
            </a:pPr>
            <a:r>
              <a:t>Xavfsizlik Muammolari</a:t>
            </a:r>
          </a:p>
          <a:p>
            <a:pPr algn="l">
              <a:defRPr sz="1800">
                <a:solidFill>
                  <a:srgbClr val="000000"/>
                </a:solidFill>
                <a:latin typeface="Times New Roman"/>
              </a:defRPr>
            </a:pPr>
            <a:r>
              <a:t>Yadro reaktorlari va tezlatgichlar bilan ishlashda xavfsizlik muammolari doimo dolzarb. Radiatsiyadan himoya qilish, portlash va isish xavfini nazorat qilish uchun maxsus chora-tadbirlar ko'rilmog'i lozim. Xavfsizlik protokollari va texnik xizmat ko'rsatish jarayonlari bu muhim masalalarning barchasini qamrab oladi.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IMG_20250823_092819_616_1764043160501.jpg"/>
          <p:cNvPicPr>
            <a:picLocks noChangeAspect="1"/>
          </p:cNvPicPr>
          <p:nvPr/>
        </p:nvPicPr>
        <p:blipFill>
          <a:blip r:embed="rId2"/>
          <a:stretch>
            <a:fillRect/>
          </a:stretch>
        </p:blipFill>
        <p:spPr>
          <a:xfrm>
            <a:off x="0" y="0"/>
            <a:ext cx="12188952" cy="6858000"/>
          </a:xfrm>
          <a:prstGeom prst="rect">
            <a:avLst/>
          </a:prstGeom>
        </p:spPr>
      </p:pic>
      <p:sp>
        <p:nvSpPr>
          <p:cNvPr id="2" name="Title 1"/>
          <p:cNvSpPr>
            <a:spLocks noGrp="1"/>
          </p:cNvSpPr>
          <p:nvPr>
            <p:ph type="title"/>
          </p:nvPr>
        </p:nvSpPr>
        <p:spPr/>
        <p:txBody>
          <a:bodyPr/>
          <a:lstStyle/>
          <a:p>
            <a:pPr algn="ctr">
              <a:defRPr sz="3000" b="1"/>
            </a:pPr>
            <a:r>
              <a:t>Yadro Reaktorlarining Ishlash Mexanizmi</a:t>
            </a:r>
          </a:p>
        </p:txBody>
      </p:sp>
      <p:sp>
        <p:nvSpPr>
          <p:cNvPr id="3" name="Content Placeholder 2"/>
          <p:cNvSpPr>
            <a:spLocks noGrp="1"/>
          </p:cNvSpPr>
          <p:nvPr>
            <p:ph idx="1"/>
          </p:nvPr>
        </p:nvSpPr>
        <p:spPr/>
        <p:txBody>
          <a:bodyPr wrap="square"/>
          <a:lstStyle/>
          <a:p>
            <a:pPr algn="l">
              <a:defRPr sz="1800"/>
            </a:pPr>
            <a:r>
              <a:t>Yadro reaktorlarining ishlashi atom yadrolarining bo'linishiga asoslanadi, bu jarayonda katta miqdorda issiqlik energiyasi ajraladi. Bu issiqlik suvni bug'ga aylantiradi, bu esa o'z navbatida bug' turbinalarini aylantirib, elektr energiyasini ishlab chiqaradi. Reaktor yadrosi, sovutish tizimi va nazorat novdalari bu jarayonda muhim rol o'ynaydi.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IMG_20250823_092819_616_1764043160501.jpg"/>
          <p:cNvPicPr>
            <a:picLocks noChangeAspect="1"/>
          </p:cNvPicPr>
          <p:nvPr/>
        </p:nvPicPr>
        <p:blipFill>
          <a:blip r:embed="rId3"/>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Tezlatgichlarning Ilmiy Tadqiqotlardagi Roli</a:t>
            </a:r>
          </a:p>
        </p:txBody>
      </p:sp>
      <p:sp>
        <p:nvSpPr>
          <p:cNvPr id="3" name="TextBox 2"/>
          <p:cNvSpPr txBox="1"/>
          <p:nvPr/>
        </p:nvSpPr>
        <p:spPr>
          <a:xfrm>
            <a:off x="457200" y="1828800"/>
            <a:ext cx="5486400" cy="4572000"/>
          </a:xfrm>
          <a:prstGeom prst="rect">
            <a:avLst/>
          </a:prstGeom>
          <a:noFill/>
        </p:spPr>
        <p:txBody>
          <a:bodyPr wrap="square">
            <a:spAutoFit/>
          </a:bodyPr>
          <a:lstStyle/>
          <a:p>
            <a:pPr algn="l">
              <a:defRPr sz="2000" b="1">
                <a:solidFill>
                  <a:srgbClr val="000000"/>
                </a:solidFill>
              </a:defRPr>
            </a:pPr>
            <a:r>
              <a:t>Tezlatgichlar zamonaviy ilmiy tadqiqotlarda muhim rol o'ynaydi. Ular subatomik zarralarni yuqori energiyaga yetkazib, fundamental fizik hodisalarni o'rganish imkonini beradi. Masalan, yangi elementlar sintez qilish yoki zarralar xususiyatlarini o'rganish uchun tezlatgichlar qo'llaniladi. CERN kabi tashkilotlar katta tezlatgichlarni ishlatib, koinotning boshlang'ich sharoitlarini qayta tiklash va yangi fizik qonuniyatlarni kashf qilish uchun tajribalarda foydalanadi. Tezlatgichlar yadro fizikasi va boshqa fanlar sohalarida yangi ufqlarni ochadi.</a:t>
            </a:r>
          </a:p>
        </p:txBody>
      </p:sp>
      <p:pic>
        <p:nvPicPr>
          <p:cNvPr id="4" name="Picture 3" descr="dalle_slide_9.png"/>
          <p:cNvPicPr>
            <a:picLocks noChangeAspect="1"/>
          </p:cNvPicPr>
          <p:nvPr/>
        </p:nvPicPr>
        <p:blipFill>
          <a:blip r:embed="rId2"/>
          <a:stretch>
            <a:fillRect/>
          </a:stretch>
        </p:blipFill>
        <p:spPr>
          <a:xfrm>
            <a:off x="6217920" y="1828800"/>
            <a:ext cx="5486400" cy="4572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IMG_20250823_092819_616_1764043160501.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Yadro Reaktorlari va Tezlatgichlar</a:t>
            </a:r>
          </a:p>
        </p:txBody>
      </p:sp>
      <p:sp>
        <p:nvSpPr>
          <p:cNvPr id="3" name="TextBox 2"/>
          <p:cNvSpPr txBox="1"/>
          <p:nvPr/>
        </p:nvSpPr>
        <p:spPr>
          <a:xfrm>
            <a:off x="457200" y="1828800"/>
            <a:ext cx="3474720" cy="4114800"/>
          </a:xfrm>
          <a:prstGeom prst="rect">
            <a:avLst/>
          </a:prstGeom>
          <a:noFill/>
        </p:spPr>
        <p:txBody>
          <a:bodyPr wrap="square">
            <a:spAutoFit/>
          </a:bodyPr>
          <a:lstStyle/>
          <a:p>
            <a:pPr algn="ctr">
              <a:defRPr sz="1800" b="1">
                <a:solidFill>
                  <a:srgbClr val="000000"/>
                </a:solidFill>
                <a:latin typeface="Times New Roman"/>
              </a:defRPr>
            </a:pPr>
            <a:r>
              <a:t>Yadro Reaktorlari Turlari</a:t>
            </a:r>
          </a:p>
          <a:p>
            <a:pPr algn="l">
              <a:defRPr sz="1800">
                <a:solidFill>
                  <a:srgbClr val="000000"/>
                </a:solidFill>
                <a:latin typeface="Times New Roman"/>
              </a:defRPr>
            </a:pPr>
            <a:r>
              <a:t>Yadro reaktorlari energiya ishlab chiqarish uchun turli dizaynlarda bo'ladi. Eng asosiylari ichida yengil suv reaktorlari, og'ir suv reaktorlari va tez neytron reaktorlar mavjud. Har bir tur o'ziga xos texnologik jarayonlar va xavfsizlik tizimlariga ega bo'lib, atom energetikasida muhim rol o'ynaydi. Ular yuqori energiya zichligini ta'minlaydi va energiya ishlab chiqarish jarayonida karbonat angidrid chiqindilarini kamaytiradi.</a:t>
            </a:r>
          </a:p>
        </p:txBody>
      </p:sp>
      <p:sp>
        <p:nvSpPr>
          <p:cNvPr id="4" name="TextBox 3"/>
          <p:cNvSpPr txBox="1"/>
          <p:nvPr/>
        </p:nvSpPr>
        <p:spPr>
          <a:xfrm>
            <a:off x="4297680" y="1828800"/>
            <a:ext cx="3474720" cy="4114800"/>
          </a:xfrm>
          <a:prstGeom prst="rect">
            <a:avLst/>
          </a:prstGeom>
          <a:noFill/>
        </p:spPr>
        <p:txBody>
          <a:bodyPr wrap="square">
            <a:spAutoFit/>
          </a:bodyPr>
          <a:lstStyle/>
          <a:p>
            <a:pPr algn="ctr">
              <a:defRPr sz="1800" b="1">
                <a:solidFill>
                  <a:srgbClr val="000000"/>
                </a:solidFill>
                <a:latin typeface="Times New Roman"/>
              </a:defRPr>
            </a:pPr>
            <a:r>
              <a:t>Tezlatgichlar Texnologiyasi</a:t>
            </a:r>
          </a:p>
          <a:p>
            <a:pPr algn="l">
              <a:defRPr sz="1800">
                <a:solidFill>
                  <a:srgbClr val="000000"/>
                </a:solidFill>
                <a:latin typeface="Times New Roman"/>
              </a:defRPr>
            </a:pPr>
            <a:r>
              <a:t>Tezlatgichlar elementar zarrachalarni yuqori energiyaga tezlatish uchun ishlatiladi. Ular ilmiy tadqiqotlar, tibbiyot va sanoat sohalarida qo'llaniladi. Tezlatgichlar yordamida zarrachalarni to'qnashuvga olib kelib, yangi elementar zarrachalar hosil qilish mumkin. Bu jarayonlar fizikani chuqurroq tushunishga va yangi materiallar yaratishga yordam beradi.</a:t>
            </a:r>
          </a:p>
        </p:txBody>
      </p:sp>
      <p:sp>
        <p:nvSpPr>
          <p:cNvPr id="5" name="TextBox 4"/>
          <p:cNvSpPr txBox="1"/>
          <p:nvPr/>
        </p:nvSpPr>
        <p:spPr>
          <a:xfrm>
            <a:off x="8138160" y="1828800"/>
            <a:ext cx="3474720" cy="4114800"/>
          </a:xfrm>
          <a:prstGeom prst="rect">
            <a:avLst/>
          </a:prstGeom>
          <a:noFill/>
        </p:spPr>
        <p:txBody>
          <a:bodyPr wrap="square">
            <a:spAutoFit/>
          </a:bodyPr>
          <a:lstStyle/>
          <a:p>
            <a:pPr algn="ctr">
              <a:defRPr sz="1800" b="1">
                <a:solidFill>
                  <a:srgbClr val="000000"/>
                </a:solidFill>
                <a:latin typeface="Times New Roman"/>
              </a:defRPr>
            </a:pPr>
            <a:r>
              <a:t>Xavfsizlik va Nazorat</a:t>
            </a:r>
          </a:p>
          <a:p>
            <a:pPr algn="l">
              <a:defRPr sz="1800">
                <a:solidFill>
                  <a:srgbClr val="000000"/>
                </a:solidFill>
                <a:latin typeface="Times New Roman"/>
              </a:defRPr>
            </a:pPr>
            <a:r>
              <a:t>Yadro reaktorlari va tezlatgichlarda xavfsizlik juda muhim. Turli nazorat tizimlari va xavfsizlik protokollari jarayonlar xavfsizligini ta'minlash uchun qo'llaniladi. Asosiy xavfsizlik choralari orasida reaktorning issiqlik chiqishini nazorat qilish, neytron oqimini boshqarish va favqulodda vaziyatlarda avtomatik o'chirish tizimlari mavjud. Xavfsizlik nazorati orqali inson salomatligi va atrof-muhit himoya qilinadi.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IMG_20250823_092819_616_1764043160501.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914400" y="457200"/>
            <a:ext cx="10360152" cy="914400"/>
          </a:xfrm>
          <a:prstGeom prst="rect">
            <a:avLst/>
          </a:prstGeom>
          <a:noFill/>
        </p:spPr>
        <p:txBody>
          <a:bodyPr wrap="none">
            <a:spAutoFit/>
          </a:bodyPr>
          <a:lstStyle/>
          <a:p>
            <a:pPr algn="ctr">
              <a:defRPr sz="3600" b="1"/>
            </a:pPr>
            <a:r>
              <a:t>Adabiyotlar ro'yxati</a:t>
            </a:r>
          </a:p>
        </p:txBody>
      </p:sp>
      <p:sp>
        <p:nvSpPr>
          <p:cNvPr id="3" name="TextBox 2"/>
          <p:cNvSpPr txBox="1"/>
          <p:nvPr/>
        </p:nvSpPr>
        <p:spPr>
          <a:xfrm>
            <a:off x="1371600" y="1828800"/>
            <a:ext cx="9445752" cy="4572000"/>
          </a:xfrm>
          <a:prstGeom prst="rect">
            <a:avLst/>
          </a:prstGeom>
          <a:noFill/>
        </p:spPr>
        <p:txBody>
          <a:bodyPr wrap="square">
            <a:spAutoFit/>
          </a:bodyPr>
          <a:lstStyle/>
          <a:p>
            <a:pPr algn="l">
              <a:spcAft>
                <a:spcPts val="1200"/>
              </a:spcAft>
              <a:defRPr sz="1600"/>
            </a:pPr>
            <a:r>
              <a:t>1. Karimov, A. (2021). Yadro Reaktorlarining Ishlash Printsiplari. Toshkent: Fan Nashriyoti.</a:t>
            </a:r>
          </a:p>
          <a:p>
            <a:pPr algn="l">
              <a:spcAft>
                <a:spcPts val="1200"/>
              </a:spcAft>
              <a:defRPr sz="1600"/>
            </a:pPr>
            <a:r>
              <a:t>2. Saidov, B., Islomov, D. (2020). Tezlatgichlardagi Energiya Almashinuvi Jarayonlari. Nukus: Oʻzbekiston Ilmiy Nashriyoti.</a:t>
            </a:r>
          </a:p>
          <a:p>
            <a:pPr algn="l">
              <a:spcAft>
                <a:spcPts val="1200"/>
              </a:spcAft>
              <a:defRPr sz="1600"/>
            </a:pPr>
            <a:r>
              <a:t>3. Rasulov, O. (2018). Yadro Fizikasi va Reaktor Texnologiyalari. Samarqand: Ilmiy-Texnik Nashriyot.</a:t>
            </a:r>
          </a:p>
          <a:p>
            <a:pPr algn="l">
              <a:spcAft>
                <a:spcPts val="1200"/>
              </a:spcAft>
              <a:defRPr sz="1600"/>
            </a:pPr>
            <a:r>
              <a:t>4. Tursunov, F. (2019). Yadro Reaktorlarida Sodir Boʻladigan Jarayonlar. Toshkent: Ilmiy Nashriyot Markazi.</a:t>
            </a:r>
          </a:p>
          <a:p>
            <a:pPr algn="l">
              <a:spcAft>
                <a:spcPts val="1200"/>
              </a:spcAft>
              <a:defRPr sz="1600"/>
            </a:pPr>
            <a:r>
              <a:t>5. Nazarov, G., Vohidov, M. (2022). Tezlatgich Fizikasi: Nazariya va Amaliyot. Buxoro: Oliy Taʼlim Nashriyoti.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IMG_20250823_092819_616_1764043160501.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914400" y="2743200"/>
            <a:ext cx="10360152" cy="1828800"/>
          </a:xfrm>
          <a:prstGeom prst="rect">
            <a:avLst/>
          </a:prstGeom>
          <a:noFill/>
        </p:spPr>
        <p:txBody>
          <a:bodyPr wrap="square">
            <a:spAutoFit/>
          </a:bodyPr>
          <a:lstStyle/>
          <a:p>
            <a:pPr algn="ctr">
              <a:defRPr sz="4600" b="1"/>
            </a:pPr>
            <a:r>
              <a:t>E'tiboringiz uchun rahmat!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