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7829"/>
          </a:xfrm>
          <a:prstGeom prst="rect">
            <a:avLst/>
          </a:prstGeom>
          <a:gradFill rotWithShape="1">
            <a:gsLst>
              <a:gs pos="0">
                <a:srgbClr val="0F2E22"/>
              </a:gs>
              <a:gs pos="100000">
                <a:srgbClr val="144D34"/>
              </a:gs>
            </a:gsLst>
            <a:lin scaled="0" ang="18900000"/>
          </a:gradFill>
          <a:ln>
            <a:noFill/>
          </a:ln>
          <a:effectLst/>
        </p:spPr>
        <p:txBody>
          <a:bodyPr rtlCol="0" anchor="ctr"/>
          <a:lstStyle/>
          <a:p/>
        </p:txBody>
      </p:sp>
      <p:sp>
        <p:nvSpPr>
          <p:cNvPr id="3" name="Oval 2"/>
          <p:cNvSpPr/>
          <p:nvPr/>
        </p:nvSpPr>
        <p:spPr>
          <a:xfrm>
            <a:off x="9397765" y="0"/>
            <a:ext cx="2793930" cy="2603435"/>
          </a:xfrm>
          <a:prstGeom prst="ellipse">
            <a:avLst/>
          </a:prstGeom>
          <a:solidFill>
            <a:srgbClr val="12412D"/>
          </a:solidFill>
          <a:ln>
            <a:noFill/>
          </a:ln>
          <a:effectLst/>
        </p:spPr>
        <p:txBody>
          <a:bodyPr rtlCol="0" anchor="ctr"/>
          <a:lstStyle/>
          <a:p/>
        </p:txBody>
      </p:sp>
      <p:sp>
        <p:nvSpPr>
          <p:cNvPr id="4" name="Oval 3"/>
          <p:cNvSpPr/>
          <p:nvPr/>
        </p:nvSpPr>
        <p:spPr>
          <a:xfrm>
            <a:off x="0" y="5333867"/>
            <a:ext cx="1523962" cy="1523962"/>
          </a:xfrm>
          <a:prstGeom prst="ellipse">
            <a:avLst/>
          </a:prstGeom>
          <a:solidFill>
            <a:srgbClr val="203D31"/>
          </a:solidFill>
          <a:ln>
            <a:noFill/>
          </a:ln>
          <a:effectLst/>
        </p:spPr>
        <p:txBody>
          <a:bodyPr rtlCol="0" anchor="ctr"/>
          <a:lstStyle/>
          <a:p/>
        </p:txBody>
      </p:sp>
      <p:sp>
        <p:nvSpPr>
          <p:cNvPr id="5" name="Rectangle 4"/>
          <p:cNvSpPr/>
          <p:nvPr/>
        </p:nvSpPr>
        <p:spPr>
          <a:xfrm>
            <a:off x="609585" y="3047527"/>
            <a:ext cx="761981" cy="38099"/>
          </a:xfrm>
          <a:prstGeom prst="rect">
            <a:avLst/>
          </a:prstGeom>
          <a:solidFill>
            <a:srgbClr val="1E8E5A"/>
          </a:solidFill>
          <a:ln>
            <a:noFill/>
          </a:ln>
          <a:effectLst/>
        </p:spPr>
        <p:txBody>
          <a:bodyPr rtlCol="0" anchor="ctr"/>
          <a:lstStyle/>
          <a:p/>
        </p:txBody>
      </p:sp>
      <p:sp>
        <p:nvSpPr>
          <p:cNvPr id="6" name="TextBox 5"/>
          <p:cNvSpPr txBox="1"/>
          <p:nvPr/>
        </p:nvSpPr>
        <p:spPr>
          <a:xfrm>
            <a:off x="609585" y="2084435"/>
            <a:ext cx="11216360" cy="658300"/>
          </a:xfrm>
          <a:prstGeom prst="rect">
            <a:avLst/>
          </a:prstGeom>
          <a:noFill/>
        </p:spPr>
        <p:txBody>
          <a:bodyPr wrap="square" lIns="0" rIns="0" tIns="0" bIns="0" anchor="t">
            <a:spAutoFit/>
          </a:bodyPr>
          <a:lstStyle/>
          <a:p>
            <a:pPr algn="l">
              <a:lnSpc>
                <a:spcPts val="5180"/>
              </a:lnSpc>
              <a:spcBef>
                <a:spcPts val="0"/>
              </a:spcBef>
              <a:spcAft>
                <a:spcPts val="0"/>
              </a:spcAft>
            </a:pPr>
            <a:r>
              <a:rPr sz="4800" b="1" i="0">
                <a:solidFill>
                  <a:srgbClr val="FFFFFF"/>
                </a:solidFill>
                <a:latin typeface="Arial"/>
              </a:rPr>
              <a:t>Aholi daromadlari: Tahlil va istiqbollar</a:t>
            </a:r>
          </a:p>
        </p:txBody>
      </p:sp>
      <p:sp>
        <p:nvSpPr>
          <p:cNvPr id="7" name="TextBox 6"/>
          <p:cNvSpPr txBox="1"/>
          <p:nvPr/>
        </p:nvSpPr>
        <p:spPr>
          <a:xfrm>
            <a:off x="609585" y="3390418"/>
            <a:ext cx="8902477" cy="773292"/>
          </a:xfrm>
          <a:prstGeom prst="rect">
            <a:avLst/>
          </a:prstGeom>
          <a:noFill/>
        </p:spPr>
        <p:txBody>
          <a:bodyPr wrap="square" lIns="0" rIns="0" tIns="0" bIns="0" anchor="t">
            <a:spAutoFit/>
          </a:bodyPr>
          <a:lstStyle/>
          <a:p>
            <a:pPr algn="l">
              <a:lnSpc>
                <a:spcPts val="3040"/>
              </a:lnSpc>
              <a:spcBef>
                <a:spcPts val="0"/>
              </a:spcBef>
              <a:spcAft>
                <a:spcPts val="0"/>
              </a:spcAft>
            </a:pPr>
            <a:r>
              <a:rPr sz="2100" b="0" i="0">
                <a:solidFill>
                  <a:srgbClr val="FFFFFF"/>
                </a:solidFill>
                <a:latin typeface="Arial"/>
              </a:rPr>
              <a:t>Aholi daromadlarining turlari, shakllanish manbalari, iqtisodiy rivojlanishdagi o'rni va kelajak istiqbollari.</a:t>
            </a:r>
          </a:p>
        </p:txBody>
      </p:sp>
      <p:sp>
        <p:nvSpPr>
          <p:cNvPr id="8" name="TextBox 7"/>
          <p:cNvSpPr txBox="1"/>
          <p:nvPr/>
        </p:nvSpPr>
        <p:spPr>
          <a:xfrm>
            <a:off x="609585" y="4468502"/>
            <a:ext cx="9715257" cy="304792"/>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BCC4C1"/>
                </a:solidFill>
                <a:latin typeface="Arial"/>
              </a:rPr>
              <a:t>Tayyorladi: Abdug'ani Oripov | Fan: Iqtisodiyot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005756"/>
            <a:ext cx="3488146" cy="2303603"/>
          </a:xfrm>
          <a:prstGeom prst="roundRect">
            <a:avLst>
              <a:gd name="adj" fmla="val 4961"/>
            </a:avLst>
          </a:prstGeom>
          <a:solidFill>
            <a:srgbClr val="E2F0EA"/>
          </a:solidFill>
          <a:ln>
            <a:noFill/>
          </a:ln>
          <a:effectLst/>
        </p:spPr>
        <p:txBody>
          <a:bodyPr rtlCol="0" anchor="ctr"/>
          <a:lstStyle/>
          <a:p/>
        </p:txBody>
      </p:sp>
      <p:sp>
        <p:nvSpPr>
          <p:cNvPr id="4" name="Rectangle 3"/>
          <p:cNvSpPr/>
          <p:nvPr/>
        </p:nvSpPr>
        <p:spPr>
          <a:xfrm>
            <a:off x="609585" y="4258561"/>
            <a:ext cx="3488146" cy="50799"/>
          </a:xfrm>
          <a:prstGeom prst="rect">
            <a:avLst/>
          </a:prstGeom>
          <a:solidFill>
            <a:srgbClr val="1E8E5A"/>
          </a:solidFill>
          <a:ln>
            <a:noFill/>
          </a:ln>
          <a:effectLst/>
        </p:spPr>
        <p:txBody>
          <a:bodyPr rtlCol="0" anchor="ctr"/>
          <a:lstStyle/>
          <a:p/>
        </p:txBody>
      </p:sp>
      <p:sp>
        <p:nvSpPr>
          <p:cNvPr id="5" name="Oval 4"/>
          <p:cNvSpPr/>
          <p:nvPr/>
        </p:nvSpPr>
        <p:spPr>
          <a:xfrm>
            <a:off x="2023417" y="1675564"/>
            <a:ext cx="660383" cy="660383"/>
          </a:xfrm>
          <a:prstGeom prst="ellipse">
            <a:avLst/>
          </a:prstGeom>
          <a:solidFill>
            <a:srgbClr val="1E8E5A"/>
          </a:solidFill>
          <a:ln>
            <a:noFill/>
          </a:ln>
          <a:effectLst/>
        </p:spPr>
        <p:txBody>
          <a:bodyPr rtlCol="0" anchor="ctr"/>
          <a:lstStyle/>
          <a:p/>
        </p:txBody>
      </p:sp>
      <p:sp>
        <p:nvSpPr>
          <p:cNvPr id="6" name="Rounded Rectangle 5"/>
          <p:cNvSpPr/>
          <p:nvPr/>
        </p:nvSpPr>
        <p:spPr>
          <a:xfrm>
            <a:off x="4351725" y="2005756"/>
            <a:ext cx="3488146" cy="2303603"/>
          </a:xfrm>
          <a:prstGeom prst="roundRect">
            <a:avLst>
              <a:gd name="adj" fmla="val 4961"/>
            </a:avLst>
          </a:prstGeom>
          <a:solidFill>
            <a:srgbClr val="FCF3E6"/>
          </a:solidFill>
          <a:ln>
            <a:noFill/>
          </a:ln>
          <a:effectLst/>
        </p:spPr>
        <p:txBody>
          <a:bodyPr rtlCol="0" anchor="ctr"/>
          <a:lstStyle/>
          <a:p/>
        </p:txBody>
      </p:sp>
      <p:sp>
        <p:nvSpPr>
          <p:cNvPr id="7" name="Rectangle 6"/>
          <p:cNvSpPr/>
          <p:nvPr/>
        </p:nvSpPr>
        <p:spPr>
          <a:xfrm>
            <a:off x="4351725" y="4258561"/>
            <a:ext cx="3488146" cy="50799"/>
          </a:xfrm>
          <a:prstGeom prst="rect">
            <a:avLst/>
          </a:prstGeom>
          <a:solidFill>
            <a:srgbClr val="E8A33D"/>
          </a:solidFill>
          <a:ln>
            <a:noFill/>
          </a:ln>
          <a:effectLst/>
        </p:spPr>
        <p:txBody>
          <a:bodyPr rtlCol="0" anchor="ctr"/>
          <a:lstStyle/>
          <a:p/>
        </p:txBody>
      </p:sp>
      <p:sp>
        <p:nvSpPr>
          <p:cNvPr id="8" name="Oval 7"/>
          <p:cNvSpPr/>
          <p:nvPr/>
        </p:nvSpPr>
        <p:spPr>
          <a:xfrm>
            <a:off x="5765557" y="1675564"/>
            <a:ext cx="660383" cy="660383"/>
          </a:xfrm>
          <a:prstGeom prst="ellipse">
            <a:avLst/>
          </a:prstGeom>
          <a:solidFill>
            <a:srgbClr val="E8A33D"/>
          </a:solidFill>
          <a:ln>
            <a:noFill/>
          </a:ln>
          <a:effectLst/>
        </p:spPr>
        <p:txBody>
          <a:bodyPr rtlCol="0" anchor="ctr"/>
          <a:lstStyle/>
          <a:p/>
        </p:txBody>
      </p:sp>
      <p:sp>
        <p:nvSpPr>
          <p:cNvPr id="9" name="Rounded Rectangle 8"/>
          <p:cNvSpPr/>
          <p:nvPr/>
        </p:nvSpPr>
        <p:spPr>
          <a:xfrm>
            <a:off x="8093865" y="2005756"/>
            <a:ext cx="3488146" cy="2303603"/>
          </a:xfrm>
          <a:prstGeom prst="roundRect">
            <a:avLst>
              <a:gd name="adj" fmla="val 4961"/>
            </a:avLst>
          </a:prstGeom>
          <a:solidFill>
            <a:srgbClr val="E4EEFB"/>
          </a:solidFill>
          <a:ln>
            <a:noFill/>
          </a:ln>
          <a:effectLst/>
        </p:spPr>
        <p:txBody>
          <a:bodyPr rtlCol="0" anchor="ctr"/>
          <a:lstStyle/>
          <a:p/>
        </p:txBody>
      </p:sp>
      <p:sp>
        <p:nvSpPr>
          <p:cNvPr id="10" name="Rectangle 9"/>
          <p:cNvSpPr/>
          <p:nvPr/>
        </p:nvSpPr>
        <p:spPr>
          <a:xfrm>
            <a:off x="8093865" y="4258561"/>
            <a:ext cx="3488146" cy="50799"/>
          </a:xfrm>
          <a:prstGeom prst="rect">
            <a:avLst/>
          </a:prstGeom>
          <a:solidFill>
            <a:srgbClr val="2F7BE0"/>
          </a:solidFill>
          <a:ln>
            <a:noFill/>
          </a:ln>
          <a:effectLst/>
        </p:spPr>
        <p:txBody>
          <a:bodyPr rtlCol="0" anchor="ctr"/>
          <a:lstStyle/>
          <a:p/>
        </p:txBody>
      </p:sp>
      <p:sp>
        <p:nvSpPr>
          <p:cNvPr id="11" name="Oval 10"/>
          <p:cNvSpPr/>
          <p:nvPr/>
        </p:nvSpPr>
        <p:spPr>
          <a:xfrm>
            <a:off x="9507697" y="1675564"/>
            <a:ext cx="660383" cy="660383"/>
          </a:xfrm>
          <a:prstGeom prst="ellipse">
            <a:avLst/>
          </a:prstGeom>
          <a:solidFill>
            <a:srgbClr val="2F7BE0"/>
          </a:solidFill>
          <a:ln>
            <a:noFill/>
          </a:ln>
          <a:effectLst/>
        </p:spPr>
        <p:txBody>
          <a:bodyPr rtlCol="0" anchor="ctr"/>
          <a:lstStyle/>
          <a:p/>
        </p:txBody>
      </p:sp>
      <p:sp>
        <p:nvSpPr>
          <p:cNvPr id="12" name="Rounded Rectangle 11"/>
          <p:cNvSpPr/>
          <p:nvPr/>
        </p:nvSpPr>
        <p:spPr>
          <a:xfrm>
            <a:off x="609585" y="4563353"/>
            <a:ext cx="3488146" cy="2294475"/>
          </a:xfrm>
          <a:prstGeom prst="roundRect">
            <a:avLst>
              <a:gd name="adj" fmla="val 4981"/>
            </a:avLst>
          </a:prstGeom>
          <a:solidFill>
            <a:srgbClr val="FDECE5"/>
          </a:solidFill>
          <a:ln>
            <a:noFill/>
          </a:ln>
          <a:effectLst/>
        </p:spPr>
        <p:txBody>
          <a:bodyPr rtlCol="0" anchor="ctr"/>
          <a:lstStyle/>
          <a:p/>
        </p:txBody>
      </p:sp>
      <p:sp>
        <p:nvSpPr>
          <p:cNvPr id="13" name="Rectangle 12"/>
          <p:cNvSpPr/>
          <p:nvPr/>
        </p:nvSpPr>
        <p:spPr>
          <a:xfrm>
            <a:off x="609585" y="7149524"/>
            <a:ext cx="3488146" cy="6350"/>
          </a:xfrm>
          <a:prstGeom prst="rect">
            <a:avLst/>
          </a:prstGeom>
          <a:solidFill>
            <a:srgbClr val="EE6C3A"/>
          </a:solidFill>
          <a:ln>
            <a:noFill/>
          </a:ln>
          <a:effectLst/>
        </p:spPr>
        <p:txBody>
          <a:bodyPr rtlCol="0" anchor="ctr"/>
          <a:lstStyle/>
          <a:p/>
        </p:txBody>
      </p:sp>
      <p:sp>
        <p:nvSpPr>
          <p:cNvPr id="14" name="Oval 13"/>
          <p:cNvSpPr/>
          <p:nvPr/>
        </p:nvSpPr>
        <p:spPr>
          <a:xfrm>
            <a:off x="2023417" y="4233161"/>
            <a:ext cx="660383" cy="660383"/>
          </a:xfrm>
          <a:prstGeom prst="ellipse">
            <a:avLst/>
          </a:prstGeom>
          <a:solidFill>
            <a:srgbClr val="EE6C3A"/>
          </a:solidFill>
          <a:ln>
            <a:noFill/>
          </a:ln>
          <a:effectLst/>
        </p:spPr>
        <p:txBody>
          <a:bodyPr rtlCol="0" anchor="ctr"/>
          <a:lstStyle/>
          <a:p/>
        </p:txBody>
      </p:sp>
      <p:sp>
        <p:nvSpPr>
          <p:cNvPr id="15" name="Rounded Rectangle 14"/>
          <p:cNvSpPr/>
          <p:nvPr/>
        </p:nvSpPr>
        <p:spPr>
          <a:xfrm>
            <a:off x="4351725" y="4563353"/>
            <a:ext cx="3488146" cy="2294475"/>
          </a:xfrm>
          <a:prstGeom prst="roundRect">
            <a:avLst>
              <a:gd name="adj" fmla="val 4981"/>
            </a:avLst>
          </a:prstGeom>
          <a:solidFill>
            <a:srgbClr val="EEEAFF"/>
          </a:solidFill>
          <a:ln>
            <a:noFill/>
          </a:ln>
          <a:effectLst/>
        </p:spPr>
        <p:txBody>
          <a:bodyPr rtlCol="0" anchor="ctr"/>
          <a:lstStyle/>
          <a:p/>
        </p:txBody>
      </p:sp>
      <p:sp>
        <p:nvSpPr>
          <p:cNvPr id="16" name="Rectangle 15"/>
          <p:cNvSpPr/>
          <p:nvPr/>
        </p:nvSpPr>
        <p:spPr>
          <a:xfrm>
            <a:off x="4351725" y="7149524"/>
            <a:ext cx="3488146" cy="6350"/>
          </a:xfrm>
          <a:prstGeom prst="rect">
            <a:avLst/>
          </a:prstGeom>
          <a:solidFill>
            <a:srgbClr val="7B61FF"/>
          </a:solidFill>
          <a:ln>
            <a:noFill/>
          </a:ln>
          <a:effectLst/>
        </p:spPr>
        <p:txBody>
          <a:bodyPr rtlCol="0" anchor="ctr"/>
          <a:lstStyle/>
          <a:p/>
        </p:txBody>
      </p:sp>
      <p:sp>
        <p:nvSpPr>
          <p:cNvPr id="17" name="Oval 16"/>
          <p:cNvSpPr/>
          <p:nvPr/>
        </p:nvSpPr>
        <p:spPr>
          <a:xfrm>
            <a:off x="5765557" y="4233161"/>
            <a:ext cx="660383" cy="660383"/>
          </a:xfrm>
          <a:prstGeom prst="ellipse">
            <a:avLst/>
          </a:prstGeom>
          <a:solidFill>
            <a:srgbClr val="7B61FF"/>
          </a:solidFill>
          <a:ln>
            <a:noFill/>
          </a:ln>
          <a:effectLst/>
        </p:spPr>
        <p:txBody>
          <a:bodyPr rtlCol="0" anchor="ctr"/>
          <a:lstStyle/>
          <a:p/>
        </p:txBody>
      </p:sp>
      <p:sp>
        <p:nvSpPr>
          <p:cNvPr id="18" name="Rounded Rectangle 17"/>
          <p:cNvSpPr/>
          <p:nvPr/>
        </p:nvSpPr>
        <p:spPr>
          <a:xfrm>
            <a:off x="8093865" y="4563353"/>
            <a:ext cx="3488146" cy="2294475"/>
          </a:xfrm>
          <a:prstGeom prst="roundRect">
            <a:avLst>
              <a:gd name="adj" fmla="val 4981"/>
            </a:avLst>
          </a:prstGeom>
          <a:solidFill>
            <a:srgbClr val="E2F0EA"/>
          </a:solidFill>
          <a:ln>
            <a:noFill/>
          </a:ln>
          <a:effectLst/>
        </p:spPr>
        <p:txBody>
          <a:bodyPr rtlCol="0" anchor="ctr"/>
          <a:lstStyle/>
          <a:p/>
        </p:txBody>
      </p:sp>
      <p:sp>
        <p:nvSpPr>
          <p:cNvPr id="19" name="Rectangle 18"/>
          <p:cNvSpPr/>
          <p:nvPr/>
        </p:nvSpPr>
        <p:spPr>
          <a:xfrm>
            <a:off x="8093865" y="7149524"/>
            <a:ext cx="3488146" cy="6350"/>
          </a:xfrm>
          <a:prstGeom prst="rect">
            <a:avLst/>
          </a:prstGeom>
          <a:solidFill>
            <a:srgbClr val="1E8E5A"/>
          </a:solidFill>
          <a:ln>
            <a:noFill/>
          </a:ln>
          <a:effectLst/>
        </p:spPr>
        <p:txBody>
          <a:bodyPr rtlCol="0" anchor="ctr"/>
          <a:lstStyle/>
          <a:p/>
        </p:txBody>
      </p:sp>
      <p:sp>
        <p:nvSpPr>
          <p:cNvPr id="20" name="Oval 19"/>
          <p:cNvSpPr/>
          <p:nvPr/>
        </p:nvSpPr>
        <p:spPr>
          <a:xfrm>
            <a:off x="9507697" y="4233161"/>
            <a:ext cx="660383" cy="660383"/>
          </a:xfrm>
          <a:prstGeom prst="ellipse">
            <a:avLst/>
          </a:prstGeom>
          <a:solidFill>
            <a:srgbClr val="1E8E5A"/>
          </a:solidFill>
          <a:ln>
            <a:noFill/>
          </a:ln>
          <a:effectLst/>
        </p:spPr>
        <p:txBody>
          <a:bodyPr rtlCol="0" anchor="ctr"/>
          <a:lstStyle/>
          <a:p/>
        </p:txBody>
      </p:sp>
      <p:pic>
        <p:nvPicPr>
          <p:cNvPr id="21" name="Picture 20" descr="vis_1788251_02_00.png"/>
          <p:cNvPicPr>
            <a:picLocks noChangeAspect="1"/>
          </p:cNvPicPr>
          <p:nvPr/>
        </p:nvPicPr>
        <p:blipFill>
          <a:blip r:embed="rId2"/>
          <a:stretch>
            <a:fillRect/>
          </a:stretch>
        </p:blipFill>
        <p:spPr>
          <a:xfrm>
            <a:off x="2182163" y="1834310"/>
            <a:ext cx="342891" cy="342891"/>
          </a:xfrm>
          <a:prstGeom prst="rect">
            <a:avLst/>
          </a:prstGeom>
          <a:effectLst/>
        </p:spPr>
      </p:pic>
      <p:pic>
        <p:nvPicPr>
          <p:cNvPr id="22" name="Picture 21" descr="vis_1788251_02_01.png"/>
          <p:cNvPicPr>
            <a:picLocks noChangeAspect="1"/>
          </p:cNvPicPr>
          <p:nvPr/>
        </p:nvPicPr>
        <p:blipFill>
          <a:blip r:embed="rId3"/>
          <a:stretch>
            <a:fillRect/>
          </a:stretch>
        </p:blipFill>
        <p:spPr>
          <a:xfrm>
            <a:off x="5924303" y="1834310"/>
            <a:ext cx="342891" cy="342891"/>
          </a:xfrm>
          <a:prstGeom prst="rect">
            <a:avLst/>
          </a:prstGeom>
          <a:effectLst/>
        </p:spPr>
      </p:pic>
      <p:pic>
        <p:nvPicPr>
          <p:cNvPr id="23" name="Picture 22" descr="vis_1788251_02_02.png"/>
          <p:cNvPicPr>
            <a:picLocks noChangeAspect="1"/>
          </p:cNvPicPr>
          <p:nvPr/>
        </p:nvPicPr>
        <p:blipFill>
          <a:blip r:embed="rId4"/>
          <a:stretch>
            <a:fillRect/>
          </a:stretch>
        </p:blipFill>
        <p:spPr>
          <a:xfrm>
            <a:off x="9666443" y="1834310"/>
            <a:ext cx="342891" cy="342891"/>
          </a:xfrm>
          <a:prstGeom prst="rect">
            <a:avLst/>
          </a:prstGeom>
          <a:effectLst/>
        </p:spPr>
      </p:pic>
      <p:pic>
        <p:nvPicPr>
          <p:cNvPr id="24" name="Picture 23" descr="vis_1788251_02_03.png"/>
          <p:cNvPicPr>
            <a:picLocks noChangeAspect="1"/>
          </p:cNvPicPr>
          <p:nvPr/>
        </p:nvPicPr>
        <p:blipFill>
          <a:blip r:embed="rId5"/>
          <a:stretch>
            <a:fillRect/>
          </a:stretch>
        </p:blipFill>
        <p:spPr>
          <a:xfrm>
            <a:off x="2182163" y="4391907"/>
            <a:ext cx="342891" cy="342891"/>
          </a:xfrm>
          <a:prstGeom prst="rect">
            <a:avLst/>
          </a:prstGeom>
          <a:effectLst/>
        </p:spPr>
      </p:pic>
      <p:pic>
        <p:nvPicPr>
          <p:cNvPr id="25" name="Picture 24" descr="vis_1788251_02_04.png"/>
          <p:cNvPicPr>
            <a:picLocks noChangeAspect="1"/>
          </p:cNvPicPr>
          <p:nvPr/>
        </p:nvPicPr>
        <p:blipFill>
          <a:blip r:embed="rId6"/>
          <a:stretch>
            <a:fillRect/>
          </a:stretch>
        </p:blipFill>
        <p:spPr>
          <a:xfrm>
            <a:off x="5924303" y="4391907"/>
            <a:ext cx="342891" cy="342891"/>
          </a:xfrm>
          <a:prstGeom prst="rect">
            <a:avLst/>
          </a:prstGeom>
          <a:effectLst/>
        </p:spPr>
      </p:pic>
      <p:pic>
        <p:nvPicPr>
          <p:cNvPr id="26" name="Picture 25" descr="vis_1788251_02_05.png"/>
          <p:cNvPicPr>
            <a:picLocks noChangeAspect="1"/>
          </p:cNvPicPr>
          <p:nvPr/>
        </p:nvPicPr>
        <p:blipFill>
          <a:blip r:embed="rId7"/>
          <a:stretch>
            <a:fillRect/>
          </a:stretch>
        </p:blipFill>
        <p:spPr>
          <a:xfrm>
            <a:off x="9666443" y="4391907"/>
            <a:ext cx="342891" cy="342891"/>
          </a:xfrm>
          <a:prstGeom prst="rect">
            <a:avLst/>
          </a:prstGeom>
          <a:effectLst/>
        </p:spPr>
      </p:pic>
      <p:sp>
        <p:nvSpPr>
          <p:cNvPr id="27" name="TextBox 26"/>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Taqdimot rejasi: Asosiy bo'limlar va mavzular</a:t>
            </a:r>
          </a:p>
        </p:txBody>
      </p:sp>
      <p:sp>
        <p:nvSpPr>
          <p:cNvPr id="28" name="TextBox 27"/>
          <p:cNvSpPr txBox="1"/>
          <p:nvPr/>
        </p:nvSpPr>
        <p:spPr>
          <a:xfrm>
            <a:off x="88897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01</a:t>
            </a:r>
          </a:p>
        </p:txBody>
      </p:sp>
      <p:sp>
        <p:nvSpPr>
          <p:cNvPr id="29" name="TextBox 28"/>
          <p:cNvSpPr txBox="1"/>
          <p:nvPr/>
        </p:nvSpPr>
        <p:spPr>
          <a:xfrm>
            <a:off x="888978" y="2882034"/>
            <a:ext cx="3036038"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Asosiy tushunchalar</a:t>
            </a:r>
          </a:p>
        </p:txBody>
      </p:sp>
      <p:sp>
        <p:nvSpPr>
          <p:cNvPr id="30" name="TextBox 29"/>
          <p:cNvSpPr txBox="1"/>
          <p:nvPr/>
        </p:nvSpPr>
        <p:spPr>
          <a:xfrm>
            <a:off x="888978" y="3329698"/>
            <a:ext cx="2942060" cy="649470"/>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Daromad turlari va ularning ahamiyati.</a:t>
            </a:r>
          </a:p>
        </p:txBody>
      </p:sp>
      <p:sp>
        <p:nvSpPr>
          <p:cNvPr id="31" name="TextBox 30"/>
          <p:cNvSpPr txBox="1"/>
          <p:nvPr/>
        </p:nvSpPr>
        <p:spPr>
          <a:xfrm>
            <a:off x="463111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02</a:t>
            </a:r>
          </a:p>
        </p:txBody>
      </p:sp>
      <p:sp>
        <p:nvSpPr>
          <p:cNvPr id="32" name="TextBox 31"/>
          <p:cNvSpPr txBox="1"/>
          <p:nvPr/>
        </p:nvSpPr>
        <p:spPr>
          <a:xfrm>
            <a:off x="4631118" y="2882034"/>
            <a:ext cx="3036038"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Daromad dinamikasi</a:t>
            </a:r>
          </a:p>
        </p:txBody>
      </p:sp>
      <p:sp>
        <p:nvSpPr>
          <p:cNvPr id="33" name="TextBox 32"/>
          <p:cNvSpPr txBox="1"/>
          <p:nvPr/>
        </p:nvSpPr>
        <p:spPr>
          <a:xfrm>
            <a:off x="4631118" y="3329698"/>
            <a:ext cx="2942060" cy="649470"/>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O'zbekistonda daromadlarning o'sishi va tarkibi.</a:t>
            </a:r>
          </a:p>
        </p:txBody>
      </p:sp>
      <p:sp>
        <p:nvSpPr>
          <p:cNvPr id="34" name="TextBox 33"/>
          <p:cNvSpPr txBox="1"/>
          <p:nvPr/>
        </p:nvSpPr>
        <p:spPr>
          <a:xfrm>
            <a:off x="837325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03</a:t>
            </a:r>
          </a:p>
        </p:txBody>
      </p:sp>
      <p:sp>
        <p:nvSpPr>
          <p:cNvPr id="35" name="TextBox 34"/>
          <p:cNvSpPr txBox="1"/>
          <p:nvPr/>
        </p:nvSpPr>
        <p:spPr>
          <a:xfrm>
            <a:off x="8373258" y="2882034"/>
            <a:ext cx="3036038"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Tengsizlik va sabablar</a:t>
            </a:r>
          </a:p>
        </p:txBody>
      </p:sp>
      <p:sp>
        <p:nvSpPr>
          <p:cNvPr id="36" name="TextBox 35"/>
          <p:cNvSpPr txBox="1"/>
          <p:nvPr/>
        </p:nvSpPr>
        <p:spPr>
          <a:xfrm>
            <a:off x="8373258" y="3329698"/>
            <a:ext cx="2942060" cy="649470"/>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Gini koeffitsiyenti va tengsizlikka ta'sir etuvchilar.</a:t>
            </a:r>
          </a:p>
        </p:txBody>
      </p:sp>
      <p:sp>
        <p:nvSpPr>
          <p:cNvPr id="37" name="TextBox 36"/>
          <p:cNvSpPr txBox="1"/>
          <p:nvPr/>
        </p:nvSpPr>
        <p:spPr>
          <a:xfrm>
            <a:off x="888978" y="5007842"/>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04</a:t>
            </a:r>
          </a:p>
        </p:txBody>
      </p:sp>
      <p:sp>
        <p:nvSpPr>
          <p:cNvPr id="38" name="TextBox 37"/>
          <p:cNvSpPr txBox="1"/>
          <p:nvPr/>
        </p:nvSpPr>
        <p:spPr>
          <a:xfrm>
            <a:off x="888978" y="5439631"/>
            <a:ext cx="3036038"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Davlat siyosati</a:t>
            </a:r>
          </a:p>
        </p:txBody>
      </p:sp>
      <p:sp>
        <p:nvSpPr>
          <p:cNvPr id="39" name="TextBox 38"/>
          <p:cNvSpPr txBox="1"/>
          <p:nvPr/>
        </p:nvSpPr>
        <p:spPr>
          <a:xfrm>
            <a:off x="888978" y="5887295"/>
            <a:ext cx="2942060" cy="649470"/>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Daromadlarni oshirishga qaratilgan chora-tadbirlar.</a:t>
            </a:r>
          </a:p>
        </p:txBody>
      </p:sp>
      <p:sp>
        <p:nvSpPr>
          <p:cNvPr id="40" name="TextBox 39"/>
          <p:cNvSpPr txBox="1"/>
          <p:nvPr/>
        </p:nvSpPr>
        <p:spPr>
          <a:xfrm>
            <a:off x="4631118" y="5007842"/>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05</a:t>
            </a:r>
          </a:p>
        </p:txBody>
      </p:sp>
      <p:sp>
        <p:nvSpPr>
          <p:cNvPr id="41" name="TextBox 40"/>
          <p:cNvSpPr txBox="1"/>
          <p:nvPr/>
        </p:nvSpPr>
        <p:spPr>
          <a:xfrm>
            <a:off x="4631118" y="5439631"/>
            <a:ext cx="3036038"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Iqtisodiy omillar</a:t>
            </a:r>
          </a:p>
        </p:txBody>
      </p:sp>
      <p:sp>
        <p:nvSpPr>
          <p:cNvPr id="42" name="TextBox 41"/>
          <p:cNvSpPr txBox="1"/>
          <p:nvPr/>
        </p:nvSpPr>
        <p:spPr>
          <a:xfrm>
            <a:off x="4631118" y="5887295"/>
            <a:ext cx="2942060" cy="649470"/>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Mehnat bozori, investitsiyalar va iste'mol.</a:t>
            </a:r>
          </a:p>
        </p:txBody>
      </p:sp>
      <p:sp>
        <p:nvSpPr>
          <p:cNvPr id="43" name="TextBox 42"/>
          <p:cNvSpPr txBox="1"/>
          <p:nvPr/>
        </p:nvSpPr>
        <p:spPr>
          <a:xfrm>
            <a:off x="8373258" y="5007842"/>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06</a:t>
            </a:r>
          </a:p>
        </p:txBody>
      </p:sp>
      <p:sp>
        <p:nvSpPr>
          <p:cNvPr id="44" name="TextBox 43"/>
          <p:cNvSpPr txBox="1"/>
          <p:nvPr/>
        </p:nvSpPr>
        <p:spPr>
          <a:xfrm>
            <a:off x="8373258" y="5439631"/>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Istiqbol va strategiyalar</a:t>
            </a:r>
          </a:p>
        </p:txBody>
      </p:sp>
      <p:sp>
        <p:nvSpPr>
          <p:cNvPr id="45" name="TextBox 44"/>
          <p:cNvSpPr txBox="1"/>
          <p:nvPr/>
        </p:nvSpPr>
        <p:spPr>
          <a:xfrm>
            <a:off x="8373258" y="6220662"/>
            <a:ext cx="2942060" cy="637167"/>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Kelajak prognozlari va barqaror o'sish yo'llari.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652646"/>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4678246"/>
            <a:ext cx="431789" cy="431789"/>
          </a:xfrm>
          <a:prstGeom prst="ellipse">
            <a:avLst/>
          </a:prstGeom>
          <a:solidFill>
            <a:srgbClr val="E8A33D"/>
          </a:solidFill>
          <a:ln>
            <a:noFill/>
          </a:ln>
          <a:effectLst/>
        </p:spPr>
        <p:txBody>
          <a:bodyPr rtlCol="0" anchor="ctr"/>
          <a:lstStyle/>
          <a:p/>
        </p:txBody>
      </p:sp>
      <p:sp>
        <p:nvSpPr>
          <p:cNvPr id="5" name="Rounded Rectangle 4"/>
          <p:cNvSpPr/>
          <p:nvPr/>
        </p:nvSpPr>
        <p:spPr>
          <a:xfrm>
            <a:off x="6299043" y="2144659"/>
            <a:ext cx="5283068" cy="4713170"/>
          </a:xfrm>
          <a:prstGeom prst="roundRect">
            <a:avLst>
              <a:gd name="adj" fmla="val 2425"/>
            </a:avLst>
          </a:prstGeom>
          <a:gradFill rotWithShape="1">
            <a:gsLst>
              <a:gs pos="0">
                <a:srgbClr val="E4F5EC"/>
              </a:gs>
              <a:gs pos="100000">
                <a:srgbClr val="F3FAF6"/>
              </a:gs>
            </a:gsLst>
            <a:lin scaled="0" ang="17400000"/>
          </a:gradFill>
          <a:ln>
            <a:noFill/>
          </a:ln>
          <a:effectLst/>
        </p:spPr>
        <p:txBody>
          <a:bodyPr rtlCol="0" anchor="ctr"/>
          <a:lstStyle/>
          <a:p/>
        </p:txBody>
      </p:sp>
      <p:sp>
        <p:nvSpPr>
          <p:cNvPr id="6" name="Rectangle 5"/>
          <p:cNvSpPr/>
          <p:nvPr/>
        </p:nvSpPr>
        <p:spPr>
          <a:xfrm>
            <a:off x="6299043" y="2144659"/>
            <a:ext cx="50799" cy="4713170"/>
          </a:xfrm>
          <a:prstGeom prst="rect">
            <a:avLst/>
          </a:prstGeom>
          <a:solidFill>
            <a:srgbClr val="1E8E5A"/>
          </a:solidFill>
          <a:ln>
            <a:noFill/>
          </a:ln>
          <a:effectLst/>
        </p:spPr>
        <p:txBody>
          <a:bodyPr rtlCol="0" anchor="ctr"/>
          <a:lstStyle/>
          <a:p/>
        </p:txBody>
      </p:sp>
      <p:pic>
        <p:nvPicPr>
          <p:cNvPr id="7" name="Picture 6" descr="vis_1788251_03_00.png"/>
          <p:cNvPicPr>
            <a:picLocks noChangeAspect="1"/>
          </p:cNvPicPr>
          <p:nvPr/>
        </p:nvPicPr>
        <p:blipFill>
          <a:blip r:embed="rId2"/>
          <a:stretch>
            <a:fillRect/>
          </a:stretch>
        </p:blipFill>
        <p:spPr>
          <a:xfrm>
            <a:off x="711182" y="2754244"/>
            <a:ext cx="228594" cy="228594"/>
          </a:xfrm>
          <a:prstGeom prst="rect">
            <a:avLst/>
          </a:prstGeom>
          <a:effectLst/>
        </p:spPr>
      </p:pic>
      <p:pic>
        <p:nvPicPr>
          <p:cNvPr id="8" name="Picture 7" descr="vis_1788251_03_01.png"/>
          <p:cNvPicPr>
            <a:picLocks noChangeAspect="1"/>
          </p:cNvPicPr>
          <p:nvPr/>
        </p:nvPicPr>
        <p:blipFill>
          <a:blip r:embed="rId3"/>
          <a:stretch>
            <a:fillRect/>
          </a:stretch>
        </p:blipFill>
        <p:spPr>
          <a:xfrm>
            <a:off x="711182" y="4779843"/>
            <a:ext cx="228594" cy="228594"/>
          </a:xfrm>
          <a:prstGeom prst="rect">
            <a:avLst/>
          </a:prstGeom>
          <a:effectLst/>
        </p:spPr>
      </p:pic>
      <p:sp>
        <p:nvSpPr>
          <p:cNvPr id="9" name="TextBox 8"/>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Aholi daromadlari nima? Asosiy tushunchalar va ahamiyati</a:t>
            </a:r>
          </a:p>
        </p:txBody>
      </p:sp>
      <p:sp>
        <p:nvSpPr>
          <p:cNvPr id="10" name="TextBox 9"/>
          <p:cNvSpPr txBox="1"/>
          <p:nvPr/>
        </p:nvSpPr>
        <p:spPr>
          <a:xfrm>
            <a:off x="1231869" y="2144659"/>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Aholi daromadlari. Bu aholi turmush darajasini belgilovchi, ma'lum davr mobaynida olingan pul va natural shakldagi barcha tushumlar yig'indisidir.</a:t>
            </a:r>
          </a:p>
        </p:txBody>
      </p:sp>
      <p:sp>
        <p:nvSpPr>
          <p:cNvPr id="11" name="TextBox 10"/>
          <p:cNvSpPr txBox="1"/>
          <p:nvPr/>
        </p:nvSpPr>
        <p:spPr>
          <a:xfrm>
            <a:off x="1231869" y="3808317"/>
            <a:ext cx="4673483" cy="2171646"/>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Iqtisodiy ahamiyati. Aholi daromadlari iste'mol talabini shakllantirib, tovar va xizmatlar bozorining rivojlanishiga ta'sir ko'rsatadi. Bu esa ishlab chiqarishni rag'batlantirib, iqtisodiy o'sishga xizmat qiladi.</a:t>
            </a:r>
          </a:p>
        </p:txBody>
      </p:sp>
      <p:sp>
        <p:nvSpPr>
          <p:cNvPr id="12" name="TextBox 11"/>
          <p:cNvSpPr txBox="1"/>
          <p:nvPr/>
        </p:nvSpPr>
        <p:spPr>
          <a:xfrm>
            <a:off x="1231869" y="6240306"/>
            <a:ext cx="2188493" cy="266693"/>
          </a:xfrm>
          <a:prstGeom prst="rect">
            <a:avLst/>
          </a:prstGeom>
          <a:noFill/>
        </p:spPr>
        <p:txBody>
          <a:bodyPr wrap="square" lIns="0" rIns="0" tIns="0" bIns="0" anchor="t">
            <a:spAutoFit/>
          </a:bodyPr>
          <a:lstStyle/>
          <a:p>
            <a:pPr algn="l">
              <a:lnSpc>
                <a:spcPts val="2850"/>
              </a:lnSpc>
              <a:spcBef>
                <a:spcPts val="0"/>
              </a:spcBef>
              <a:spcAft>
                <a:spcPts val="0"/>
              </a:spcAft>
            </a:pPr>
            <a:r>
              <a:rPr sz="1900" b="1" i="0">
                <a:solidFill>
                  <a:srgbClr val="0F2E22"/>
                </a:solidFill>
                <a:latin typeface="Arial"/>
              </a:rPr>
              <a:t>Ijtimoiy ahamiyati.</a:t>
            </a:r>
          </a:p>
        </p:txBody>
      </p:sp>
      <p:sp>
        <p:nvSpPr>
          <p:cNvPr id="13" name="TextBox 12"/>
          <p:cNvSpPr txBox="1"/>
          <p:nvPr/>
        </p:nvSpPr>
        <p:spPr>
          <a:xfrm>
            <a:off x="6654634" y="5592623"/>
            <a:ext cx="4635384" cy="1265206"/>
          </a:xfrm>
          <a:prstGeom prst="rect">
            <a:avLst/>
          </a:prstGeom>
          <a:noFill/>
        </p:spPr>
        <p:txBody>
          <a:bodyPr wrap="square" lIns="0" rIns="0" tIns="0" bIns="0" anchor="t">
            <a:spAutoFit/>
          </a:bodyPr>
          <a:lstStyle/>
          <a:p>
            <a:pPr algn="l">
              <a:lnSpc>
                <a:spcPts val="2700"/>
              </a:lnSpc>
              <a:spcBef>
                <a:spcPts val="0"/>
              </a:spcBef>
              <a:spcAft>
                <a:spcPts val="0"/>
              </a:spcAft>
            </a:pPr>
            <a:r>
              <a:rPr sz="1800" b="0" i="0">
                <a:solidFill>
                  <a:srgbClr val="234437"/>
                </a:solidFill>
                <a:latin typeface="Arial"/>
              </a:rPr>
              <a:t>Aholi daromadlari oilaviy byudjetning asosini tashkil etib, uning sarflanishi jamiyatning iqtisodiy farovonligini belgilaydi. Daromadlar to'g'ri taqsimlanganda, aholining xarid qobiliyati oshadi va iqtisodiyot faollashadi.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500250"/>
            <a:ext cx="2552636" cy="3935909"/>
          </a:xfrm>
          <a:prstGeom prst="roundRect">
            <a:avLst>
              <a:gd name="adj" fmla="val 4477"/>
            </a:avLst>
          </a:prstGeom>
          <a:solidFill>
            <a:srgbClr val="E2F0EA"/>
          </a:solidFill>
          <a:ln>
            <a:noFill/>
          </a:ln>
          <a:effectLst/>
        </p:spPr>
        <p:txBody>
          <a:bodyPr rtlCol="0" anchor="ctr"/>
          <a:lstStyle/>
          <a:p/>
        </p:txBody>
      </p:sp>
      <p:sp>
        <p:nvSpPr>
          <p:cNvPr id="4" name="Rectangle 3"/>
          <p:cNvSpPr/>
          <p:nvPr/>
        </p:nvSpPr>
        <p:spPr>
          <a:xfrm>
            <a:off x="609585" y="6385361"/>
            <a:ext cx="2552636" cy="50799"/>
          </a:xfrm>
          <a:prstGeom prst="rect">
            <a:avLst/>
          </a:prstGeom>
          <a:solidFill>
            <a:srgbClr val="1E8E5A"/>
          </a:solidFill>
          <a:ln>
            <a:noFill/>
          </a:ln>
          <a:effectLst/>
        </p:spPr>
        <p:txBody>
          <a:bodyPr rtlCol="0" anchor="ctr"/>
          <a:lstStyle/>
          <a:p/>
        </p:txBody>
      </p:sp>
      <p:sp>
        <p:nvSpPr>
          <p:cNvPr id="5" name="Oval 4"/>
          <p:cNvSpPr/>
          <p:nvPr/>
        </p:nvSpPr>
        <p:spPr>
          <a:xfrm>
            <a:off x="1555711" y="2170058"/>
            <a:ext cx="660383" cy="660383"/>
          </a:xfrm>
          <a:prstGeom prst="ellipse">
            <a:avLst/>
          </a:prstGeom>
          <a:solidFill>
            <a:srgbClr val="1E8E5A"/>
          </a:solidFill>
          <a:ln>
            <a:noFill/>
          </a:ln>
          <a:effectLst/>
        </p:spPr>
        <p:txBody>
          <a:bodyPr rtlCol="0" anchor="ctr"/>
          <a:lstStyle/>
          <a:p/>
        </p:txBody>
      </p:sp>
      <p:sp>
        <p:nvSpPr>
          <p:cNvPr id="6" name="Rounded Rectangle 5"/>
          <p:cNvSpPr/>
          <p:nvPr/>
        </p:nvSpPr>
        <p:spPr>
          <a:xfrm>
            <a:off x="3416215" y="2500250"/>
            <a:ext cx="2552636" cy="3935909"/>
          </a:xfrm>
          <a:prstGeom prst="roundRect">
            <a:avLst>
              <a:gd name="adj" fmla="val 4477"/>
            </a:avLst>
          </a:prstGeom>
          <a:solidFill>
            <a:srgbClr val="FCF3E6"/>
          </a:solidFill>
          <a:ln>
            <a:noFill/>
          </a:ln>
          <a:effectLst/>
        </p:spPr>
        <p:txBody>
          <a:bodyPr rtlCol="0" anchor="ctr"/>
          <a:lstStyle/>
          <a:p/>
        </p:txBody>
      </p:sp>
      <p:sp>
        <p:nvSpPr>
          <p:cNvPr id="7" name="Rectangle 6"/>
          <p:cNvSpPr/>
          <p:nvPr/>
        </p:nvSpPr>
        <p:spPr>
          <a:xfrm>
            <a:off x="3416215" y="6385361"/>
            <a:ext cx="2552636" cy="50799"/>
          </a:xfrm>
          <a:prstGeom prst="rect">
            <a:avLst/>
          </a:prstGeom>
          <a:solidFill>
            <a:srgbClr val="E8A33D"/>
          </a:solidFill>
          <a:ln>
            <a:noFill/>
          </a:ln>
          <a:effectLst/>
        </p:spPr>
        <p:txBody>
          <a:bodyPr rtlCol="0" anchor="ctr"/>
          <a:lstStyle/>
          <a:p/>
        </p:txBody>
      </p:sp>
      <p:sp>
        <p:nvSpPr>
          <p:cNvPr id="8" name="Oval 7"/>
          <p:cNvSpPr/>
          <p:nvPr/>
        </p:nvSpPr>
        <p:spPr>
          <a:xfrm>
            <a:off x="4362341" y="2170058"/>
            <a:ext cx="660383" cy="660383"/>
          </a:xfrm>
          <a:prstGeom prst="ellipse">
            <a:avLst/>
          </a:prstGeom>
          <a:solidFill>
            <a:srgbClr val="E8A33D"/>
          </a:solidFill>
          <a:ln>
            <a:noFill/>
          </a:ln>
          <a:effectLst/>
        </p:spPr>
        <p:txBody>
          <a:bodyPr rtlCol="0" anchor="ctr"/>
          <a:lstStyle/>
          <a:p/>
        </p:txBody>
      </p:sp>
      <p:sp>
        <p:nvSpPr>
          <p:cNvPr id="9" name="Rounded Rectangle 8"/>
          <p:cNvSpPr/>
          <p:nvPr/>
        </p:nvSpPr>
        <p:spPr>
          <a:xfrm>
            <a:off x="6222844" y="2500250"/>
            <a:ext cx="2552636" cy="3935909"/>
          </a:xfrm>
          <a:prstGeom prst="roundRect">
            <a:avLst>
              <a:gd name="adj" fmla="val 4477"/>
            </a:avLst>
          </a:prstGeom>
          <a:solidFill>
            <a:srgbClr val="E4EEFB"/>
          </a:solidFill>
          <a:ln>
            <a:noFill/>
          </a:ln>
          <a:effectLst/>
        </p:spPr>
        <p:txBody>
          <a:bodyPr rtlCol="0" anchor="ctr"/>
          <a:lstStyle/>
          <a:p/>
        </p:txBody>
      </p:sp>
      <p:sp>
        <p:nvSpPr>
          <p:cNvPr id="10" name="Rectangle 9"/>
          <p:cNvSpPr/>
          <p:nvPr/>
        </p:nvSpPr>
        <p:spPr>
          <a:xfrm>
            <a:off x="6222844" y="6385361"/>
            <a:ext cx="2552636" cy="50799"/>
          </a:xfrm>
          <a:prstGeom prst="rect">
            <a:avLst/>
          </a:prstGeom>
          <a:solidFill>
            <a:srgbClr val="2F7BE0"/>
          </a:solidFill>
          <a:ln>
            <a:noFill/>
          </a:ln>
          <a:effectLst/>
        </p:spPr>
        <p:txBody>
          <a:bodyPr rtlCol="0" anchor="ctr"/>
          <a:lstStyle/>
          <a:p/>
        </p:txBody>
      </p:sp>
      <p:sp>
        <p:nvSpPr>
          <p:cNvPr id="11" name="Oval 10"/>
          <p:cNvSpPr/>
          <p:nvPr/>
        </p:nvSpPr>
        <p:spPr>
          <a:xfrm>
            <a:off x="7168971" y="2170058"/>
            <a:ext cx="660383" cy="660383"/>
          </a:xfrm>
          <a:prstGeom prst="ellipse">
            <a:avLst/>
          </a:prstGeom>
          <a:solidFill>
            <a:srgbClr val="2F7BE0"/>
          </a:solidFill>
          <a:ln>
            <a:noFill/>
          </a:ln>
          <a:effectLst/>
        </p:spPr>
        <p:txBody>
          <a:bodyPr rtlCol="0" anchor="ctr"/>
          <a:lstStyle/>
          <a:p/>
        </p:txBody>
      </p:sp>
      <p:sp>
        <p:nvSpPr>
          <p:cNvPr id="12" name="Rounded Rectangle 11"/>
          <p:cNvSpPr/>
          <p:nvPr/>
        </p:nvSpPr>
        <p:spPr>
          <a:xfrm>
            <a:off x="9029474" y="2500250"/>
            <a:ext cx="2552636" cy="3935909"/>
          </a:xfrm>
          <a:prstGeom prst="roundRect">
            <a:avLst>
              <a:gd name="adj" fmla="val 4477"/>
            </a:avLst>
          </a:prstGeom>
          <a:solidFill>
            <a:srgbClr val="FDECE5"/>
          </a:solidFill>
          <a:ln>
            <a:noFill/>
          </a:ln>
          <a:effectLst/>
        </p:spPr>
        <p:txBody>
          <a:bodyPr rtlCol="0" anchor="ctr"/>
          <a:lstStyle/>
          <a:p/>
        </p:txBody>
      </p:sp>
      <p:sp>
        <p:nvSpPr>
          <p:cNvPr id="13" name="Rectangle 12"/>
          <p:cNvSpPr/>
          <p:nvPr/>
        </p:nvSpPr>
        <p:spPr>
          <a:xfrm>
            <a:off x="9029474" y="6385361"/>
            <a:ext cx="2552636" cy="50799"/>
          </a:xfrm>
          <a:prstGeom prst="rect">
            <a:avLst/>
          </a:prstGeom>
          <a:solidFill>
            <a:srgbClr val="EE6C3A"/>
          </a:solidFill>
          <a:ln>
            <a:noFill/>
          </a:ln>
          <a:effectLst/>
        </p:spPr>
        <p:txBody>
          <a:bodyPr rtlCol="0" anchor="ctr"/>
          <a:lstStyle/>
          <a:p/>
        </p:txBody>
      </p:sp>
      <p:sp>
        <p:nvSpPr>
          <p:cNvPr id="14" name="Oval 13"/>
          <p:cNvSpPr/>
          <p:nvPr/>
        </p:nvSpPr>
        <p:spPr>
          <a:xfrm>
            <a:off x="9975601" y="2170058"/>
            <a:ext cx="660383" cy="660383"/>
          </a:xfrm>
          <a:prstGeom prst="ellipse">
            <a:avLst/>
          </a:prstGeom>
          <a:solidFill>
            <a:srgbClr val="EE6C3A"/>
          </a:solidFill>
          <a:ln>
            <a:noFill/>
          </a:ln>
          <a:effectLst/>
        </p:spPr>
        <p:txBody>
          <a:bodyPr rtlCol="0" anchor="ctr"/>
          <a:lstStyle/>
          <a:p/>
        </p:txBody>
      </p:sp>
      <p:pic>
        <p:nvPicPr>
          <p:cNvPr id="15" name="Picture 14" descr="vis_1788251_04_00.png"/>
          <p:cNvPicPr>
            <a:picLocks noChangeAspect="1"/>
          </p:cNvPicPr>
          <p:nvPr/>
        </p:nvPicPr>
        <p:blipFill>
          <a:blip r:embed="rId2"/>
          <a:stretch>
            <a:fillRect/>
          </a:stretch>
        </p:blipFill>
        <p:spPr>
          <a:xfrm>
            <a:off x="1714457" y="2328804"/>
            <a:ext cx="342891" cy="342891"/>
          </a:xfrm>
          <a:prstGeom prst="rect">
            <a:avLst/>
          </a:prstGeom>
          <a:effectLst/>
        </p:spPr>
      </p:pic>
      <p:pic>
        <p:nvPicPr>
          <p:cNvPr id="16" name="Picture 15" descr="vis_1788251_04_01.png"/>
          <p:cNvPicPr>
            <a:picLocks noChangeAspect="1"/>
          </p:cNvPicPr>
          <p:nvPr/>
        </p:nvPicPr>
        <p:blipFill>
          <a:blip r:embed="rId3"/>
          <a:stretch>
            <a:fillRect/>
          </a:stretch>
        </p:blipFill>
        <p:spPr>
          <a:xfrm>
            <a:off x="4521087" y="2328804"/>
            <a:ext cx="342891" cy="342891"/>
          </a:xfrm>
          <a:prstGeom prst="rect">
            <a:avLst/>
          </a:prstGeom>
          <a:effectLst/>
        </p:spPr>
      </p:pic>
      <p:pic>
        <p:nvPicPr>
          <p:cNvPr id="17" name="Picture 16" descr="vis_1788251_04_02.png"/>
          <p:cNvPicPr>
            <a:picLocks noChangeAspect="1"/>
          </p:cNvPicPr>
          <p:nvPr/>
        </p:nvPicPr>
        <p:blipFill>
          <a:blip r:embed="rId4"/>
          <a:stretch>
            <a:fillRect/>
          </a:stretch>
        </p:blipFill>
        <p:spPr>
          <a:xfrm>
            <a:off x="7327717" y="2328804"/>
            <a:ext cx="342891" cy="342891"/>
          </a:xfrm>
          <a:prstGeom prst="rect">
            <a:avLst/>
          </a:prstGeom>
          <a:effectLst/>
        </p:spPr>
      </p:pic>
      <p:pic>
        <p:nvPicPr>
          <p:cNvPr id="18" name="Picture 17" descr="vis_1788251_04_03.png"/>
          <p:cNvPicPr>
            <a:picLocks noChangeAspect="1"/>
          </p:cNvPicPr>
          <p:nvPr/>
        </p:nvPicPr>
        <p:blipFill>
          <a:blip r:embed="rId5"/>
          <a:stretch>
            <a:fillRect/>
          </a:stretch>
        </p:blipFill>
        <p:spPr>
          <a:xfrm>
            <a:off x="10134347" y="2328804"/>
            <a:ext cx="342891" cy="342891"/>
          </a:xfrm>
          <a:prstGeom prst="rect">
            <a:avLst/>
          </a:prstGeom>
          <a:effectLst/>
        </p:spPr>
      </p:pic>
      <p:sp>
        <p:nvSpPr>
          <p:cNvPr id="19" name="TextBox 18"/>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 turlari: Mehnat, tadbirkorlik, ijtimoiy to'lovlar va boshqalar</a:t>
            </a:r>
          </a:p>
        </p:txBody>
      </p:sp>
      <p:sp>
        <p:nvSpPr>
          <p:cNvPr id="20" name="TextBox 19"/>
          <p:cNvSpPr txBox="1"/>
          <p:nvPr/>
        </p:nvSpPr>
        <p:spPr>
          <a:xfrm>
            <a:off x="888978" y="2944739"/>
            <a:ext cx="212084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01</a:t>
            </a:r>
          </a:p>
        </p:txBody>
      </p:sp>
      <p:sp>
        <p:nvSpPr>
          <p:cNvPr id="21" name="TextBox 20"/>
          <p:cNvSpPr txBox="1"/>
          <p:nvPr/>
        </p:nvSpPr>
        <p:spPr>
          <a:xfrm>
            <a:off x="888978" y="3376528"/>
            <a:ext cx="200655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Mehnat daromadlari</a:t>
            </a:r>
          </a:p>
        </p:txBody>
      </p:sp>
      <p:sp>
        <p:nvSpPr>
          <p:cNvPr id="22" name="TextBox 21"/>
          <p:cNvSpPr txBox="1"/>
          <p:nvPr/>
        </p:nvSpPr>
        <p:spPr>
          <a:xfrm>
            <a:off x="888978" y="4157559"/>
            <a:ext cx="2006550" cy="1948409"/>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Ish haqi, mukofotlar, qo'shimcha to'lovlar kabi yollanma mehnatdan olinadigan daromadlar.</a:t>
            </a:r>
          </a:p>
        </p:txBody>
      </p:sp>
      <p:sp>
        <p:nvSpPr>
          <p:cNvPr id="23" name="TextBox 22"/>
          <p:cNvSpPr txBox="1"/>
          <p:nvPr/>
        </p:nvSpPr>
        <p:spPr>
          <a:xfrm>
            <a:off x="3695608" y="2944739"/>
            <a:ext cx="212084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02</a:t>
            </a:r>
          </a:p>
        </p:txBody>
      </p:sp>
      <p:sp>
        <p:nvSpPr>
          <p:cNvPr id="24" name="TextBox 23"/>
          <p:cNvSpPr txBox="1"/>
          <p:nvPr/>
        </p:nvSpPr>
        <p:spPr>
          <a:xfrm>
            <a:off x="3695608" y="3376528"/>
            <a:ext cx="200655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Tadbirkorlik daromadlari</a:t>
            </a:r>
          </a:p>
        </p:txBody>
      </p:sp>
      <p:sp>
        <p:nvSpPr>
          <p:cNvPr id="25" name="TextBox 24"/>
          <p:cNvSpPr txBox="1"/>
          <p:nvPr/>
        </p:nvSpPr>
        <p:spPr>
          <a:xfrm>
            <a:off x="3695608" y="4157559"/>
            <a:ext cx="2006550" cy="162367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Yakka tartibdagi tadbirkorlik, kichik biznes va dehqon xo'jaliklaridan olinadigan foyda.</a:t>
            </a:r>
          </a:p>
        </p:txBody>
      </p:sp>
      <p:sp>
        <p:nvSpPr>
          <p:cNvPr id="26" name="TextBox 25"/>
          <p:cNvSpPr txBox="1"/>
          <p:nvPr/>
        </p:nvSpPr>
        <p:spPr>
          <a:xfrm>
            <a:off x="6502237" y="2944739"/>
            <a:ext cx="212084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03</a:t>
            </a:r>
          </a:p>
        </p:txBody>
      </p:sp>
      <p:sp>
        <p:nvSpPr>
          <p:cNvPr id="27" name="TextBox 26"/>
          <p:cNvSpPr txBox="1"/>
          <p:nvPr/>
        </p:nvSpPr>
        <p:spPr>
          <a:xfrm>
            <a:off x="6502237" y="3376528"/>
            <a:ext cx="200655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Ijtimoiy transferlar</a:t>
            </a:r>
          </a:p>
        </p:txBody>
      </p:sp>
      <p:sp>
        <p:nvSpPr>
          <p:cNvPr id="28" name="TextBox 27"/>
          <p:cNvSpPr txBox="1"/>
          <p:nvPr/>
        </p:nvSpPr>
        <p:spPr>
          <a:xfrm>
            <a:off x="6502237" y="4157559"/>
            <a:ext cx="2006550" cy="1948409"/>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Pensiyalar, nafaqalar, stipendiyalar va moddiy yordam kabi davlat tomonidan beriladigan to'lovlar.</a:t>
            </a:r>
          </a:p>
        </p:txBody>
      </p:sp>
      <p:sp>
        <p:nvSpPr>
          <p:cNvPr id="29" name="TextBox 28"/>
          <p:cNvSpPr txBox="1"/>
          <p:nvPr/>
        </p:nvSpPr>
        <p:spPr>
          <a:xfrm>
            <a:off x="9308867" y="2944739"/>
            <a:ext cx="212084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04</a:t>
            </a:r>
          </a:p>
        </p:txBody>
      </p:sp>
      <p:sp>
        <p:nvSpPr>
          <p:cNvPr id="30" name="TextBox 29"/>
          <p:cNvSpPr txBox="1"/>
          <p:nvPr/>
        </p:nvSpPr>
        <p:spPr>
          <a:xfrm>
            <a:off x="9308867" y="3376528"/>
            <a:ext cx="200655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Boshqa daromadlar</a:t>
            </a:r>
          </a:p>
        </p:txBody>
      </p:sp>
      <p:sp>
        <p:nvSpPr>
          <p:cNvPr id="31" name="TextBox 30"/>
          <p:cNvSpPr txBox="1"/>
          <p:nvPr/>
        </p:nvSpPr>
        <p:spPr>
          <a:xfrm>
            <a:off x="9308867" y="4157559"/>
            <a:ext cx="2006550" cy="162367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Mulkdan olinadigan daromadlar (ijara haqi, dividendlar), pul o'tkazmalari va boshqa manbalar.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pic>
        <p:nvPicPr>
          <p:cNvPr id="3" name="Picture 2" descr="vis_1788251_05_00.png"/>
          <p:cNvPicPr>
            <a:picLocks noChangeAspect="1"/>
          </p:cNvPicPr>
          <p:nvPr/>
        </p:nvPicPr>
        <p:blipFill>
          <a:blip r:embed="rId2"/>
          <a:stretch>
            <a:fillRect/>
          </a:stretch>
        </p:blipFill>
        <p:spPr>
          <a:xfrm>
            <a:off x="1303305" y="2144659"/>
            <a:ext cx="9585085" cy="2884316"/>
          </a:xfrm>
          <a:prstGeom prst="rect">
            <a:avLst/>
          </a:prstGeom>
          <a:effectLst/>
        </p:spPr>
      </p:pic>
      <p:sp>
        <p:nvSpPr>
          <p:cNvPr id="4" name="TextBox 3"/>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O'zbekistonda aholi daromadlarining dinamikasi (2022-2026)</a:t>
            </a:r>
          </a:p>
        </p:txBody>
      </p:sp>
      <p:sp>
        <p:nvSpPr>
          <p:cNvPr id="5" name="TextBox 4"/>
          <p:cNvSpPr txBox="1"/>
          <p:nvPr/>
        </p:nvSpPr>
        <p:spPr>
          <a:xfrm>
            <a:off x="609585" y="5333867"/>
            <a:ext cx="9537462" cy="914377"/>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6C8478"/>
                </a:solidFill>
                <a:latin typeface="Arial"/>
              </a:rPr>
              <a:t>So'nggi besh yilda O'zbekistonda aholining umumiy daromadlari barqaror o'sish tendensiyasini ko'rsatmoqda. Bu o'sish iqtisodiy islohotlar, investitsiyalarning jalb qilinishi va mehnat bozoridagi faollik bilan bog'liq. 2026-yilga kelib bu ko'rsatkichning 780 trillion so'mga yetishi kutilmoqda.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Rectangle 2"/>
          <p:cNvSpPr/>
          <p:nvPr/>
        </p:nvSpPr>
        <p:spPr>
          <a:xfrm>
            <a:off x="609585" y="2144659"/>
            <a:ext cx="38099" cy="1739857"/>
          </a:xfrm>
          <a:prstGeom prst="rect">
            <a:avLst/>
          </a:prstGeom>
          <a:solidFill>
            <a:srgbClr val="1E8E5A"/>
          </a:solidFill>
          <a:ln>
            <a:noFill/>
          </a:ln>
          <a:effectLst/>
        </p:spPr>
        <p:txBody>
          <a:bodyPr rtlCol="0" anchor="ctr"/>
          <a:lstStyle/>
          <a:p/>
        </p:txBody>
      </p:sp>
      <p:sp>
        <p:nvSpPr>
          <p:cNvPr id="4" name="Rectangle 3"/>
          <p:cNvSpPr/>
          <p:nvPr/>
        </p:nvSpPr>
        <p:spPr>
          <a:xfrm>
            <a:off x="6222844" y="2144659"/>
            <a:ext cx="38099" cy="1739857"/>
          </a:xfrm>
          <a:prstGeom prst="rect">
            <a:avLst/>
          </a:prstGeom>
          <a:solidFill>
            <a:srgbClr val="1E8E5A"/>
          </a:solidFill>
          <a:ln>
            <a:noFill/>
          </a:ln>
          <a:effectLst/>
        </p:spPr>
        <p:txBody>
          <a:bodyPr rtlCol="0" anchor="ctr"/>
          <a:lstStyle/>
          <a:p/>
        </p:txBody>
      </p:sp>
      <p:sp>
        <p:nvSpPr>
          <p:cNvPr id="5" name="Oval 4"/>
          <p:cNvSpPr/>
          <p:nvPr/>
        </p:nvSpPr>
        <p:spPr>
          <a:xfrm>
            <a:off x="609585" y="4335354"/>
            <a:ext cx="431789" cy="431789"/>
          </a:xfrm>
          <a:prstGeom prst="ellipse">
            <a:avLst/>
          </a:prstGeom>
          <a:solidFill>
            <a:srgbClr val="1E8E5A"/>
          </a:solidFill>
          <a:ln>
            <a:noFill/>
          </a:ln>
          <a:effectLst/>
        </p:spPr>
        <p:txBody>
          <a:bodyPr rtlCol="0" anchor="ctr"/>
          <a:lstStyle/>
          <a:p/>
        </p:txBody>
      </p:sp>
      <p:sp>
        <p:nvSpPr>
          <p:cNvPr id="6" name="Oval 5"/>
          <p:cNvSpPr/>
          <p:nvPr/>
        </p:nvSpPr>
        <p:spPr>
          <a:xfrm>
            <a:off x="609585" y="5275131"/>
            <a:ext cx="431789" cy="431789"/>
          </a:xfrm>
          <a:prstGeom prst="ellipse">
            <a:avLst/>
          </a:prstGeom>
          <a:solidFill>
            <a:srgbClr val="E8A33D"/>
          </a:solidFill>
          <a:ln>
            <a:noFill/>
          </a:ln>
          <a:effectLst/>
        </p:spPr>
        <p:txBody>
          <a:bodyPr rtlCol="0" anchor="ctr"/>
          <a:lstStyle/>
          <a:p/>
        </p:txBody>
      </p:sp>
      <p:sp>
        <p:nvSpPr>
          <p:cNvPr id="7" name="Oval 6"/>
          <p:cNvSpPr/>
          <p:nvPr/>
        </p:nvSpPr>
        <p:spPr>
          <a:xfrm>
            <a:off x="609585" y="6214907"/>
            <a:ext cx="431789" cy="431789"/>
          </a:xfrm>
          <a:prstGeom prst="ellipse">
            <a:avLst/>
          </a:prstGeom>
          <a:solidFill>
            <a:srgbClr val="2F7BE0"/>
          </a:solidFill>
          <a:ln>
            <a:noFill/>
          </a:ln>
          <a:effectLst/>
        </p:spPr>
        <p:txBody>
          <a:bodyPr rtlCol="0" anchor="ctr"/>
          <a:lstStyle/>
          <a:p/>
        </p:txBody>
      </p:sp>
      <p:pic>
        <p:nvPicPr>
          <p:cNvPr id="8" name="Picture 7" descr="vis_1788251_06_00.png"/>
          <p:cNvPicPr>
            <a:picLocks noChangeAspect="1"/>
          </p:cNvPicPr>
          <p:nvPr/>
        </p:nvPicPr>
        <p:blipFill>
          <a:blip r:embed="rId2"/>
          <a:stretch>
            <a:fillRect/>
          </a:stretch>
        </p:blipFill>
        <p:spPr>
          <a:xfrm>
            <a:off x="711182" y="4436952"/>
            <a:ext cx="228594" cy="228594"/>
          </a:xfrm>
          <a:prstGeom prst="rect">
            <a:avLst/>
          </a:prstGeom>
          <a:effectLst/>
        </p:spPr>
      </p:pic>
      <p:pic>
        <p:nvPicPr>
          <p:cNvPr id="9" name="Picture 8" descr="vis_1788251_06_01.png"/>
          <p:cNvPicPr>
            <a:picLocks noChangeAspect="1"/>
          </p:cNvPicPr>
          <p:nvPr/>
        </p:nvPicPr>
        <p:blipFill>
          <a:blip r:embed="rId3"/>
          <a:stretch>
            <a:fillRect/>
          </a:stretch>
        </p:blipFill>
        <p:spPr>
          <a:xfrm>
            <a:off x="711182" y="5376728"/>
            <a:ext cx="228594" cy="228594"/>
          </a:xfrm>
          <a:prstGeom prst="rect">
            <a:avLst/>
          </a:prstGeom>
          <a:effectLst/>
        </p:spPr>
      </p:pic>
      <p:pic>
        <p:nvPicPr>
          <p:cNvPr id="10" name="Picture 9" descr="vis_1788251_06_02.png"/>
          <p:cNvPicPr>
            <a:picLocks noChangeAspect="1"/>
          </p:cNvPicPr>
          <p:nvPr/>
        </p:nvPicPr>
        <p:blipFill>
          <a:blip r:embed="rId4"/>
          <a:stretch>
            <a:fillRect/>
          </a:stretch>
        </p:blipFill>
        <p:spPr>
          <a:xfrm>
            <a:off x="711182" y="6316505"/>
            <a:ext cx="228594" cy="228594"/>
          </a:xfrm>
          <a:prstGeom prst="rect">
            <a:avLst/>
          </a:prstGeom>
          <a:effectLst/>
        </p:spPr>
      </p:pic>
      <p:sp>
        <p:nvSpPr>
          <p:cNvPr id="11" name="TextBox 10"/>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Aholi jon boshiga daromadlar o'sishi (2022-2026) va asosiy omillar</a:t>
            </a:r>
          </a:p>
        </p:txBody>
      </p:sp>
      <p:sp>
        <p:nvSpPr>
          <p:cNvPr id="12" name="TextBox 11"/>
          <p:cNvSpPr txBox="1"/>
          <p:nvPr/>
        </p:nvSpPr>
        <p:spPr>
          <a:xfrm>
            <a:off x="850879" y="2144659"/>
            <a:ext cx="1425797" cy="609585"/>
          </a:xfrm>
          <a:prstGeom prst="rect">
            <a:avLst/>
          </a:prstGeom>
          <a:noFill/>
        </p:spPr>
        <p:txBody>
          <a:bodyPr wrap="square" lIns="0" rIns="0" tIns="0" bIns="0" anchor="t">
            <a:spAutoFit/>
          </a:bodyPr>
          <a:lstStyle/>
          <a:p>
            <a:pPr algn="l">
              <a:lnSpc>
                <a:spcPts val="4800"/>
              </a:lnSpc>
              <a:spcBef>
                <a:spcPts val="0"/>
              </a:spcBef>
              <a:spcAft>
                <a:spcPts val="0"/>
              </a:spcAft>
            </a:pPr>
            <a:r>
              <a:rPr sz="4800" b="1" i="0">
                <a:solidFill>
                  <a:srgbClr val="1E8E5A"/>
                </a:solidFill>
                <a:latin typeface="Arial"/>
              </a:rPr>
              <a:t>15%</a:t>
            </a:r>
          </a:p>
        </p:txBody>
      </p:sp>
      <p:sp>
        <p:nvSpPr>
          <p:cNvPr id="13" name="TextBox 12"/>
          <p:cNvSpPr txBox="1"/>
          <p:nvPr/>
        </p:nvSpPr>
        <p:spPr>
          <a:xfrm>
            <a:off x="850879" y="2843141"/>
            <a:ext cx="2275188" cy="342891"/>
          </a:xfrm>
          <a:prstGeom prst="rect">
            <a:avLst/>
          </a:prstGeom>
          <a:noFill/>
        </p:spPr>
        <p:txBody>
          <a:bodyPr wrap="square" lIns="0" rIns="0" tIns="0" bIns="0" anchor="t">
            <a:spAutoFit/>
          </a:bodyPr>
          <a:lstStyle/>
          <a:p>
            <a:pPr algn="l">
              <a:lnSpc>
                <a:spcPts val="2700"/>
              </a:lnSpc>
              <a:spcBef>
                <a:spcPts val="0"/>
              </a:spcBef>
              <a:spcAft>
                <a:spcPts val="0"/>
              </a:spcAft>
            </a:pPr>
            <a:r>
              <a:rPr sz="1800" b="1" i="0">
                <a:solidFill>
                  <a:srgbClr val="0F2E22"/>
                </a:solidFill>
                <a:latin typeface="Arial"/>
              </a:rPr>
              <a:t>Yillik o'rtacha o'sish</a:t>
            </a:r>
          </a:p>
        </p:txBody>
      </p:sp>
      <p:sp>
        <p:nvSpPr>
          <p:cNvPr id="14" name="TextBox 13"/>
          <p:cNvSpPr txBox="1"/>
          <p:nvPr/>
        </p:nvSpPr>
        <p:spPr>
          <a:xfrm>
            <a:off x="850879" y="3274931"/>
            <a:ext cx="5130672" cy="609585"/>
          </a:xfrm>
          <a:prstGeom prst="rect">
            <a:avLst/>
          </a:prstGeom>
          <a:noFill/>
        </p:spPr>
        <p:txBody>
          <a:bodyPr wrap="square" lIns="0" rIns="0" tIns="0" bIns="0" anchor="t">
            <a:spAutoFit/>
          </a:bodyPr>
          <a:lstStyle/>
          <a:p>
            <a:pPr algn="l">
              <a:lnSpc>
                <a:spcPts val="2400"/>
              </a:lnSpc>
              <a:spcBef>
                <a:spcPts val="0"/>
              </a:spcBef>
              <a:spcAft>
                <a:spcPts val="0"/>
              </a:spcAft>
            </a:pPr>
            <a:r>
              <a:rPr sz="1600" b="0" i="0">
                <a:solidFill>
                  <a:srgbClr val="6C8478"/>
                </a:solidFill>
                <a:latin typeface="Arial"/>
              </a:rPr>
              <a:t>Aholi jon boshiga real daromadlar so'nggi besh yilda o'rtacha 15% ga o'sdi.</a:t>
            </a:r>
          </a:p>
        </p:txBody>
      </p:sp>
      <p:sp>
        <p:nvSpPr>
          <p:cNvPr id="15" name="TextBox 14"/>
          <p:cNvSpPr txBox="1"/>
          <p:nvPr/>
        </p:nvSpPr>
        <p:spPr>
          <a:xfrm>
            <a:off x="6464138" y="2144659"/>
            <a:ext cx="1549123" cy="609585"/>
          </a:xfrm>
          <a:prstGeom prst="rect">
            <a:avLst/>
          </a:prstGeom>
          <a:noFill/>
        </p:spPr>
        <p:txBody>
          <a:bodyPr wrap="square" lIns="0" rIns="0" tIns="0" bIns="0" anchor="t">
            <a:spAutoFit/>
          </a:bodyPr>
          <a:lstStyle/>
          <a:p>
            <a:pPr algn="l">
              <a:lnSpc>
                <a:spcPts val="4800"/>
              </a:lnSpc>
              <a:spcBef>
                <a:spcPts val="0"/>
              </a:spcBef>
              <a:spcAft>
                <a:spcPts val="0"/>
              </a:spcAft>
            </a:pPr>
            <a:r>
              <a:rPr sz="4800" b="1" i="0">
                <a:solidFill>
                  <a:srgbClr val="1E8E5A"/>
                </a:solidFill>
                <a:latin typeface="Arial"/>
              </a:rPr>
              <a:t>5500</a:t>
            </a:r>
          </a:p>
        </p:txBody>
      </p:sp>
      <p:sp>
        <p:nvSpPr>
          <p:cNvPr id="16" name="TextBox 15"/>
          <p:cNvSpPr txBox="1"/>
          <p:nvPr/>
        </p:nvSpPr>
        <p:spPr>
          <a:xfrm>
            <a:off x="6464138" y="2843141"/>
            <a:ext cx="2928725" cy="342891"/>
          </a:xfrm>
          <a:prstGeom prst="rect">
            <a:avLst/>
          </a:prstGeom>
          <a:noFill/>
        </p:spPr>
        <p:txBody>
          <a:bodyPr wrap="square" lIns="0" rIns="0" tIns="0" bIns="0" anchor="t">
            <a:spAutoFit/>
          </a:bodyPr>
          <a:lstStyle/>
          <a:p>
            <a:pPr algn="l">
              <a:lnSpc>
                <a:spcPts val="2700"/>
              </a:lnSpc>
              <a:spcBef>
                <a:spcPts val="0"/>
              </a:spcBef>
              <a:spcAft>
                <a:spcPts val="0"/>
              </a:spcAft>
            </a:pPr>
            <a:r>
              <a:rPr sz="1800" b="1" i="0">
                <a:solidFill>
                  <a:srgbClr val="0F2E22"/>
                </a:solidFill>
                <a:latin typeface="Arial"/>
              </a:rPr>
              <a:t>2026-yilda AQSH dollarida</a:t>
            </a:r>
          </a:p>
        </p:txBody>
      </p:sp>
      <p:sp>
        <p:nvSpPr>
          <p:cNvPr id="17" name="TextBox 16"/>
          <p:cNvSpPr txBox="1"/>
          <p:nvPr/>
        </p:nvSpPr>
        <p:spPr>
          <a:xfrm>
            <a:off x="6464138" y="3274931"/>
            <a:ext cx="5130672" cy="609585"/>
          </a:xfrm>
          <a:prstGeom prst="rect">
            <a:avLst/>
          </a:prstGeom>
          <a:noFill/>
        </p:spPr>
        <p:txBody>
          <a:bodyPr wrap="square" lIns="0" rIns="0" tIns="0" bIns="0" anchor="t">
            <a:spAutoFit/>
          </a:bodyPr>
          <a:lstStyle/>
          <a:p>
            <a:pPr algn="l">
              <a:lnSpc>
                <a:spcPts val="2400"/>
              </a:lnSpc>
              <a:spcBef>
                <a:spcPts val="0"/>
              </a:spcBef>
              <a:spcAft>
                <a:spcPts val="0"/>
              </a:spcAft>
            </a:pPr>
            <a:r>
              <a:rPr sz="1600" b="0" i="0">
                <a:solidFill>
                  <a:srgbClr val="6C8478"/>
                </a:solidFill>
                <a:latin typeface="Arial"/>
              </a:rPr>
              <a:t>2026-yilga borib aholining jon boshiga daromadlari 5500 AQSH dollariga yetishi prognoz qilinmoqda.</a:t>
            </a:r>
          </a:p>
        </p:txBody>
      </p:sp>
      <p:sp>
        <p:nvSpPr>
          <p:cNvPr id="18" name="TextBox 17"/>
          <p:cNvSpPr txBox="1"/>
          <p:nvPr/>
        </p:nvSpPr>
        <p:spPr>
          <a:xfrm>
            <a:off x="1231869" y="4189308"/>
            <a:ext cx="10362941" cy="723882"/>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Iqtisodiy o'sish. YaIMning barqaror o'sishi aholi daromadlarining oshishiga bevosita ta'sir ko'rsatadi.</a:t>
            </a:r>
          </a:p>
        </p:txBody>
      </p:sp>
      <p:sp>
        <p:nvSpPr>
          <p:cNvPr id="19" name="TextBox 18"/>
          <p:cNvSpPr txBox="1"/>
          <p:nvPr/>
        </p:nvSpPr>
        <p:spPr>
          <a:xfrm>
            <a:off x="1231869" y="5129084"/>
            <a:ext cx="10362941" cy="723882"/>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Ish haqi oshishi. Davlat va xususiy korxonalarda ish haqi miqdorining muntazam oshirilishi daromadlar o'sishining asosiy omilidir.</a:t>
            </a:r>
          </a:p>
        </p:txBody>
      </p:sp>
      <p:sp>
        <p:nvSpPr>
          <p:cNvPr id="20" name="TextBox 19"/>
          <p:cNvSpPr txBox="1"/>
          <p:nvPr/>
        </p:nvSpPr>
        <p:spPr>
          <a:xfrm>
            <a:off x="1231869" y="6068861"/>
            <a:ext cx="10362941" cy="723882"/>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Tadbirkorlikni qo'llab-quvvatlash. Kichik va o'rta biznesni rivojlantirish dasturlari aholining daromad olish imkoniyatlarini kengaytirdi.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500250"/>
            <a:ext cx="5359266" cy="4357579"/>
          </a:xfrm>
          <a:prstGeom prst="roundRect">
            <a:avLst>
              <a:gd name="adj" fmla="val 2622"/>
            </a:avLst>
          </a:prstGeom>
          <a:solidFill>
            <a:srgbClr val="E2F0EA"/>
          </a:solidFill>
          <a:ln>
            <a:noFill/>
          </a:ln>
          <a:effectLst/>
        </p:spPr>
        <p:txBody>
          <a:bodyPr rtlCol="0" anchor="ctr"/>
          <a:lstStyle/>
          <a:p/>
        </p:txBody>
      </p:sp>
      <p:sp>
        <p:nvSpPr>
          <p:cNvPr id="4" name="Rectangle 3"/>
          <p:cNvSpPr/>
          <p:nvPr/>
        </p:nvSpPr>
        <p:spPr>
          <a:xfrm>
            <a:off x="609585" y="7361053"/>
            <a:ext cx="5359266" cy="6350"/>
          </a:xfrm>
          <a:prstGeom prst="rect">
            <a:avLst/>
          </a:prstGeom>
          <a:solidFill>
            <a:srgbClr val="1E8E5A"/>
          </a:solidFill>
          <a:ln>
            <a:noFill/>
          </a:ln>
          <a:effectLst/>
        </p:spPr>
        <p:txBody>
          <a:bodyPr rtlCol="0" anchor="ctr"/>
          <a:lstStyle/>
          <a:p/>
        </p:txBody>
      </p:sp>
      <p:sp>
        <p:nvSpPr>
          <p:cNvPr id="5" name="Oval 4"/>
          <p:cNvSpPr/>
          <p:nvPr/>
        </p:nvSpPr>
        <p:spPr>
          <a:xfrm>
            <a:off x="2959026" y="2170058"/>
            <a:ext cx="660383" cy="660383"/>
          </a:xfrm>
          <a:prstGeom prst="ellipse">
            <a:avLst/>
          </a:prstGeom>
          <a:solidFill>
            <a:srgbClr val="1E8E5A"/>
          </a:solidFill>
          <a:ln>
            <a:noFill/>
          </a:ln>
          <a:effectLst/>
        </p:spPr>
        <p:txBody>
          <a:bodyPr rtlCol="0" anchor="ctr"/>
          <a:lstStyle/>
          <a:p/>
        </p:txBody>
      </p:sp>
      <p:sp>
        <p:nvSpPr>
          <p:cNvPr id="6" name="Oval 5"/>
          <p:cNvSpPr/>
          <p:nvPr/>
        </p:nvSpPr>
        <p:spPr>
          <a:xfrm>
            <a:off x="888978" y="3538449"/>
            <a:ext cx="101597" cy="101597"/>
          </a:xfrm>
          <a:prstGeom prst="ellipse">
            <a:avLst/>
          </a:prstGeom>
          <a:solidFill>
            <a:srgbClr val="1E8E5A"/>
          </a:solidFill>
          <a:ln>
            <a:noFill/>
          </a:ln>
          <a:effectLst/>
        </p:spPr>
        <p:txBody>
          <a:bodyPr rtlCol="0" anchor="ctr"/>
          <a:lstStyle/>
          <a:p/>
        </p:txBody>
      </p:sp>
      <p:sp>
        <p:nvSpPr>
          <p:cNvPr id="7" name="Oval 6"/>
          <p:cNvSpPr/>
          <p:nvPr/>
        </p:nvSpPr>
        <p:spPr>
          <a:xfrm>
            <a:off x="888978" y="5202107"/>
            <a:ext cx="101597" cy="101597"/>
          </a:xfrm>
          <a:prstGeom prst="ellipse">
            <a:avLst/>
          </a:prstGeom>
          <a:solidFill>
            <a:srgbClr val="1E8E5A"/>
          </a:solidFill>
          <a:ln>
            <a:noFill/>
          </a:ln>
          <a:effectLst/>
        </p:spPr>
        <p:txBody>
          <a:bodyPr rtlCol="0" anchor="ctr"/>
          <a:lstStyle/>
          <a:p/>
        </p:txBody>
      </p:sp>
      <p:sp>
        <p:nvSpPr>
          <p:cNvPr id="8" name="Rounded Rectangle 7"/>
          <p:cNvSpPr/>
          <p:nvPr/>
        </p:nvSpPr>
        <p:spPr>
          <a:xfrm>
            <a:off x="6222844" y="2500250"/>
            <a:ext cx="5359266" cy="4357579"/>
          </a:xfrm>
          <a:prstGeom prst="roundRect">
            <a:avLst>
              <a:gd name="adj" fmla="val 2622"/>
            </a:avLst>
          </a:prstGeom>
          <a:solidFill>
            <a:srgbClr val="0F2E22"/>
          </a:solidFill>
          <a:ln>
            <a:noFill/>
          </a:ln>
          <a:effectLst/>
        </p:spPr>
        <p:txBody>
          <a:bodyPr rtlCol="0" anchor="ctr"/>
          <a:lstStyle/>
          <a:p/>
        </p:txBody>
      </p:sp>
      <p:sp>
        <p:nvSpPr>
          <p:cNvPr id="9" name="Rectangle 8"/>
          <p:cNvSpPr/>
          <p:nvPr/>
        </p:nvSpPr>
        <p:spPr>
          <a:xfrm>
            <a:off x="6222844" y="7361053"/>
            <a:ext cx="5359266" cy="6350"/>
          </a:xfrm>
          <a:prstGeom prst="rect">
            <a:avLst/>
          </a:prstGeom>
          <a:solidFill>
            <a:srgbClr val="E8A33D"/>
          </a:solidFill>
          <a:ln>
            <a:noFill/>
          </a:ln>
          <a:effectLst/>
        </p:spPr>
        <p:txBody>
          <a:bodyPr rtlCol="0" anchor="ctr"/>
          <a:lstStyle/>
          <a:p/>
        </p:txBody>
      </p:sp>
      <p:sp>
        <p:nvSpPr>
          <p:cNvPr id="10" name="Oval 9"/>
          <p:cNvSpPr/>
          <p:nvPr/>
        </p:nvSpPr>
        <p:spPr>
          <a:xfrm>
            <a:off x="8572286" y="2170058"/>
            <a:ext cx="660383" cy="660383"/>
          </a:xfrm>
          <a:prstGeom prst="ellipse">
            <a:avLst/>
          </a:prstGeom>
          <a:solidFill>
            <a:srgbClr val="E8A33D"/>
          </a:solidFill>
          <a:ln>
            <a:noFill/>
          </a:ln>
          <a:effectLst/>
        </p:spPr>
        <p:txBody>
          <a:bodyPr rtlCol="0" anchor="ctr"/>
          <a:lstStyle/>
          <a:p/>
        </p:txBody>
      </p:sp>
      <p:sp>
        <p:nvSpPr>
          <p:cNvPr id="11" name="Oval 10"/>
          <p:cNvSpPr/>
          <p:nvPr/>
        </p:nvSpPr>
        <p:spPr>
          <a:xfrm>
            <a:off x="6502237" y="3538449"/>
            <a:ext cx="101597" cy="101597"/>
          </a:xfrm>
          <a:prstGeom prst="ellipse">
            <a:avLst/>
          </a:prstGeom>
          <a:solidFill>
            <a:srgbClr val="1E8E5A"/>
          </a:solidFill>
          <a:ln>
            <a:noFill/>
          </a:ln>
          <a:effectLst/>
        </p:spPr>
        <p:txBody>
          <a:bodyPr rtlCol="0" anchor="ctr"/>
          <a:lstStyle/>
          <a:p/>
        </p:txBody>
      </p:sp>
      <p:sp>
        <p:nvSpPr>
          <p:cNvPr id="12" name="Oval 11"/>
          <p:cNvSpPr/>
          <p:nvPr/>
        </p:nvSpPr>
        <p:spPr>
          <a:xfrm>
            <a:off x="6502237" y="4840166"/>
            <a:ext cx="101597" cy="101597"/>
          </a:xfrm>
          <a:prstGeom prst="ellipse">
            <a:avLst/>
          </a:prstGeom>
          <a:solidFill>
            <a:srgbClr val="1E8E5A"/>
          </a:solidFill>
          <a:ln>
            <a:noFill/>
          </a:ln>
          <a:effectLst/>
        </p:spPr>
        <p:txBody>
          <a:bodyPr rtlCol="0" anchor="ctr"/>
          <a:lstStyle/>
          <a:p/>
        </p:txBody>
      </p:sp>
      <p:sp>
        <p:nvSpPr>
          <p:cNvPr id="13" name="Oval 12"/>
          <p:cNvSpPr/>
          <p:nvPr/>
        </p:nvSpPr>
        <p:spPr>
          <a:xfrm>
            <a:off x="6502237" y="6141884"/>
            <a:ext cx="101597" cy="101597"/>
          </a:xfrm>
          <a:prstGeom prst="ellipse">
            <a:avLst/>
          </a:prstGeom>
          <a:solidFill>
            <a:srgbClr val="1E8E5A"/>
          </a:solidFill>
          <a:ln>
            <a:noFill/>
          </a:ln>
          <a:effectLst/>
        </p:spPr>
        <p:txBody>
          <a:bodyPr rtlCol="0" anchor="ctr"/>
          <a:lstStyle/>
          <a:p/>
        </p:txBody>
      </p:sp>
      <p:pic>
        <p:nvPicPr>
          <p:cNvPr id="14" name="Picture 13" descr="vis_1788251_07_00.png"/>
          <p:cNvPicPr>
            <a:picLocks noChangeAspect="1"/>
          </p:cNvPicPr>
          <p:nvPr/>
        </p:nvPicPr>
        <p:blipFill>
          <a:blip r:embed="rId2"/>
          <a:stretch>
            <a:fillRect/>
          </a:stretch>
        </p:blipFill>
        <p:spPr>
          <a:xfrm>
            <a:off x="3117772" y="2328804"/>
            <a:ext cx="342891" cy="342891"/>
          </a:xfrm>
          <a:prstGeom prst="rect">
            <a:avLst/>
          </a:prstGeom>
          <a:effectLst/>
        </p:spPr>
      </p:pic>
      <p:pic>
        <p:nvPicPr>
          <p:cNvPr id="15" name="Picture 14" descr="vis_1788251_07_01.png"/>
          <p:cNvPicPr>
            <a:picLocks noChangeAspect="1"/>
          </p:cNvPicPr>
          <p:nvPr/>
        </p:nvPicPr>
        <p:blipFill>
          <a:blip r:embed="rId3"/>
          <a:stretch>
            <a:fillRect/>
          </a:stretch>
        </p:blipFill>
        <p:spPr>
          <a:xfrm>
            <a:off x="8731032" y="2328804"/>
            <a:ext cx="342891" cy="342891"/>
          </a:xfrm>
          <a:prstGeom prst="rect">
            <a:avLst/>
          </a:prstGeom>
          <a:effectLst/>
        </p:spPr>
      </p:pic>
      <p:sp>
        <p:nvSpPr>
          <p:cNvPr id="16" name="TextBox 15"/>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Daromadlar tarkibi: Qaysi manbalar ustunlik qilmoqda (2026-yil holatiga)</a:t>
            </a:r>
          </a:p>
        </p:txBody>
      </p:sp>
      <p:sp>
        <p:nvSpPr>
          <p:cNvPr id="17" name="TextBox 16"/>
          <p:cNvSpPr txBox="1"/>
          <p:nvPr/>
        </p:nvSpPr>
        <p:spPr>
          <a:xfrm>
            <a:off x="888978" y="2944739"/>
            <a:ext cx="4907157"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Mehnat daromadlari</a:t>
            </a:r>
          </a:p>
        </p:txBody>
      </p:sp>
      <p:sp>
        <p:nvSpPr>
          <p:cNvPr id="18" name="TextBox 17"/>
          <p:cNvSpPr txBox="1"/>
          <p:nvPr/>
        </p:nvSpPr>
        <p:spPr>
          <a:xfrm>
            <a:off x="1142971" y="3392403"/>
            <a:ext cx="4559186"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Ish haqi va mukofotlar. Aholi daromadlarining asosiy qismi bo'lib, umumiy daromadlar tarkibida 60-65% ni tashkil etadi.</a:t>
            </a:r>
          </a:p>
        </p:txBody>
      </p:sp>
      <p:sp>
        <p:nvSpPr>
          <p:cNvPr id="19" name="TextBox 18"/>
          <p:cNvSpPr txBox="1"/>
          <p:nvPr/>
        </p:nvSpPr>
        <p:spPr>
          <a:xfrm>
            <a:off x="1142971" y="5056061"/>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Qishloq xo'jaligidan daromadlar. Aholining ma'lum qismi uchun muhim manba, asosan qishloq joylarda dolzarb.</a:t>
            </a:r>
          </a:p>
        </p:txBody>
      </p:sp>
      <p:sp>
        <p:nvSpPr>
          <p:cNvPr id="20" name="TextBox 19"/>
          <p:cNvSpPr txBox="1"/>
          <p:nvPr/>
        </p:nvSpPr>
        <p:spPr>
          <a:xfrm>
            <a:off x="6502237" y="2944739"/>
            <a:ext cx="4907157" cy="333367"/>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FFFFFF"/>
                </a:solidFill>
                <a:latin typeface="Arial"/>
              </a:rPr>
              <a:t>Boshqa daromad manbalari</a:t>
            </a:r>
          </a:p>
        </p:txBody>
      </p:sp>
      <p:sp>
        <p:nvSpPr>
          <p:cNvPr id="21" name="TextBox 20"/>
          <p:cNvSpPr txBox="1"/>
          <p:nvPr/>
        </p:nvSpPr>
        <p:spPr>
          <a:xfrm>
            <a:off x="6756231" y="3392403"/>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FFFFFF"/>
                </a:solidFill>
                <a:latin typeface="Arial"/>
              </a:rPr>
              <a:t>Tadbirkorlikdan daromadlar. Kichik biznes va xususiy tadbirkorlikdan olingan daromadlar ulushi ortib bormoqda.</a:t>
            </a:r>
          </a:p>
        </p:txBody>
      </p:sp>
      <p:sp>
        <p:nvSpPr>
          <p:cNvPr id="22" name="TextBox 21"/>
          <p:cNvSpPr txBox="1"/>
          <p:nvPr/>
        </p:nvSpPr>
        <p:spPr>
          <a:xfrm>
            <a:off x="6756231" y="4694120"/>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FFFFFF"/>
                </a:solidFill>
                <a:latin typeface="Arial"/>
              </a:rPr>
              <a:t>Ijtimoiy transferlar. Pensiya, nafaqa va moddiy yordam kabi ijtimoiy to'lovlar himoya mexanizmi bo'lib xizmat qiladi.</a:t>
            </a:r>
          </a:p>
        </p:txBody>
      </p:sp>
      <p:sp>
        <p:nvSpPr>
          <p:cNvPr id="23" name="TextBox 22"/>
          <p:cNvSpPr txBox="1"/>
          <p:nvPr/>
        </p:nvSpPr>
        <p:spPr>
          <a:xfrm>
            <a:off x="6756231" y="5995838"/>
            <a:ext cx="4559186" cy="861991"/>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FFFFFF"/>
                </a:solidFill>
                <a:latin typeface="Arial"/>
              </a:rPr>
              <a:t>Mulkdan daromadlar. Ijara haqi, dividendlar va foizlar kabi daromadlar nisbatan kamroq ulushga ega.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833617"/>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5040186"/>
            <a:ext cx="431789" cy="431789"/>
          </a:xfrm>
          <a:prstGeom prst="ellipse">
            <a:avLst/>
          </a:prstGeom>
          <a:solidFill>
            <a:srgbClr val="E8A33D"/>
          </a:solidFill>
          <a:ln>
            <a:noFill/>
          </a:ln>
          <a:effectLst/>
        </p:spPr>
        <p:txBody>
          <a:bodyPr rtlCol="0" anchor="ctr"/>
          <a:lstStyle/>
          <a:p/>
        </p:txBody>
      </p:sp>
      <p:pic>
        <p:nvPicPr>
          <p:cNvPr id="5" name="Picture 4" descr="vis_1788251_08_00.png"/>
          <p:cNvPicPr>
            <a:picLocks noChangeAspect="1"/>
          </p:cNvPicPr>
          <p:nvPr/>
        </p:nvPicPr>
        <p:blipFill>
          <a:blip r:embed="rId2"/>
          <a:stretch>
            <a:fillRect/>
          </a:stretch>
        </p:blipFill>
        <p:spPr>
          <a:xfrm>
            <a:off x="711182" y="2935214"/>
            <a:ext cx="228594" cy="228594"/>
          </a:xfrm>
          <a:prstGeom prst="rect">
            <a:avLst/>
          </a:prstGeom>
          <a:effectLst/>
        </p:spPr>
      </p:pic>
      <p:pic>
        <p:nvPicPr>
          <p:cNvPr id="6" name="Picture 5" descr="vis_1788251_08_01.png"/>
          <p:cNvPicPr>
            <a:picLocks noChangeAspect="1"/>
          </p:cNvPicPr>
          <p:nvPr/>
        </p:nvPicPr>
        <p:blipFill>
          <a:blip r:embed="rId3"/>
          <a:stretch>
            <a:fillRect/>
          </a:stretch>
        </p:blipFill>
        <p:spPr>
          <a:xfrm>
            <a:off x="711182" y="5141784"/>
            <a:ext cx="228594" cy="228594"/>
          </a:xfrm>
          <a:prstGeom prst="rect">
            <a:avLst/>
          </a:prstGeom>
          <a:effectLst/>
        </p:spPr>
      </p:pic>
      <p:sp>
        <p:nvSpPr>
          <p:cNvPr id="7" name="TextBox 6"/>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Daromadlar tengsizligi: Gini koeffitsiyenti va uning o'zgarishi (2022-2026)</a:t>
            </a:r>
          </a:p>
        </p:txBody>
      </p:sp>
      <p:sp>
        <p:nvSpPr>
          <p:cNvPr id="8" name="TextBox 7"/>
          <p:cNvSpPr txBox="1"/>
          <p:nvPr/>
        </p:nvSpPr>
        <p:spPr>
          <a:xfrm>
            <a:off x="1231869" y="2144659"/>
            <a:ext cx="4673483" cy="1809705"/>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Gini koeffitsiyenti. Aholi daromadlarining taqsimlanish darajasini o'lchovchi statistik ko'rsatkich. Qiymati 0 dan 1 gacha bo'lib, 0 mutlaq tenglikni, 1 esa mutlaq tengsizlikni bildiradi.</a:t>
            </a:r>
          </a:p>
        </p:txBody>
      </p:sp>
      <p:sp>
        <p:nvSpPr>
          <p:cNvPr id="9" name="TextBox 8"/>
          <p:cNvSpPr txBox="1"/>
          <p:nvPr/>
        </p:nvSpPr>
        <p:spPr>
          <a:xfrm>
            <a:off x="1231869" y="4170258"/>
            <a:ext cx="4673483" cy="2171646"/>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O'zbekistonda tengsizlik. So'nggi yillarda O'zbekistonda Gini koeffitsiyenti nisbatan barqaror darajada saqlanib qolmoqda. Bu davlatning ijtimoiy siyosati va daromadlarni teng taqsimlashga qaratilgan sa'y-harakatlari bilan izohlanadi.</a:t>
            </a:r>
          </a:p>
        </p:txBody>
      </p:sp>
      <p:sp>
        <p:nvSpPr>
          <p:cNvPr id="10" name="TextBox 9"/>
          <p:cNvSpPr txBox="1"/>
          <p:nvPr/>
        </p:nvSpPr>
        <p:spPr>
          <a:xfrm>
            <a:off x="1231869" y="6602247"/>
            <a:ext cx="1755116" cy="255581"/>
          </a:xfrm>
          <a:prstGeom prst="rect">
            <a:avLst/>
          </a:prstGeom>
          <a:noFill/>
        </p:spPr>
        <p:txBody>
          <a:bodyPr wrap="square" lIns="0" rIns="0" tIns="0" bIns="0" anchor="t">
            <a:spAutoFit/>
          </a:bodyPr>
          <a:lstStyle/>
          <a:p>
            <a:pPr algn="l">
              <a:lnSpc>
                <a:spcPts val="2850"/>
              </a:lnSpc>
              <a:spcBef>
                <a:spcPts val="0"/>
              </a:spcBef>
              <a:spcAft>
                <a:spcPts val="0"/>
              </a:spcAft>
            </a:pPr>
            <a:r>
              <a:rPr sz="1900" b="1" i="0">
                <a:solidFill>
                  <a:srgbClr val="0F2E22"/>
                </a:solidFill>
                <a:latin typeface="Arial"/>
              </a:rPr>
              <a:t>Tendensiyalar.</a:t>
            </a:r>
          </a:p>
        </p:txBody>
      </p:sp>
      <p:sp>
        <p:nvSpPr>
          <p:cNvPr id="11" name="TextBox 10"/>
          <p:cNvSpPr txBox="1"/>
          <p:nvPr/>
        </p:nvSpPr>
        <p:spPr>
          <a:xfrm>
            <a:off x="6299043" y="4341704"/>
            <a:ext cx="5295768" cy="1828754"/>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6C8478"/>
                </a:solidFill>
                <a:latin typeface="Arial"/>
              </a:rPr>
              <a:t>Gini koeffitsiyentining 0.28-0.29 oralig'ida bo'lishi O'zbekistonda daromadlar tengsizligi darajasi mo'tadil ekanligini ko'rsatadi. Bu, bir tomondan, iqtisodiy rivojlanishning inklyuzivligini ta'minlashga qaratilgan sa'y-harakatlar natijasi bo'lsa, ikkinchi tomondan, hali ham ba'zi ijtimoiy guruhlar orasida daromad farqlari mavjudligini bildiradi.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339123"/>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4183752"/>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5847410"/>
            <a:ext cx="431789" cy="431789"/>
          </a:xfrm>
          <a:prstGeom prst="ellipse">
            <a:avLst/>
          </a:prstGeom>
          <a:solidFill>
            <a:srgbClr val="2F7BE0"/>
          </a:solidFill>
          <a:ln>
            <a:noFill/>
          </a:ln>
          <a:effectLst/>
        </p:spPr>
        <p:txBody>
          <a:bodyPr rtlCol="0" anchor="ctr"/>
          <a:lstStyle/>
          <a:p/>
        </p:txBody>
      </p:sp>
      <p:sp>
        <p:nvSpPr>
          <p:cNvPr id="6" name="Rounded Rectangle 5"/>
          <p:cNvSpPr/>
          <p:nvPr/>
        </p:nvSpPr>
        <p:spPr>
          <a:xfrm>
            <a:off x="6299043" y="1650165"/>
            <a:ext cx="5283068" cy="5207664"/>
          </a:xfrm>
          <a:prstGeom prst="roundRect">
            <a:avLst>
              <a:gd name="adj" fmla="val 2194"/>
            </a:avLst>
          </a:prstGeom>
          <a:gradFill rotWithShape="1">
            <a:gsLst>
              <a:gs pos="0">
                <a:srgbClr val="E4F5EC"/>
              </a:gs>
              <a:gs pos="100000">
                <a:srgbClr val="F3FAF6"/>
              </a:gs>
            </a:gsLst>
            <a:lin scaled="0" ang="17400000"/>
          </a:gradFill>
          <a:ln>
            <a:noFill/>
          </a:ln>
          <a:effectLst/>
        </p:spPr>
        <p:txBody>
          <a:bodyPr rtlCol="0" anchor="ctr"/>
          <a:lstStyle/>
          <a:p/>
        </p:txBody>
      </p:sp>
      <p:sp>
        <p:nvSpPr>
          <p:cNvPr id="7" name="Rectangle 6"/>
          <p:cNvSpPr/>
          <p:nvPr/>
        </p:nvSpPr>
        <p:spPr>
          <a:xfrm>
            <a:off x="6299043" y="1650165"/>
            <a:ext cx="50799" cy="5207664"/>
          </a:xfrm>
          <a:prstGeom prst="rect">
            <a:avLst/>
          </a:prstGeom>
          <a:solidFill>
            <a:srgbClr val="1E8E5A"/>
          </a:solidFill>
          <a:ln>
            <a:noFill/>
          </a:ln>
          <a:effectLst/>
        </p:spPr>
        <p:txBody>
          <a:bodyPr rtlCol="0" anchor="ctr"/>
          <a:lstStyle/>
          <a:p/>
        </p:txBody>
      </p:sp>
      <p:pic>
        <p:nvPicPr>
          <p:cNvPr id="8" name="Picture 7" descr="vis_1788251_09_00.png"/>
          <p:cNvPicPr>
            <a:picLocks noChangeAspect="1"/>
          </p:cNvPicPr>
          <p:nvPr/>
        </p:nvPicPr>
        <p:blipFill>
          <a:blip r:embed="rId2"/>
          <a:stretch>
            <a:fillRect/>
          </a:stretch>
        </p:blipFill>
        <p:spPr>
          <a:xfrm>
            <a:off x="711182" y="2440720"/>
            <a:ext cx="228594" cy="228594"/>
          </a:xfrm>
          <a:prstGeom prst="rect">
            <a:avLst/>
          </a:prstGeom>
          <a:effectLst/>
        </p:spPr>
      </p:pic>
      <p:pic>
        <p:nvPicPr>
          <p:cNvPr id="9" name="Picture 8" descr="vis_1788251_09_01.png"/>
          <p:cNvPicPr>
            <a:picLocks noChangeAspect="1"/>
          </p:cNvPicPr>
          <p:nvPr/>
        </p:nvPicPr>
        <p:blipFill>
          <a:blip r:embed="rId3"/>
          <a:stretch>
            <a:fillRect/>
          </a:stretch>
        </p:blipFill>
        <p:spPr>
          <a:xfrm>
            <a:off x="711182" y="4285349"/>
            <a:ext cx="228594" cy="228594"/>
          </a:xfrm>
          <a:prstGeom prst="rect">
            <a:avLst/>
          </a:prstGeom>
          <a:effectLst/>
        </p:spPr>
      </p:pic>
      <p:pic>
        <p:nvPicPr>
          <p:cNvPr id="10" name="Picture 9" descr="vis_1788251_09_02.png"/>
          <p:cNvPicPr>
            <a:picLocks noChangeAspect="1"/>
          </p:cNvPicPr>
          <p:nvPr/>
        </p:nvPicPr>
        <p:blipFill>
          <a:blip r:embed="rId4"/>
          <a:stretch>
            <a:fillRect/>
          </a:stretch>
        </p:blipFill>
        <p:spPr>
          <a:xfrm>
            <a:off x="711182" y="5949008"/>
            <a:ext cx="228594" cy="228594"/>
          </a:xfrm>
          <a:prstGeom prst="rect">
            <a:avLst/>
          </a:prstGeom>
          <a:effectLst/>
        </p:spPr>
      </p:pic>
      <p:sp>
        <p:nvSpPr>
          <p:cNvPr id="11" name="TextBox 10"/>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Daromadlar tengsizligiga ta'sir etuvchi asosiy sabablar</a:t>
            </a:r>
          </a:p>
        </p:txBody>
      </p:sp>
      <p:sp>
        <p:nvSpPr>
          <p:cNvPr id="12" name="TextBox 11"/>
          <p:cNvSpPr txBox="1"/>
          <p:nvPr/>
        </p:nvSpPr>
        <p:spPr>
          <a:xfrm>
            <a:off x="1231869" y="1650165"/>
            <a:ext cx="4673483" cy="1809705"/>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Ta'lim darajasidagi farqlar. Yuqori malakali ishchilar past malakalilarga nisbatan ko'proq daromad oladi. Ta'limga investitsiya tengsizlikni kamaytirishga yordam beradi.</a:t>
            </a:r>
          </a:p>
        </p:txBody>
      </p:sp>
      <p:sp>
        <p:nvSpPr>
          <p:cNvPr id="13" name="TextBox 12"/>
          <p:cNvSpPr txBox="1"/>
          <p:nvPr/>
        </p:nvSpPr>
        <p:spPr>
          <a:xfrm>
            <a:off x="1231869" y="3675764"/>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Ishsizlik va to'liq band bo'lmaslik. Ishsizlik nafaqat daromad manbaini yo'qotadi, balki aholining ijtimoiy ahvolini ham yomonlashtiradi.</a:t>
            </a:r>
          </a:p>
        </p:txBody>
      </p:sp>
      <p:sp>
        <p:nvSpPr>
          <p:cNvPr id="14" name="TextBox 13"/>
          <p:cNvSpPr txBox="1"/>
          <p:nvPr/>
        </p:nvSpPr>
        <p:spPr>
          <a:xfrm>
            <a:off x="1231869" y="5339423"/>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Mintaqaviy farqlar. Shahar va qishloq joylarida, shuningdek, turli hududlarda iqtisodiy imkoniyatlar va ish haqi darajasi farq qilishi tengsizlikka sabab bo'ladi.</a:t>
            </a:r>
          </a:p>
        </p:txBody>
      </p:sp>
      <p:sp>
        <p:nvSpPr>
          <p:cNvPr id="15" name="TextBox 14"/>
          <p:cNvSpPr txBox="1"/>
          <p:nvPr/>
        </p:nvSpPr>
        <p:spPr>
          <a:xfrm>
            <a:off x="6654634" y="4872709"/>
            <a:ext cx="4635384" cy="1985119"/>
          </a:xfrm>
          <a:prstGeom prst="rect">
            <a:avLst/>
          </a:prstGeom>
          <a:noFill/>
        </p:spPr>
        <p:txBody>
          <a:bodyPr wrap="square" lIns="0" rIns="0" tIns="0" bIns="0" anchor="t">
            <a:spAutoFit/>
          </a:bodyPr>
          <a:lstStyle/>
          <a:p>
            <a:pPr algn="l">
              <a:lnSpc>
                <a:spcPts val="2700"/>
              </a:lnSpc>
              <a:spcBef>
                <a:spcPts val="0"/>
              </a:spcBef>
              <a:spcAft>
                <a:spcPts val="0"/>
              </a:spcAft>
            </a:pPr>
            <a:r>
              <a:rPr sz="1800" b="0" i="0">
                <a:solidFill>
                  <a:srgbClr val="234437"/>
                </a:solidFill>
                <a:latin typeface="Arial"/>
              </a:rPr>
              <a:t>Daromadlar tengsizligi turli omillarning murakkab o'zaro ta'siri natijasidir. Jumladan, ta'lim imkoniyatlari, mehnat bozori sharoitlari, mintaqaviy rivojlanish darajasi va ijtimoiy himoya siyosati ushbu tengsizlikka bevosita ta'sir ko'rsatadi. Bu omillarni tushunish, tengsizlikni kamaytirish bo'yicha samarali siyosatni ishlab chiqish uchun muhimdir.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005756"/>
            <a:ext cx="3488146" cy="3611175"/>
          </a:xfrm>
          <a:prstGeom prst="roundRect">
            <a:avLst>
              <a:gd name="adj" fmla="val 3276"/>
            </a:avLst>
          </a:prstGeom>
          <a:solidFill>
            <a:srgbClr val="E2F0EA"/>
          </a:solidFill>
          <a:ln>
            <a:noFill/>
          </a:ln>
          <a:effectLst/>
        </p:spPr>
        <p:txBody>
          <a:bodyPr rtlCol="0" anchor="ctr"/>
          <a:lstStyle/>
          <a:p/>
        </p:txBody>
      </p:sp>
      <p:sp>
        <p:nvSpPr>
          <p:cNvPr id="4" name="Rectangle 3"/>
          <p:cNvSpPr/>
          <p:nvPr/>
        </p:nvSpPr>
        <p:spPr>
          <a:xfrm>
            <a:off x="609585" y="5566132"/>
            <a:ext cx="3488146" cy="50799"/>
          </a:xfrm>
          <a:prstGeom prst="rect">
            <a:avLst/>
          </a:prstGeom>
          <a:solidFill>
            <a:srgbClr val="1E8E5A"/>
          </a:solidFill>
          <a:ln>
            <a:noFill/>
          </a:ln>
          <a:effectLst/>
        </p:spPr>
        <p:txBody>
          <a:bodyPr rtlCol="0" anchor="ctr"/>
          <a:lstStyle/>
          <a:p/>
        </p:txBody>
      </p:sp>
      <p:sp>
        <p:nvSpPr>
          <p:cNvPr id="5" name="Oval 4"/>
          <p:cNvSpPr/>
          <p:nvPr/>
        </p:nvSpPr>
        <p:spPr>
          <a:xfrm>
            <a:off x="2023417" y="1675564"/>
            <a:ext cx="660383" cy="660383"/>
          </a:xfrm>
          <a:prstGeom prst="ellipse">
            <a:avLst/>
          </a:prstGeom>
          <a:solidFill>
            <a:srgbClr val="1E8E5A"/>
          </a:solidFill>
          <a:ln>
            <a:noFill/>
          </a:ln>
          <a:effectLst/>
        </p:spPr>
        <p:txBody>
          <a:bodyPr rtlCol="0" anchor="ctr"/>
          <a:lstStyle/>
          <a:p/>
        </p:txBody>
      </p:sp>
      <p:sp>
        <p:nvSpPr>
          <p:cNvPr id="6" name="Rounded Rectangle 5"/>
          <p:cNvSpPr/>
          <p:nvPr/>
        </p:nvSpPr>
        <p:spPr>
          <a:xfrm>
            <a:off x="4351725" y="2005756"/>
            <a:ext cx="3488146" cy="3611175"/>
          </a:xfrm>
          <a:prstGeom prst="roundRect">
            <a:avLst>
              <a:gd name="adj" fmla="val 3276"/>
            </a:avLst>
          </a:prstGeom>
          <a:solidFill>
            <a:srgbClr val="FCF3E6"/>
          </a:solidFill>
          <a:ln>
            <a:noFill/>
          </a:ln>
          <a:effectLst/>
        </p:spPr>
        <p:txBody>
          <a:bodyPr rtlCol="0" anchor="ctr"/>
          <a:lstStyle/>
          <a:p/>
        </p:txBody>
      </p:sp>
      <p:sp>
        <p:nvSpPr>
          <p:cNvPr id="7" name="Rectangle 6"/>
          <p:cNvSpPr/>
          <p:nvPr/>
        </p:nvSpPr>
        <p:spPr>
          <a:xfrm>
            <a:off x="4351725" y="5566132"/>
            <a:ext cx="3488146" cy="50799"/>
          </a:xfrm>
          <a:prstGeom prst="rect">
            <a:avLst/>
          </a:prstGeom>
          <a:solidFill>
            <a:srgbClr val="E8A33D"/>
          </a:solidFill>
          <a:ln>
            <a:noFill/>
          </a:ln>
          <a:effectLst/>
        </p:spPr>
        <p:txBody>
          <a:bodyPr rtlCol="0" anchor="ctr"/>
          <a:lstStyle/>
          <a:p/>
        </p:txBody>
      </p:sp>
      <p:sp>
        <p:nvSpPr>
          <p:cNvPr id="8" name="Oval 7"/>
          <p:cNvSpPr/>
          <p:nvPr/>
        </p:nvSpPr>
        <p:spPr>
          <a:xfrm>
            <a:off x="5765557" y="1675564"/>
            <a:ext cx="660383" cy="660383"/>
          </a:xfrm>
          <a:prstGeom prst="ellipse">
            <a:avLst/>
          </a:prstGeom>
          <a:solidFill>
            <a:srgbClr val="E8A33D"/>
          </a:solidFill>
          <a:ln>
            <a:noFill/>
          </a:ln>
          <a:effectLst/>
        </p:spPr>
        <p:txBody>
          <a:bodyPr rtlCol="0" anchor="ctr"/>
          <a:lstStyle/>
          <a:p/>
        </p:txBody>
      </p:sp>
      <p:sp>
        <p:nvSpPr>
          <p:cNvPr id="9" name="Rounded Rectangle 8"/>
          <p:cNvSpPr/>
          <p:nvPr/>
        </p:nvSpPr>
        <p:spPr>
          <a:xfrm>
            <a:off x="8093865" y="2005756"/>
            <a:ext cx="3488146" cy="3611175"/>
          </a:xfrm>
          <a:prstGeom prst="roundRect">
            <a:avLst>
              <a:gd name="adj" fmla="val 3276"/>
            </a:avLst>
          </a:prstGeom>
          <a:solidFill>
            <a:srgbClr val="E4EEFB"/>
          </a:solidFill>
          <a:ln>
            <a:noFill/>
          </a:ln>
          <a:effectLst/>
        </p:spPr>
        <p:txBody>
          <a:bodyPr rtlCol="0" anchor="ctr"/>
          <a:lstStyle/>
          <a:p/>
        </p:txBody>
      </p:sp>
      <p:sp>
        <p:nvSpPr>
          <p:cNvPr id="10" name="Rectangle 9"/>
          <p:cNvSpPr/>
          <p:nvPr/>
        </p:nvSpPr>
        <p:spPr>
          <a:xfrm>
            <a:off x="8093865" y="5566132"/>
            <a:ext cx="3488146" cy="50799"/>
          </a:xfrm>
          <a:prstGeom prst="rect">
            <a:avLst/>
          </a:prstGeom>
          <a:solidFill>
            <a:srgbClr val="2F7BE0"/>
          </a:solidFill>
          <a:ln>
            <a:noFill/>
          </a:ln>
          <a:effectLst/>
        </p:spPr>
        <p:txBody>
          <a:bodyPr rtlCol="0" anchor="ctr"/>
          <a:lstStyle/>
          <a:p/>
        </p:txBody>
      </p:sp>
      <p:sp>
        <p:nvSpPr>
          <p:cNvPr id="11" name="Oval 10"/>
          <p:cNvSpPr/>
          <p:nvPr/>
        </p:nvSpPr>
        <p:spPr>
          <a:xfrm>
            <a:off x="9507697" y="1675564"/>
            <a:ext cx="660383" cy="660383"/>
          </a:xfrm>
          <a:prstGeom prst="ellipse">
            <a:avLst/>
          </a:prstGeom>
          <a:solidFill>
            <a:srgbClr val="2F7BE0"/>
          </a:solidFill>
          <a:ln>
            <a:noFill/>
          </a:ln>
          <a:effectLst/>
        </p:spPr>
        <p:txBody>
          <a:bodyPr rtlCol="0" anchor="ctr"/>
          <a:lstStyle/>
          <a:p/>
        </p:txBody>
      </p:sp>
      <p:sp>
        <p:nvSpPr>
          <p:cNvPr id="12" name="Oval 11"/>
          <p:cNvSpPr/>
          <p:nvPr/>
        </p:nvSpPr>
        <p:spPr>
          <a:xfrm>
            <a:off x="2023417" y="5540733"/>
            <a:ext cx="660383" cy="660383"/>
          </a:xfrm>
          <a:prstGeom prst="ellipse">
            <a:avLst/>
          </a:prstGeom>
          <a:solidFill>
            <a:srgbClr val="EE6C3A"/>
          </a:solidFill>
          <a:ln>
            <a:noFill/>
          </a:ln>
          <a:effectLst/>
        </p:spPr>
        <p:txBody>
          <a:bodyPr rtlCol="0" anchor="ctr"/>
          <a:lstStyle/>
          <a:p/>
        </p:txBody>
      </p:sp>
      <p:pic>
        <p:nvPicPr>
          <p:cNvPr id="13" name="Picture 12" descr="vis_1788251_10_00.png"/>
          <p:cNvPicPr>
            <a:picLocks noChangeAspect="1"/>
          </p:cNvPicPr>
          <p:nvPr/>
        </p:nvPicPr>
        <p:blipFill>
          <a:blip r:embed="rId2"/>
          <a:stretch>
            <a:fillRect/>
          </a:stretch>
        </p:blipFill>
        <p:spPr>
          <a:xfrm>
            <a:off x="2182163" y="1834310"/>
            <a:ext cx="342891" cy="342891"/>
          </a:xfrm>
          <a:prstGeom prst="rect">
            <a:avLst/>
          </a:prstGeom>
          <a:effectLst/>
        </p:spPr>
      </p:pic>
      <p:pic>
        <p:nvPicPr>
          <p:cNvPr id="14" name="Picture 13" descr="vis_1788251_10_01.png"/>
          <p:cNvPicPr>
            <a:picLocks noChangeAspect="1"/>
          </p:cNvPicPr>
          <p:nvPr/>
        </p:nvPicPr>
        <p:blipFill>
          <a:blip r:embed="rId3"/>
          <a:stretch>
            <a:fillRect/>
          </a:stretch>
        </p:blipFill>
        <p:spPr>
          <a:xfrm>
            <a:off x="5924303" y="1834310"/>
            <a:ext cx="342891" cy="342891"/>
          </a:xfrm>
          <a:prstGeom prst="rect">
            <a:avLst/>
          </a:prstGeom>
          <a:effectLst/>
        </p:spPr>
      </p:pic>
      <p:pic>
        <p:nvPicPr>
          <p:cNvPr id="15" name="Picture 14" descr="vis_1788251_10_02.png"/>
          <p:cNvPicPr>
            <a:picLocks noChangeAspect="1"/>
          </p:cNvPicPr>
          <p:nvPr/>
        </p:nvPicPr>
        <p:blipFill>
          <a:blip r:embed="rId4"/>
          <a:stretch>
            <a:fillRect/>
          </a:stretch>
        </p:blipFill>
        <p:spPr>
          <a:xfrm>
            <a:off x="9666443" y="1834310"/>
            <a:ext cx="342891" cy="342891"/>
          </a:xfrm>
          <a:prstGeom prst="rect">
            <a:avLst/>
          </a:prstGeom>
          <a:effectLst/>
        </p:spPr>
      </p:pic>
      <p:pic>
        <p:nvPicPr>
          <p:cNvPr id="16" name="Picture 15" descr="vis_1788251_10_03.png"/>
          <p:cNvPicPr>
            <a:picLocks noChangeAspect="1"/>
          </p:cNvPicPr>
          <p:nvPr/>
        </p:nvPicPr>
        <p:blipFill>
          <a:blip r:embed="rId5"/>
          <a:stretch>
            <a:fillRect/>
          </a:stretch>
        </p:blipFill>
        <p:spPr>
          <a:xfrm>
            <a:off x="2182163" y="5699479"/>
            <a:ext cx="342891" cy="342891"/>
          </a:xfrm>
          <a:prstGeom prst="rect">
            <a:avLst/>
          </a:prstGeom>
          <a:effectLst/>
        </p:spPr>
      </p:pic>
      <p:sp>
        <p:nvSpPr>
          <p:cNvPr id="17" name="TextBox 16"/>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Ijtimoiy himoya tizimining daromadlarga ta'siri</a:t>
            </a:r>
          </a:p>
        </p:txBody>
      </p:sp>
      <p:sp>
        <p:nvSpPr>
          <p:cNvPr id="18" name="TextBox 17"/>
          <p:cNvSpPr txBox="1"/>
          <p:nvPr/>
        </p:nvSpPr>
        <p:spPr>
          <a:xfrm>
            <a:off x="88897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01</a:t>
            </a:r>
          </a:p>
        </p:txBody>
      </p:sp>
      <p:sp>
        <p:nvSpPr>
          <p:cNvPr id="19" name="TextBox 18"/>
          <p:cNvSpPr txBox="1"/>
          <p:nvPr/>
        </p:nvSpPr>
        <p:spPr>
          <a:xfrm>
            <a:off x="888978" y="2882034"/>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Davlat yordami dasturlari</a:t>
            </a:r>
          </a:p>
        </p:txBody>
      </p:sp>
      <p:sp>
        <p:nvSpPr>
          <p:cNvPr id="20" name="TextBox 19"/>
          <p:cNvSpPr txBox="1"/>
          <p:nvPr/>
        </p:nvSpPr>
        <p:spPr>
          <a:xfrm>
            <a:off x="888978" y="3663065"/>
            <a:ext cx="2942060" cy="162367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Kam ta'minlangan oilalarga nafaqalar, moddiy yordam va subsidiyalar ajratish orqali daromadlar tengsizligini kamaytirish.</a:t>
            </a:r>
          </a:p>
        </p:txBody>
      </p:sp>
      <p:sp>
        <p:nvSpPr>
          <p:cNvPr id="21" name="TextBox 20"/>
          <p:cNvSpPr txBox="1"/>
          <p:nvPr/>
        </p:nvSpPr>
        <p:spPr>
          <a:xfrm>
            <a:off x="463111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02</a:t>
            </a:r>
          </a:p>
        </p:txBody>
      </p:sp>
      <p:sp>
        <p:nvSpPr>
          <p:cNvPr id="22" name="TextBox 21"/>
          <p:cNvSpPr txBox="1"/>
          <p:nvPr/>
        </p:nvSpPr>
        <p:spPr>
          <a:xfrm>
            <a:off x="4631118" y="2882034"/>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Ta'lim va malaka oshirish</a:t>
            </a:r>
          </a:p>
        </p:txBody>
      </p:sp>
      <p:sp>
        <p:nvSpPr>
          <p:cNvPr id="23" name="TextBox 22"/>
          <p:cNvSpPr txBox="1"/>
          <p:nvPr/>
        </p:nvSpPr>
        <p:spPr>
          <a:xfrm>
            <a:off x="4631118" y="3663065"/>
            <a:ext cx="2942060" cy="162367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Ishsiz va kam malakali aholini kasbga o'qitish, qayta tayyorlash dasturlari orqali ularning daromad olish imkoniyatlarini kengaytirish.</a:t>
            </a:r>
          </a:p>
        </p:txBody>
      </p:sp>
      <p:sp>
        <p:nvSpPr>
          <p:cNvPr id="24" name="TextBox 23"/>
          <p:cNvSpPr txBox="1"/>
          <p:nvPr/>
        </p:nvSpPr>
        <p:spPr>
          <a:xfrm>
            <a:off x="837325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03</a:t>
            </a:r>
          </a:p>
        </p:txBody>
      </p:sp>
      <p:sp>
        <p:nvSpPr>
          <p:cNvPr id="25" name="TextBox 24"/>
          <p:cNvSpPr txBox="1"/>
          <p:nvPr/>
        </p:nvSpPr>
        <p:spPr>
          <a:xfrm>
            <a:off x="8373258" y="2882034"/>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Sog'liqni saqlash xizmatlari</a:t>
            </a:r>
          </a:p>
        </p:txBody>
      </p:sp>
      <p:sp>
        <p:nvSpPr>
          <p:cNvPr id="26" name="TextBox 25"/>
          <p:cNvSpPr txBox="1"/>
          <p:nvPr/>
        </p:nvSpPr>
        <p:spPr>
          <a:xfrm>
            <a:off x="8373258" y="3663065"/>
            <a:ext cx="2942060" cy="1298939"/>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Aholining tibbiy xizmatlardan foydalanishini yaxshilash, kasalliklar sababli daromad yo'qotishlarining oldini olish.</a:t>
            </a:r>
          </a:p>
        </p:txBody>
      </p:sp>
      <p:sp>
        <p:nvSpPr>
          <p:cNvPr id="27" name="TextBox 26"/>
          <p:cNvSpPr txBox="1"/>
          <p:nvPr/>
        </p:nvSpPr>
        <p:spPr>
          <a:xfrm>
            <a:off x="888978" y="6315413"/>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Rectangle 2"/>
          <p:cNvSpPr/>
          <p:nvPr/>
        </p:nvSpPr>
        <p:spPr>
          <a:xfrm>
            <a:off x="609585" y="2726463"/>
            <a:ext cx="2194465" cy="25399"/>
          </a:xfrm>
          <a:prstGeom prst="rect">
            <a:avLst/>
          </a:prstGeom>
          <a:solidFill>
            <a:srgbClr val="E4F5EC"/>
          </a:solidFill>
          <a:ln>
            <a:noFill/>
          </a:ln>
          <a:effectLst/>
        </p:spPr>
        <p:txBody>
          <a:bodyPr rtlCol="0" anchor="ctr"/>
          <a:lstStyle/>
          <a:p/>
        </p:txBody>
      </p:sp>
      <p:sp>
        <p:nvSpPr>
          <p:cNvPr id="4" name="Oval 3"/>
          <p:cNvSpPr/>
          <p:nvPr/>
        </p:nvSpPr>
        <p:spPr>
          <a:xfrm>
            <a:off x="1636969" y="2669315"/>
            <a:ext cx="139697" cy="139697"/>
          </a:xfrm>
          <a:prstGeom prst="ellipse">
            <a:avLst/>
          </a:prstGeom>
          <a:solidFill>
            <a:srgbClr val="1E8E5A"/>
          </a:solidFill>
          <a:ln>
            <a:noFill/>
          </a:ln>
          <a:effectLst/>
        </p:spPr>
        <p:txBody>
          <a:bodyPr rtlCol="0" anchor="ctr"/>
          <a:lstStyle/>
          <a:p/>
        </p:txBody>
      </p:sp>
      <p:sp>
        <p:nvSpPr>
          <p:cNvPr id="5" name="Rectangle 4"/>
          <p:cNvSpPr/>
          <p:nvPr/>
        </p:nvSpPr>
        <p:spPr>
          <a:xfrm>
            <a:off x="2804050" y="2726463"/>
            <a:ext cx="2194565" cy="25399"/>
          </a:xfrm>
          <a:prstGeom prst="rect">
            <a:avLst/>
          </a:prstGeom>
          <a:solidFill>
            <a:srgbClr val="E4F5EC"/>
          </a:solidFill>
          <a:ln>
            <a:noFill/>
          </a:ln>
          <a:effectLst/>
        </p:spPr>
        <p:txBody>
          <a:bodyPr rtlCol="0" anchor="ctr"/>
          <a:lstStyle/>
          <a:p/>
        </p:txBody>
      </p:sp>
      <p:sp>
        <p:nvSpPr>
          <p:cNvPr id="6" name="Oval 5"/>
          <p:cNvSpPr/>
          <p:nvPr/>
        </p:nvSpPr>
        <p:spPr>
          <a:xfrm>
            <a:off x="3831435" y="2669315"/>
            <a:ext cx="139697" cy="139697"/>
          </a:xfrm>
          <a:prstGeom prst="ellipse">
            <a:avLst/>
          </a:prstGeom>
          <a:solidFill>
            <a:srgbClr val="1E8E5A"/>
          </a:solidFill>
          <a:ln>
            <a:noFill/>
          </a:ln>
          <a:effectLst/>
        </p:spPr>
        <p:txBody>
          <a:bodyPr rtlCol="0" anchor="ctr"/>
          <a:lstStyle/>
          <a:p/>
        </p:txBody>
      </p:sp>
      <p:sp>
        <p:nvSpPr>
          <p:cNvPr id="7" name="Rectangle 6"/>
          <p:cNvSpPr/>
          <p:nvPr/>
        </p:nvSpPr>
        <p:spPr>
          <a:xfrm>
            <a:off x="4998615" y="2726463"/>
            <a:ext cx="2194465" cy="25399"/>
          </a:xfrm>
          <a:prstGeom prst="rect">
            <a:avLst/>
          </a:prstGeom>
          <a:solidFill>
            <a:srgbClr val="E4F5EC"/>
          </a:solidFill>
          <a:ln>
            <a:noFill/>
          </a:ln>
          <a:effectLst/>
        </p:spPr>
        <p:txBody>
          <a:bodyPr rtlCol="0" anchor="ctr"/>
          <a:lstStyle/>
          <a:p/>
        </p:txBody>
      </p:sp>
      <p:sp>
        <p:nvSpPr>
          <p:cNvPr id="8" name="Oval 7"/>
          <p:cNvSpPr/>
          <p:nvPr/>
        </p:nvSpPr>
        <p:spPr>
          <a:xfrm>
            <a:off x="6025999" y="2669315"/>
            <a:ext cx="139697" cy="139697"/>
          </a:xfrm>
          <a:prstGeom prst="ellipse">
            <a:avLst/>
          </a:prstGeom>
          <a:solidFill>
            <a:srgbClr val="1E8E5A"/>
          </a:solidFill>
          <a:ln>
            <a:noFill/>
          </a:ln>
          <a:effectLst/>
        </p:spPr>
        <p:txBody>
          <a:bodyPr rtlCol="0" anchor="ctr"/>
          <a:lstStyle/>
          <a:p/>
        </p:txBody>
      </p:sp>
      <p:sp>
        <p:nvSpPr>
          <p:cNvPr id="9" name="Rectangle 8"/>
          <p:cNvSpPr/>
          <p:nvPr/>
        </p:nvSpPr>
        <p:spPr>
          <a:xfrm>
            <a:off x="7193080" y="2726463"/>
            <a:ext cx="2194565" cy="25399"/>
          </a:xfrm>
          <a:prstGeom prst="rect">
            <a:avLst/>
          </a:prstGeom>
          <a:solidFill>
            <a:srgbClr val="E4F5EC"/>
          </a:solidFill>
          <a:ln>
            <a:noFill/>
          </a:ln>
          <a:effectLst/>
        </p:spPr>
        <p:txBody>
          <a:bodyPr rtlCol="0" anchor="ctr"/>
          <a:lstStyle/>
          <a:p/>
        </p:txBody>
      </p:sp>
      <p:sp>
        <p:nvSpPr>
          <p:cNvPr id="10" name="Oval 9"/>
          <p:cNvSpPr/>
          <p:nvPr/>
        </p:nvSpPr>
        <p:spPr>
          <a:xfrm>
            <a:off x="8220465" y="2669315"/>
            <a:ext cx="139697" cy="139697"/>
          </a:xfrm>
          <a:prstGeom prst="ellipse">
            <a:avLst/>
          </a:prstGeom>
          <a:solidFill>
            <a:srgbClr val="1E8E5A"/>
          </a:solidFill>
          <a:ln>
            <a:noFill/>
          </a:ln>
          <a:effectLst/>
        </p:spPr>
        <p:txBody>
          <a:bodyPr rtlCol="0" anchor="ctr"/>
          <a:lstStyle/>
          <a:p/>
        </p:txBody>
      </p:sp>
      <p:sp>
        <p:nvSpPr>
          <p:cNvPr id="11" name="Rectangle 10"/>
          <p:cNvSpPr/>
          <p:nvPr/>
        </p:nvSpPr>
        <p:spPr>
          <a:xfrm>
            <a:off x="9387645" y="2726463"/>
            <a:ext cx="2194465" cy="25399"/>
          </a:xfrm>
          <a:prstGeom prst="rect">
            <a:avLst/>
          </a:prstGeom>
          <a:solidFill>
            <a:srgbClr val="E4F5EC"/>
          </a:solidFill>
          <a:ln>
            <a:noFill/>
          </a:ln>
          <a:effectLst/>
        </p:spPr>
        <p:txBody>
          <a:bodyPr rtlCol="0" anchor="ctr"/>
          <a:lstStyle/>
          <a:p/>
        </p:txBody>
      </p:sp>
      <p:sp>
        <p:nvSpPr>
          <p:cNvPr id="12" name="Oval 11"/>
          <p:cNvSpPr/>
          <p:nvPr/>
        </p:nvSpPr>
        <p:spPr>
          <a:xfrm>
            <a:off x="10415029" y="2669315"/>
            <a:ext cx="139697" cy="139697"/>
          </a:xfrm>
          <a:prstGeom prst="ellipse">
            <a:avLst/>
          </a:prstGeom>
          <a:solidFill>
            <a:srgbClr val="1E8E5A"/>
          </a:solidFill>
          <a:ln>
            <a:noFill/>
          </a:ln>
          <a:effectLst/>
        </p:spPr>
        <p:txBody>
          <a:bodyPr rtlCol="0" anchor="ctr"/>
          <a:lstStyle/>
          <a:p/>
        </p:txBody>
      </p:sp>
      <p:sp>
        <p:nvSpPr>
          <p:cNvPr id="13" name="TextBox 12"/>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Aholi daromadlarini oshirishga qaratilgan davlat siyosati (2022-2026)</a:t>
            </a:r>
          </a:p>
        </p:txBody>
      </p:sp>
      <p:sp>
        <p:nvSpPr>
          <p:cNvPr id="14" name="TextBox 13"/>
          <p:cNvSpPr txBox="1"/>
          <p:nvPr/>
        </p:nvSpPr>
        <p:spPr>
          <a:xfrm>
            <a:off x="1406807" y="2923308"/>
            <a:ext cx="600020" cy="342891"/>
          </a:xfrm>
          <a:prstGeom prst="rect">
            <a:avLst/>
          </a:prstGeom>
          <a:noFill/>
        </p:spPr>
        <p:txBody>
          <a:bodyPr wrap="square" lIns="0" rIns="0" tIns="0" bIns="0" anchor="t">
            <a:spAutoFit/>
          </a:bodyPr>
          <a:lstStyle/>
          <a:p>
            <a:pPr algn="ctr">
              <a:lnSpc>
                <a:spcPts val="2700"/>
              </a:lnSpc>
              <a:spcBef>
                <a:spcPts val="0"/>
              </a:spcBef>
              <a:spcAft>
                <a:spcPts val="0"/>
              </a:spcAft>
            </a:pPr>
            <a:r>
              <a:rPr sz="1800" b="1" i="0">
                <a:solidFill>
                  <a:srgbClr val="1E8E5A"/>
                </a:solidFill>
                <a:latin typeface="Arial"/>
              </a:rPr>
              <a:t>2022</a:t>
            </a:r>
          </a:p>
        </p:txBody>
      </p:sp>
      <p:sp>
        <p:nvSpPr>
          <p:cNvPr id="15" name="TextBox 14"/>
          <p:cNvSpPr txBox="1"/>
          <p:nvPr/>
        </p:nvSpPr>
        <p:spPr>
          <a:xfrm>
            <a:off x="755631" y="3380497"/>
            <a:ext cx="1902373" cy="1142971"/>
          </a:xfrm>
          <a:prstGeom prst="rect">
            <a:avLst/>
          </a:prstGeom>
          <a:noFill/>
        </p:spPr>
        <p:txBody>
          <a:bodyPr wrap="square" lIns="0" rIns="0" tIns="0" bIns="0" anchor="t">
            <a:spAutoFit/>
          </a:bodyPr>
          <a:lstStyle/>
          <a:p>
            <a:pPr algn="ctr">
              <a:lnSpc>
                <a:spcPts val="2250"/>
              </a:lnSpc>
              <a:spcBef>
                <a:spcPts val="0"/>
              </a:spcBef>
              <a:spcAft>
                <a:spcPts val="0"/>
              </a:spcAft>
            </a:pPr>
            <a:r>
              <a:rPr sz="1500" b="0" i="0">
                <a:solidFill>
                  <a:srgbClr val="234437"/>
                </a:solidFill>
                <a:latin typeface="Arial"/>
              </a:rPr>
              <a:t>"Inson qadri uchun" tamoyili asosida ijtimoiy himoya tizimini takomillashtirish.</a:t>
            </a:r>
          </a:p>
        </p:txBody>
      </p:sp>
      <p:sp>
        <p:nvSpPr>
          <p:cNvPr id="16" name="TextBox 15"/>
          <p:cNvSpPr txBox="1"/>
          <p:nvPr/>
        </p:nvSpPr>
        <p:spPr>
          <a:xfrm>
            <a:off x="3601273" y="2923308"/>
            <a:ext cx="600020" cy="342891"/>
          </a:xfrm>
          <a:prstGeom prst="rect">
            <a:avLst/>
          </a:prstGeom>
          <a:noFill/>
        </p:spPr>
        <p:txBody>
          <a:bodyPr wrap="square" lIns="0" rIns="0" tIns="0" bIns="0" anchor="t">
            <a:spAutoFit/>
          </a:bodyPr>
          <a:lstStyle/>
          <a:p>
            <a:pPr algn="ctr">
              <a:lnSpc>
                <a:spcPts val="2700"/>
              </a:lnSpc>
              <a:spcBef>
                <a:spcPts val="0"/>
              </a:spcBef>
              <a:spcAft>
                <a:spcPts val="0"/>
              </a:spcAft>
            </a:pPr>
            <a:r>
              <a:rPr sz="1800" b="1" i="0">
                <a:solidFill>
                  <a:srgbClr val="1E8E5A"/>
                </a:solidFill>
                <a:latin typeface="Arial"/>
              </a:rPr>
              <a:t>2023</a:t>
            </a:r>
          </a:p>
        </p:txBody>
      </p:sp>
      <p:sp>
        <p:nvSpPr>
          <p:cNvPr id="17" name="TextBox 16"/>
          <p:cNvSpPr txBox="1"/>
          <p:nvPr/>
        </p:nvSpPr>
        <p:spPr>
          <a:xfrm>
            <a:off x="2950097" y="3380497"/>
            <a:ext cx="1902472" cy="2285943"/>
          </a:xfrm>
          <a:prstGeom prst="rect">
            <a:avLst/>
          </a:prstGeom>
          <a:noFill/>
        </p:spPr>
        <p:txBody>
          <a:bodyPr wrap="square" lIns="0" rIns="0" tIns="0" bIns="0" anchor="t">
            <a:spAutoFit/>
          </a:bodyPr>
          <a:lstStyle/>
          <a:p>
            <a:pPr algn="ctr">
              <a:lnSpc>
                <a:spcPts val="2250"/>
              </a:lnSpc>
              <a:spcBef>
                <a:spcPts val="0"/>
              </a:spcBef>
              <a:spcAft>
                <a:spcPts val="0"/>
              </a:spcAft>
            </a:pPr>
            <a:r>
              <a:rPr sz="1500" b="0" i="0">
                <a:solidFill>
                  <a:srgbClr val="234437"/>
                </a:solidFill>
                <a:latin typeface="Arial"/>
              </a:rPr>
              <a:t>"Yangi O'zbekistonning taraqqiyot strategiyasi" doirasida aholi bandligini ta'minlash va daromadlarini oshirish chora-tadbirlari.</a:t>
            </a:r>
          </a:p>
        </p:txBody>
      </p:sp>
      <p:sp>
        <p:nvSpPr>
          <p:cNvPr id="18" name="TextBox 17"/>
          <p:cNvSpPr txBox="1"/>
          <p:nvPr/>
        </p:nvSpPr>
        <p:spPr>
          <a:xfrm>
            <a:off x="5795837" y="2923308"/>
            <a:ext cx="600020" cy="342891"/>
          </a:xfrm>
          <a:prstGeom prst="rect">
            <a:avLst/>
          </a:prstGeom>
          <a:noFill/>
        </p:spPr>
        <p:txBody>
          <a:bodyPr wrap="square" lIns="0" rIns="0" tIns="0" bIns="0" anchor="t">
            <a:spAutoFit/>
          </a:bodyPr>
          <a:lstStyle/>
          <a:p>
            <a:pPr algn="ctr">
              <a:lnSpc>
                <a:spcPts val="2700"/>
              </a:lnSpc>
              <a:spcBef>
                <a:spcPts val="0"/>
              </a:spcBef>
              <a:spcAft>
                <a:spcPts val="0"/>
              </a:spcAft>
            </a:pPr>
            <a:r>
              <a:rPr sz="1800" b="1" i="0">
                <a:solidFill>
                  <a:srgbClr val="1E8E5A"/>
                </a:solidFill>
                <a:latin typeface="Arial"/>
              </a:rPr>
              <a:t>2024</a:t>
            </a:r>
          </a:p>
        </p:txBody>
      </p:sp>
      <p:sp>
        <p:nvSpPr>
          <p:cNvPr id="19" name="TextBox 18"/>
          <p:cNvSpPr txBox="1"/>
          <p:nvPr/>
        </p:nvSpPr>
        <p:spPr>
          <a:xfrm>
            <a:off x="5144661" y="3380497"/>
            <a:ext cx="1902373" cy="1714457"/>
          </a:xfrm>
          <a:prstGeom prst="rect">
            <a:avLst/>
          </a:prstGeom>
          <a:noFill/>
        </p:spPr>
        <p:txBody>
          <a:bodyPr wrap="square" lIns="0" rIns="0" tIns="0" bIns="0" anchor="t">
            <a:spAutoFit/>
          </a:bodyPr>
          <a:lstStyle/>
          <a:p>
            <a:pPr algn="ctr">
              <a:lnSpc>
                <a:spcPts val="2250"/>
              </a:lnSpc>
              <a:spcBef>
                <a:spcPts val="0"/>
              </a:spcBef>
              <a:spcAft>
                <a:spcPts val="0"/>
              </a:spcAft>
            </a:pPr>
            <a:r>
              <a:rPr sz="1500" b="0" i="0">
                <a:solidFill>
                  <a:srgbClr val="234437"/>
                </a:solidFill>
                <a:latin typeface="Arial"/>
              </a:rPr>
              <a:t>"Ishga marhamat" monomarkazlari faoliyatini kengaytirish va aholini kasbga o'qitish dasturlarini jadallashtirish.</a:t>
            </a:r>
          </a:p>
        </p:txBody>
      </p:sp>
      <p:sp>
        <p:nvSpPr>
          <p:cNvPr id="20" name="TextBox 19"/>
          <p:cNvSpPr txBox="1"/>
          <p:nvPr/>
        </p:nvSpPr>
        <p:spPr>
          <a:xfrm>
            <a:off x="7990303" y="2923308"/>
            <a:ext cx="600020" cy="342891"/>
          </a:xfrm>
          <a:prstGeom prst="rect">
            <a:avLst/>
          </a:prstGeom>
          <a:noFill/>
        </p:spPr>
        <p:txBody>
          <a:bodyPr wrap="square" lIns="0" rIns="0" tIns="0" bIns="0" anchor="t">
            <a:spAutoFit/>
          </a:bodyPr>
          <a:lstStyle/>
          <a:p>
            <a:pPr algn="ctr">
              <a:lnSpc>
                <a:spcPts val="2700"/>
              </a:lnSpc>
              <a:spcBef>
                <a:spcPts val="0"/>
              </a:spcBef>
              <a:spcAft>
                <a:spcPts val="0"/>
              </a:spcAft>
            </a:pPr>
            <a:r>
              <a:rPr sz="1800" b="1" i="0">
                <a:solidFill>
                  <a:srgbClr val="1E8E5A"/>
                </a:solidFill>
                <a:latin typeface="Arial"/>
              </a:rPr>
              <a:t>2025</a:t>
            </a:r>
          </a:p>
        </p:txBody>
      </p:sp>
      <p:sp>
        <p:nvSpPr>
          <p:cNvPr id="21" name="TextBox 20"/>
          <p:cNvSpPr txBox="1"/>
          <p:nvPr/>
        </p:nvSpPr>
        <p:spPr>
          <a:xfrm>
            <a:off x="7339127" y="3380497"/>
            <a:ext cx="1902472" cy="2000200"/>
          </a:xfrm>
          <a:prstGeom prst="rect">
            <a:avLst/>
          </a:prstGeom>
          <a:noFill/>
        </p:spPr>
        <p:txBody>
          <a:bodyPr wrap="square" lIns="0" rIns="0" tIns="0" bIns="0" anchor="t">
            <a:spAutoFit/>
          </a:bodyPr>
          <a:lstStyle/>
          <a:p>
            <a:pPr algn="ctr">
              <a:lnSpc>
                <a:spcPts val="2250"/>
              </a:lnSpc>
              <a:spcBef>
                <a:spcPts val="0"/>
              </a:spcBef>
              <a:spcAft>
                <a:spcPts val="0"/>
              </a:spcAft>
            </a:pPr>
            <a:r>
              <a:rPr sz="1500" b="0" i="0">
                <a:solidFill>
                  <a:srgbClr val="234437"/>
                </a:solidFill>
                <a:latin typeface="Arial"/>
              </a:rPr>
              <a:t>Tadbirkorlikni qo'llab-quvvatlash, mikrokreditlar ajratish va biznes boshlash uchun shart-sharoitlarni yaxshilash.</a:t>
            </a:r>
          </a:p>
        </p:txBody>
      </p:sp>
      <p:sp>
        <p:nvSpPr>
          <p:cNvPr id="22" name="TextBox 21"/>
          <p:cNvSpPr txBox="1"/>
          <p:nvPr/>
        </p:nvSpPr>
        <p:spPr>
          <a:xfrm>
            <a:off x="10184868" y="2923308"/>
            <a:ext cx="600020" cy="342891"/>
          </a:xfrm>
          <a:prstGeom prst="rect">
            <a:avLst/>
          </a:prstGeom>
          <a:noFill/>
        </p:spPr>
        <p:txBody>
          <a:bodyPr wrap="square" lIns="0" rIns="0" tIns="0" bIns="0" anchor="t">
            <a:spAutoFit/>
          </a:bodyPr>
          <a:lstStyle/>
          <a:p>
            <a:pPr algn="ctr">
              <a:lnSpc>
                <a:spcPts val="2700"/>
              </a:lnSpc>
              <a:spcBef>
                <a:spcPts val="0"/>
              </a:spcBef>
              <a:spcAft>
                <a:spcPts val="0"/>
              </a:spcAft>
            </a:pPr>
            <a:r>
              <a:rPr sz="1800" b="1" i="0">
                <a:solidFill>
                  <a:srgbClr val="1E8E5A"/>
                </a:solidFill>
                <a:latin typeface="Arial"/>
              </a:rPr>
              <a:t>2026</a:t>
            </a:r>
          </a:p>
        </p:txBody>
      </p:sp>
      <p:sp>
        <p:nvSpPr>
          <p:cNvPr id="23" name="TextBox 22"/>
          <p:cNvSpPr txBox="1"/>
          <p:nvPr/>
        </p:nvSpPr>
        <p:spPr>
          <a:xfrm>
            <a:off x="9533691" y="3380497"/>
            <a:ext cx="1902373" cy="2285943"/>
          </a:xfrm>
          <a:prstGeom prst="rect">
            <a:avLst/>
          </a:prstGeom>
          <a:noFill/>
        </p:spPr>
        <p:txBody>
          <a:bodyPr wrap="square" lIns="0" rIns="0" tIns="0" bIns="0" anchor="t">
            <a:spAutoFit/>
          </a:bodyPr>
          <a:lstStyle/>
          <a:p>
            <a:pPr algn="ctr">
              <a:lnSpc>
                <a:spcPts val="2250"/>
              </a:lnSpc>
              <a:spcBef>
                <a:spcPts val="0"/>
              </a:spcBef>
              <a:spcAft>
                <a:spcPts val="0"/>
              </a:spcAft>
            </a:pPr>
            <a:r>
              <a:rPr sz="1500" b="0" i="0">
                <a:solidFill>
                  <a:srgbClr val="234437"/>
                </a:solidFill>
                <a:latin typeface="Arial"/>
              </a:rPr>
              <a:t>Ijtimoiy yordam tizimini raqamlashtirish, shaffoflikni oshirish va manzilli yordam ko'rsatish mexanizmlarini joriy etish.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652646"/>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4135334"/>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5618022"/>
            <a:ext cx="431789" cy="431789"/>
          </a:xfrm>
          <a:prstGeom prst="ellipse">
            <a:avLst/>
          </a:prstGeom>
          <a:solidFill>
            <a:srgbClr val="2F7BE0"/>
          </a:solidFill>
          <a:ln>
            <a:noFill/>
          </a:ln>
          <a:effectLst/>
        </p:spPr>
        <p:txBody>
          <a:bodyPr rtlCol="0" anchor="ctr"/>
          <a:lstStyle/>
          <a:p/>
        </p:txBody>
      </p:sp>
      <p:pic>
        <p:nvPicPr>
          <p:cNvPr id="6" name="Picture 5" descr="vis_1788251_12_00.png"/>
          <p:cNvPicPr>
            <a:picLocks noChangeAspect="1"/>
          </p:cNvPicPr>
          <p:nvPr/>
        </p:nvPicPr>
        <p:blipFill>
          <a:blip r:embed="rId2"/>
          <a:stretch>
            <a:fillRect/>
          </a:stretch>
        </p:blipFill>
        <p:spPr>
          <a:xfrm>
            <a:off x="711182" y="2754244"/>
            <a:ext cx="228594" cy="228594"/>
          </a:xfrm>
          <a:prstGeom prst="rect">
            <a:avLst/>
          </a:prstGeom>
          <a:effectLst/>
        </p:spPr>
      </p:pic>
      <p:pic>
        <p:nvPicPr>
          <p:cNvPr id="7" name="Picture 6" descr="vis_1788251_12_01.png"/>
          <p:cNvPicPr>
            <a:picLocks noChangeAspect="1"/>
          </p:cNvPicPr>
          <p:nvPr/>
        </p:nvPicPr>
        <p:blipFill>
          <a:blip r:embed="rId3"/>
          <a:stretch>
            <a:fillRect/>
          </a:stretch>
        </p:blipFill>
        <p:spPr>
          <a:xfrm>
            <a:off x="711182" y="4236932"/>
            <a:ext cx="228594" cy="228594"/>
          </a:xfrm>
          <a:prstGeom prst="rect">
            <a:avLst/>
          </a:prstGeom>
          <a:effectLst/>
        </p:spPr>
      </p:pic>
      <p:pic>
        <p:nvPicPr>
          <p:cNvPr id="8" name="Picture 7" descr="vis_1788251_12_02.png"/>
          <p:cNvPicPr>
            <a:picLocks noChangeAspect="1"/>
          </p:cNvPicPr>
          <p:nvPr/>
        </p:nvPicPr>
        <p:blipFill>
          <a:blip r:embed="rId4"/>
          <a:stretch>
            <a:fillRect/>
          </a:stretch>
        </p:blipFill>
        <p:spPr>
          <a:xfrm>
            <a:off x="711182" y="5719620"/>
            <a:ext cx="228594" cy="228594"/>
          </a:xfrm>
          <a:prstGeom prst="rect">
            <a:avLst/>
          </a:prstGeom>
          <a:effectLst/>
        </p:spPr>
      </p:pic>
      <p:sp>
        <p:nvSpPr>
          <p:cNvPr id="9" name="TextBox 8"/>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Mehnat bozoridagi o'zgarishlar va ularning daromadlarga ta'siri</a:t>
            </a:r>
          </a:p>
        </p:txBody>
      </p:sp>
      <p:sp>
        <p:nvSpPr>
          <p:cNvPr id="10" name="TextBox 9"/>
          <p:cNvSpPr txBox="1"/>
          <p:nvPr/>
        </p:nvSpPr>
        <p:spPr>
          <a:xfrm>
            <a:off x="1231869" y="2144659"/>
            <a:ext cx="5260447"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Ishchi kuchiga talab o'zgarishi. Raqamli texnologiyalar va avtomatlashtirish ayrim kasblarga talabni kamaytirib, yangilarini yaratmoqda.</a:t>
            </a:r>
          </a:p>
        </p:txBody>
      </p:sp>
      <p:sp>
        <p:nvSpPr>
          <p:cNvPr id="11" name="TextBox 10"/>
          <p:cNvSpPr txBox="1"/>
          <p:nvPr/>
        </p:nvSpPr>
        <p:spPr>
          <a:xfrm>
            <a:off x="1231869" y="3808317"/>
            <a:ext cx="5260447"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Malaka talablarining oshishi. Yuqori texnologiyali sohalarda ishlash uchun zamonaviy ko'nikmalar va doimiy malaka oshirish zarur.</a:t>
            </a:r>
          </a:p>
        </p:txBody>
      </p:sp>
      <p:sp>
        <p:nvSpPr>
          <p:cNvPr id="12" name="TextBox 11"/>
          <p:cNvSpPr txBox="1"/>
          <p:nvPr/>
        </p:nvSpPr>
        <p:spPr>
          <a:xfrm>
            <a:off x="1231869" y="5110035"/>
            <a:ext cx="5260447"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Fleksibil bandlik. Frilans, masofaviy ish va qisman bandlik kabi moslashuvchan ish turlari kengayib, daromad manbalariga ta'sir ko'rsatmoqda.</a:t>
            </a:r>
          </a:p>
        </p:txBody>
      </p:sp>
      <p:sp>
        <p:nvSpPr>
          <p:cNvPr id="13" name="TextBox 12"/>
          <p:cNvSpPr txBox="1"/>
          <p:nvPr/>
        </p:nvSpPr>
        <p:spPr>
          <a:xfrm>
            <a:off x="6886006" y="4240106"/>
            <a:ext cx="4708804" cy="1523962"/>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6C8478"/>
                </a:solidFill>
                <a:latin typeface="Arial"/>
              </a:rPr>
              <a:t>2026-yil holatiga ko'ra, xizmat ko'rsatish sohasida bandlikning yuqori ulushi ushbu sektorning daromad yaratishdagi muhim rolini ko'rsatadi. Sanoat va qishloq xo'jaligida bandlikning kamayishi, qurilish sektorining barqaror o'sishi tendensiyasi kuzatilmoqda.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471676"/>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3773393"/>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5075111"/>
            <a:ext cx="431789" cy="431789"/>
          </a:xfrm>
          <a:prstGeom prst="ellipse">
            <a:avLst/>
          </a:prstGeom>
          <a:solidFill>
            <a:srgbClr val="2F7BE0"/>
          </a:solidFill>
          <a:ln>
            <a:noFill/>
          </a:ln>
          <a:effectLst/>
        </p:spPr>
        <p:txBody>
          <a:bodyPr rtlCol="0" anchor="ctr"/>
          <a:lstStyle/>
          <a:p/>
        </p:txBody>
      </p:sp>
      <p:sp>
        <p:nvSpPr>
          <p:cNvPr id="6" name="Oval 5"/>
          <p:cNvSpPr/>
          <p:nvPr/>
        </p:nvSpPr>
        <p:spPr>
          <a:xfrm>
            <a:off x="609585" y="6557799"/>
            <a:ext cx="431789" cy="300030"/>
          </a:xfrm>
          <a:prstGeom prst="ellipse">
            <a:avLst/>
          </a:prstGeom>
          <a:solidFill>
            <a:srgbClr val="EE6C3A"/>
          </a:solidFill>
          <a:ln>
            <a:noFill/>
          </a:ln>
          <a:effectLst/>
        </p:spPr>
        <p:txBody>
          <a:bodyPr rtlCol="0" anchor="ctr"/>
          <a:lstStyle/>
          <a:p/>
        </p:txBody>
      </p:sp>
      <p:pic>
        <p:nvPicPr>
          <p:cNvPr id="7" name="Picture 6" descr="vis_1788251_08_00.png"/>
          <p:cNvPicPr>
            <a:picLocks noChangeAspect="1"/>
          </p:cNvPicPr>
          <p:nvPr/>
        </p:nvPicPr>
        <p:blipFill>
          <a:blip r:embed="rId2"/>
          <a:stretch>
            <a:fillRect/>
          </a:stretch>
        </p:blipFill>
        <p:spPr>
          <a:xfrm>
            <a:off x="711182" y="2573273"/>
            <a:ext cx="228594" cy="228594"/>
          </a:xfrm>
          <a:prstGeom prst="rect">
            <a:avLst/>
          </a:prstGeom>
          <a:effectLst/>
        </p:spPr>
      </p:pic>
      <p:pic>
        <p:nvPicPr>
          <p:cNvPr id="8" name="Picture 7" descr="vis_1788251_13_01.png"/>
          <p:cNvPicPr>
            <a:picLocks noChangeAspect="1"/>
          </p:cNvPicPr>
          <p:nvPr/>
        </p:nvPicPr>
        <p:blipFill>
          <a:blip r:embed="rId3"/>
          <a:stretch>
            <a:fillRect/>
          </a:stretch>
        </p:blipFill>
        <p:spPr>
          <a:xfrm>
            <a:off x="711182" y="3874991"/>
            <a:ext cx="228594" cy="228594"/>
          </a:xfrm>
          <a:prstGeom prst="rect">
            <a:avLst/>
          </a:prstGeom>
          <a:effectLst/>
        </p:spPr>
      </p:pic>
      <p:pic>
        <p:nvPicPr>
          <p:cNvPr id="9" name="Picture 8" descr="vis_1788251_13_02.png"/>
          <p:cNvPicPr>
            <a:picLocks noChangeAspect="1"/>
          </p:cNvPicPr>
          <p:nvPr/>
        </p:nvPicPr>
        <p:blipFill>
          <a:blip r:embed="rId4"/>
          <a:stretch>
            <a:fillRect/>
          </a:stretch>
        </p:blipFill>
        <p:spPr>
          <a:xfrm>
            <a:off x="711182" y="5176708"/>
            <a:ext cx="228594" cy="228594"/>
          </a:xfrm>
          <a:prstGeom prst="rect">
            <a:avLst/>
          </a:prstGeom>
          <a:effectLst/>
        </p:spPr>
      </p:pic>
      <p:pic>
        <p:nvPicPr>
          <p:cNvPr id="10" name="Picture 9" descr="vis_1788251_13_03.png"/>
          <p:cNvPicPr>
            <a:picLocks noChangeAspect="1"/>
          </p:cNvPicPr>
          <p:nvPr/>
        </p:nvPicPr>
        <p:blipFill>
          <a:blip r:embed="rId5"/>
          <a:stretch>
            <a:fillRect/>
          </a:stretch>
        </p:blipFill>
        <p:spPr>
          <a:xfrm>
            <a:off x="711182" y="6659396"/>
            <a:ext cx="228594" cy="198433"/>
          </a:xfrm>
          <a:prstGeom prst="rect">
            <a:avLst/>
          </a:prstGeom>
          <a:effectLst/>
        </p:spPr>
      </p:pic>
      <p:sp>
        <p:nvSpPr>
          <p:cNvPr id="11" name="TextBox 10"/>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Daromadlar va iste'mol: Aholi xarid qobiliyatining o'zgarishi</a:t>
            </a:r>
          </a:p>
        </p:txBody>
      </p:sp>
      <p:sp>
        <p:nvSpPr>
          <p:cNvPr id="12" name="TextBox 11"/>
          <p:cNvSpPr txBox="1"/>
          <p:nvPr/>
        </p:nvSpPr>
        <p:spPr>
          <a:xfrm>
            <a:off x="1231869" y="2144659"/>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Xarid qobiliyati. Aholi daromadlarining tovar va xizmatlarni sotib olish imkoniyatini belgilaydi.</a:t>
            </a:r>
          </a:p>
        </p:txBody>
      </p:sp>
      <p:sp>
        <p:nvSpPr>
          <p:cNvPr id="13" name="TextBox 12"/>
          <p:cNvSpPr txBox="1"/>
          <p:nvPr/>
        </p:nvSpPr>
        <p:spPr>
          <a:xfrm>
            <a:off x="1231869" y="3446376"/>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Iste'mol savatchasi. Aholining asosiy ehtiyojlarini qondirish uchun zarur bo'lgan tovar va xizmatlar majmuasi.</a:t>
            </a:r>
          </a:p>
        </p:txBody>
      </p:sp>
      <p:sp>
        <p:nvSpPr>
          <p:cNvPr id="14" name="TextBox 13"/>
          <p:cNvSpPr txBox="1"/>
          <p:nvPr/>
        </p:nvSpPr>
        <p:spPr>
          <a:xfrm>
            <a:off x="1231869" y="4748094"/>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Inflyatsiya ta'siri. Narxlar o'sishi xarid qobiliyatini pasaytirib, real daromadlarning qadrsizlanishiga olib keladi.</a:t>
            </a:r>
          </a:p>
        </p:txBody>
      </p:sp>
      <p:sp>
        <p:nvSpPr>
          <p:cNvPr id="15" name="TextBox 14"/>
          <p:cNvSpPr txBox="1"/>
          <p:nvPr/>
        </p:nvSpPr>
        <p:spPr>
          <a:xfrm>
            <a:off x="1231869" y="6049811"/>
            <a:ext cx="4673483" cy="808017"/>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Iste'mol strukturasidagi o'zgarishlar. Daromadlar oshishi bilan aholi oziq-ovqatdan ko'ra, nooziq-ovqat mahsulotlari va xizmatlarga ko'proq pul sarflaydi.</a:t>
            </a:r>
          </a:p>
        </p:txBody>
      </p:sp>
      <p:sp>
        <p:nvSpPr>
          <p:cNvPr id="16" name="TextBox 15"/>
          <p:cNvSpPr txBox="1"/>
          <p:nvPr/>
        </p:nvSpPr>
        <p:spPr>
          <a:xfrm>
            <a:off x="6299043" y="4211532"/>
            <a:ext cx="5295768" cy="1219170"/>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6C8478"/>
                </a:solidFill>
                <a:latin typeface="Arial"/>
              </a:rPr>
              <a:t>Diagramma O'zbekistonda real daromadlar va iste'mol xarajatlarining 2022-2026 yillardagi o'sish dinamikasini ko'rsatadi. Real daromadlar o'sishi aholining xarid qobiliyatini oshirib, iste'mol xarajatlarining ham ko'payishiga olib keladi.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005756"/>
            <a:ext cx="5359266" cy="3943251"/>
          </a:xfrm>
          <a:prstGeom prst="roundRect">
            <a:avLst>
              <a:gd name="adj" fmla="val 2898"/>
            </a:avLst>
          </a:prstGeom>
          <a:solidFill>
            <a:srgbClr val="E2F0EA"/>
          </a:solidFill>
          <a:ln>
            <a:noFill/>
          </a:ln>
          <a:effectLst/>
        </p:spPr>
        <p:txBody>
          <a:bodyPr rtlCol="0" anchor="ctr"/>
          <a:lstStyle/>
          <a:p/>
        </p:txBody>
      </p:sp>
      <p:sp>
        <p:nvSpPr>
          <p:cNvPr id="4" name="Rectangle 3"/>
          <p:cNvSpPr/>
          <p:nvPr/>
        </p:nvSpPr>
        <p:spPr>
          <a:xfrm>
            <a:off x="609585" y="5898209"/>
            <a:ext cx="5359266" cy="50799"/>
          </a:xfrm>
          <a:prstGeom prst="rect">
            <a:avLst/>
          </a:prstGeom>
          <a:solidFill>
            <a:srgbClr val="1E8E5A"/>
          </a:solidFill>
          <a:ln>
            <a:noFill/>
          </a:ln>
          <a:effectLst/>
        </p:spPr>
        <p:txBody>
          <a:bodyPr rtlCol="0" anchor="ctr"/>
          <a:lstStyle/>
          <a:p/>
        </p:txBody>
      </p:sp>
      <p:sp>
        <p:nvSpPr>
          <p:cNvPr id="5" name="Oval 4"/>
          <p:cNvSpPr/>
          <p:nvPr/>
        </p:nvSpPr>
        <p:spPr>
          <a:xfrm>
            <a:off x="2959026" y="1675564"/>
            <a:ext cx="660383" cy="660383"/>
          </a:xfrm>
          <a:prstGeom prst="ellipse">
            <a:avLst/>
          </a:prstGeom>
          <a:solidFill>
            <a:srgbClr val="1E8E5A"/>
          </a:solidFill>
          <a:ln>
            <a:noFill/>
          </a:ln>
          <a:effectLst/>
        </p:spPr>
        <p:txBody>
          <a:bodyPr rtlCol="0" anchor="ctr"/>
          <a:lstStyle/>
          <a:p/>
        </p:txBody>
      </p:sp>
      <p:sp>
        <p:nvSpPr>
          <p:cNvPr id="6" name="Oval 5"/>
          <p:cNvSpPr/>
          <p:nvPr/>
        </p:nvSpPr>
        <p:spPr>
          <a:xfrm>
            <a:off x="888978" y="3377322"/>
            <a:ext cx="101597" cy="101597"/>
          </a:xfrm>
          <a:prstGeom prst="ellipse">
            <a:avLst/>
          </a:prstGeom>
          <a:solidFill>
            <a:srgbClr val="1E8E5A"/>
          </a:solidFill>
          <a:ln>
            <a:noFill/>
          </a:ln>
          <a:effectLst/>
        </p:spPr>
        <p:txBody>
          <a:bodyPr rtlCol="0" anchor="ctr"/>
          <a:lstStyle/>
          <a:p/>
        </p:txBody>
      </p:sp>
      <p:sp>
        <p:nvSpPr>
          <p:cNvPr id="7" name="Oval 6"/>
          <p:cNvSpPr/>
          <p:nvPr/>
        </p:nvSpPr>
        <p:spPr>
          <a:xfrm>
            <a:off x="888978" y="4679039"/>
            <a:ext cx="101597" cy="101597"/>
          </a:xfrm>
          <a:prstGeom prst="ellipse">
            <a:avLst/>
          </a:prstGeom>
          <a:solidFill>
            <a:srgbClr val="1E8E5A"/>
          </a:solidFill>
          <a:ln>
            <a:noFill/>
          </a:ln>
          <a:effectLst/>
        </p:spPr>
        <p:txBody>
          <a:bodyPr rtlCol="0" anchor="ctr"/>
          <a:lstStyle/>
          <a:p/>
        </p:txBody>
      </p:sp>
      <p:sp>
        <p:nvSpPr>
          <p:cNvPr id="8" name="Rounded Rectangle 7"/>
          <p:cNvSpPr/>
          <p:nvPr/>
        </p:nvSpPr>
        <p:spPr>
          <a:xfrm>
            <a:off x="6222844" y="2005756"/>
            <a:ext cx="5359266" cy="3943251"/>
          </a:xfrm>
          <a:prstGeom prst="roundRect">
            <a:avLst>
              <a:gd name="adj" fmla="val 2898"/>
            </a:avLst>
          </a:prstGeom>
          <a:solidFill>
            <a:srgbClr val="0F2E22"/>
          </a:solidFill>
          <a:ln>
            <a:noFill/>
          </a:ln>
          <a:effectLst/>
        </p:spPr>
        <p:txBody>
          <a:bodyPr rtlCol="0" anchor="ctr"/>
          <a:lstStyle/>
          <a:p/>
        </p:txBody>
      </p:sp>
      <p:sp>
        <p:nvSpPr>
          <p:cNvPr id="9" name="Rectangle 8"/>
          <p:cNvSpPr/>
          <p:nvPr/>
        </p:nvSpPr>
        <p:spPr>
          <a:xfrm>
            <a:off x="6222844" y="5898209"/>
            <a:ext cx="5359266" cy="50799"/>
          </a:xfrm>
          <a:prstGeom prst="rect">
            <a:avLst/>
          </a:prstGeom>
          <a:solidFill>
            <a:srgbClr val="E8A33D"/>
          </a:solidFill>
          <a:ln>
            <a:noFill/>
          </a:ln>
          <a:effectLst/>
        </p:spPr>
        <p:txBody>
          <a:bodyPr rtlCol="0" anchor="ctr"/>
          <a:lstStyle/>
          <a:p/>
        </p:txBody>
      </p:sp>
      <p:sp>
        <p:nvSpPr>
          <p:cNvPr id="10" name="Oval 9"/>
          <p:cNvSpPr/>
          <p:nvPr/>
        </p:nvSpPr>
        <p:spPr>
          <a:xfrm>
            <a:off x="8572286" y="1675564"/>
            <a:ext cx="660383" cy="660383"/>
          </a:xfrm>
          <a:prstGeom prst="ellipse">
            <a:avLst/>
          </a:prstGeom>
          <a:solidFill>
            <a:srgbClr val="E8A33D"/>
          </a:solidFill>
          <a:ln>
            <a:noFill/>
          </a:ln>
          <a:effectLst/>
        </p:spPr>
        <p:txBody>
          <a:bodyPr rtlCol="0" anchor="ctr"/>
          <a:lstStyle/>
          <a:p/>
        </p:txBody>
      </p:sp>
      <p:sp>
        <p:nvSpPr>
          <p:cNvPr id="11" name="Oval 10"/>
          <p:cNvSpPr/>
          <p:nvPr/>
        </p:nvSpPr>
        <p:spPr>
          <a:xfrm>
            <a:off x="6502237" y="3377322"/>
            <a:ext cx="101597" cy="101597"/>
          </a:xfrm>
          <a:prstGeom prst="ellipse">
            <a:avLst/>
          </a:prstGeom>
          <a:solidFill>
            <a:srgbClr val="1E8E5A"/>
          </a:solidFill>
          <a:ln>
            <a:noFill/>
          </a:ln>
          <a:effectLst/>
        </p:spPr>
        <p:txBody>
          <a:bodyPr rtlCol="0" anchor="ctr"/>
          <a:lstStyle/>
          <a:p/>
        </p:txBody>
      </p:sp>
      <p:sp>
        <p:nvSpPr>
          <p:cNvPr id="12" name="Oval 11"/>
          <p:cNvSpPr/>
          <p:nvPr/>
        </p:nvSpPr>
        <p:spPr>
          <a:xfrm>
            <a:off x="6502237" y="4679039"/>
            <a:ext cx="101597" cy="101597"/>
          </a:xfrm>
          <a:prstGeom prst="ellipse">
            <a:avLst/>
          </a:prstGeom>
          <a:solidFill>
            <a:srgbClr val="1E8E5A"/>
          </a:solidFill>
          <a:ln>
            <a:noFill/>
          </a:ln>
          <a:effectLst/>
        </p:spPr>
        <p:txBody>
          <a:bodyPr rtlCol="0" anchor="ctr"/>
          <a:lstStyle/>
          <a:p/>
        </p:txBody>
      </p:sp>
      <p:sp>
        <p:nvSpPr>
          <p:cNvPr id="13" name="Oval 12"/>
          <p:cNvSpPr/>
          <p:nvPr/>
        </p:nvSpPr>
        <p:spPr>
          <a:xfrm>
            <a:off x="2959026" y="6279199"/>
            <a:ext cx="660383" cy="578629"/>
          </a:xfrm>
          <a:prstGeom prst="ellipse">
            <a:avLst/>
          </a:prstGeom>
          <a:solidFill>
            <a:srgbClr val="1E8E5A"/>
          </a:solidFill>
          <a:ln>
            <a:noFill/>
          </a:ln>
          <a:effectLst/>
        </p:spPr>
        <p:txBody>
          <a:bodyPr rtlCol="0" anchor="ctr"/>
          <a:lstStyle/>
          <a:p/>
        </p:txBody>
      </p:sp>
      <p:sp>
        <p:nvSpPr>
          <p:cNvPr id="14" name="Oval 13"/>
          <p:cNvSpPr/>
          <p:nvPr/>
        </p:nvSpPr>
        <p:spPr>
          <a:xfrm>
            <a:off x="8572286" y="6279199"/>
            <a:ext cx="660383" cy="578629"/>
          </a:xfrm>
          <a:prstGeom prst="ellipse">
            <a:avLst/>
          </a:prstGeom>
          <a:solidFill>
            <a:srgbClr val="E8A33D"/>
          </a:solidFill>
          <a:ln>
            <a:noFill/>
          </a:ln>
          <a:effectLst/>
        </p:spPr>
        <p:txBody>
          <a:bodyPr rtlCol="0" anchor="ctr"/>
          <a:lstStyle/>
          <a:p/>
        </p:txBody>
      </p:sp>
      <p:pic>
        <p:nvPicPr>
          <p:cNvPr id="15" name="Picture 14" descr="vis_1788251_14_00.png"/>
          <p:cNvPicPr>
            <a:picLocks noChangeAspect="1"/>
          </p:cNvPicPr>
          <p:nvPr/>
        </p:nvPicPr>
        <p:blipFill>
          <a:blip r:embed="rId2"/>
          <a:stretch>
            <a:fillRect/>
          </a:stretch>
        </p:blipFill>
        <p:spPr>
          <a:xfrm>
            <a:off x="3117772" y="1834310"/>
            <a:ext cx="342891" cy="342891"/>
          </a:xfrm>
          <a:prstGeom prst="rect">
            <a:avLst/>
          </a:prstGeom>
          <a:effectLst/>
        </p:spPr>
      </p:pic>
      <p:pic>
        <p:nvPicPr>
          <p:cNvPr id="16" name="Picture 15" descr="vis_1788251_14_01.png"/>
          <p:cNvPicPr>
            <a:picLocks noChangeAspect="1"/>
          </p:cNvPicPr>
          <p:nvPr/>
        </p:nvPicPr>
        <p:blipFill>
          <a:blip r:embed="rId3"/>
          <a:stretch>
            <a:fillRect/>
          </a:stretch>
        </p:blipFill>
        <p:spPr>
          <a:xfrm>
            <a:off x="8731032" y="1834310"/>
            <a:ext cx="342891" cy="342891"/>
          </a:xfrm>
          <a:prstGeom prst="rect">
            <a:avLst/>
          </a:prstGeom>
          <a:effectLst/>
        </p:spPr>
      </p:pic>
      <p:pic>
        <p:nvPicPr>
          <p:cNvPr id="17" name="Picture 16" descr="vis_1788251_14_02.png"/>
          <p:cNvPicPr>
            <a:picLocks noChangeAspect="1"/>
          </p:cNvPicPr>
          <p:nvPr/>
        </p:nvPicPr>
        <p:blipFill>
          <a:blip r:embed="rId4"/>
          <a:stretch>
            <a:fillRect/>
          </a:stretch>
        </p:blipFill>
        <p:spPr>
          <a:xfrm>
            <a:off x="3117772" y="6437945"/>
            <a:ext cx="342891" cy="342891"/>
          </a:xfrm>
          <a:prstGeom prst="rect">
            <a:avLst/>
          </a:prstGeom>
          <a:effectLst/>
        </p:spPr>
      </p:pic>
      <p:pic>
        <p:nvPicPr>
          <p:cNvPr id="18" name="Picture 17" descr="vis_1788251_14_03.png"/>
          <p:cNvPicPr>
            <a:picLocks noChangeAspect="1"/>
          </p:cNvPicPr>
          <p:nvPr/>
        </p:nvPicPr>
        <p:blipFill>
          <a:blip r:embed="rId5"/>
          <a:stretch>
            <a:fillRect/>
          </a:stretch>
        </p:blipFill>
        <p:spPr>
          <a:xfrm>
            <a:off x="8731032" y="6437945"/>
            <a:ext cx="342891" cy="342891"/>
          </a:xfrm>
          <a:prstGeom prst="rect">
            <a:avLst/>
          </a:prstGeom>
          <a:effectLst/>
        </p:spPr>
      </p:pic>
      <p:sp>
        <p:nvSpPr>
          <p:cNvPr id="19" name="TextBox 18"/>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Aholi daromadlarini oshirish bo'yicha xalqaro tajriba</a:t>
            </a:r>
          </a:p>
        </p:txBody>
      </p:sp>
      <p:sp>
        <p:nvSpPr>
          <p:cNvPr id="20" name="TextBox 19"/>
          <p:cNvSpPr txBox="1"/>
          <p:nvPr/>
        </p:nvSpPr>
        <p:spPr>
          <a:xfrm>
            <a:off x="888978" y="2450245"/>
            <a:ext cx="481318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Singapur modeli: Ta'lim va innovatsiya</a:t>
            </a:r>
          </a:p>
        </p:txBody>
      </p:sp>
      <p:sp>
        <p:nvSpPr>
          <p:cNvPr id="21" name="TextBox 20"/>
          <p:cNvSpPr txBox="1"/>
          <p:nvPr/>
        </p:nvSpPr>
        <p:spPr>
          <a:xfrm>
            <a:off x="1142971" y="3231275"/>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Yuqori malakali ishchi kuchi. Ta'limga sarmoya va malaka oshirish orqali yuqori daromadli ishlar yaratish.</a:t>
            </a:r>
          </a:p>
        </p:txBody>
      </p:sp>
      <p:sp>
        <p:nvSpPr>
          <p:cNvPr id="22" name="TextBox 21"/>
          <p:cNvSpPr txBox="1"/>
          <p:nvPr/>
        </p:nvSpPr>
        <p:spPr>
          <a:xfrm>
            <a:off x="1142971" y="4532993"/>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Ilmiy-texnik taraqqiyot. Innovatsion sohalarni rivojlantirish va xorijiy investitsiyalarni jalb qilish.</a:t>
            </a:r>
          </a:p>
        </p:txBody>
      </p:sp>
      <p:sp>
        <p:nvSpPr>
          <p:cNvPr id="23" name="TextBox 22"/>
          <p:cNvSpPr txBox="1"/>
          <p:nvPr/>
        </p:nvSpPr>
        <p:spPr>
          <a:xfrm>
            <a:off x="6502237" y="2450245"/>
            <a:ext cx="481318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FFFFFF"/>
                </a:solidFill>
                <a:latin typeface="Arial"/>
              </a:rPr>
              <a:t>Skandinaviya mamlakatlari: Ijtimoiy davlat</a:t>
            </a:r>
          </a:p>
        </p:txBody>
      </p:sp>
      <p:sp>
        <p:nvSpPr>
          <p:cNvPr id="24" name="TextBox 23"/>
          <p:cNvSpPr txBox="1"/>
          <p:nvPr/>
        </p:nvSpPr>
        <p:spPr>
          <a:xfrm>
            <a:off x="6756231" y="3231275"/>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FFFFFF"/>
                </a:solidFill>
                <a:latin typeface="Arial"/>
              </a:rPr>
              <a:t>Kuchli ijtimoiy himoya. Yuqori soliqlar evaziga keng qamrovli ijtimoiy dasturlar (sog'liq, ta'lim, pensiya) ta'minlanadi.</a:t>
            </a:r>
          </a:p>
        </p:txBody>
      </p:sp>
      <p:sp>
        <p:nvSpPr>
          <p:cNvPr id="25" name="TextBox 24"/>
          <p:cNvSpPr txBox="1"/>
          <p:nvPr/>
        </p:nvSpPr>
        <p:spPr>
          <a:xfrm>
            <a:off x="6756231" y="4532993"/>
            <a:ext cx="4559186"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FFFFFF"/>
                </a:solidFill>
                <a:latin typeface="Arial"/>
              </a:rPr>
              <a:t>Mehnat bozoridagi faol siyosat. Ishsizlik nafaqalari, kasbiy qayta tayyorlash va ishga joylashtirish dasturlari.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471676"/>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3954364"/>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5437052"/>
            <a:ext cx="431789" cy="431789"/>
          </a:xfrm>
          <a:prstGeom prst="ellipse">
            <a:avLst/>
          </a:prstGeom>
          <a:solidFill>
            <a:srgbClr val="2F7BE0"/>
          </a:solidFill>
          <a:ln>
            <a:noFill/>
          </a:ln>
          <a:effectLst/>
        </p:spPr>
        <p:txBody>
          <a:bodyPr rtlCol="0" anchor="ctr"/>
          <a:lstStyle/>
          <a:p/>
        </p:txBody>
      </p:sp>
      <p:pic>
        <p:nvPicPr>
          <p:cNvPr id="6" name="Picture 5" descr="vis_1788251_15_00.png"/>
          <p:cNvPicPr>
            <a:picLocks noChangeAspect="1"/>
          </p:cNvPicPr>
          <p:nvPr/>
        </p:nvPicPr>
        <p:blipFill>
          <a:blip r:embed="rId2"/>
          <a:stretch>
            <a:fillRect/>
          </a:stretch>
        </p:blipFill>
        <p:spPr>
          <a:xfrm>
            <a:off x="711182" y="2573273"/>
            <a:ext cx="228594" cy="228594"/>
          </a:xfrm>
          <a:prstGeom prst="rect">
            <a:avLst/>
          </a:prstGeom>
          <a:effectLst/>
        </p:spPr>
      </p:pic>
      <p:pic>
        <p:nvPicPr>
          <p:cNvPr id="7" name="Picture 6" descr="vis_1788251_15_01.png"/>
          <p:cNvPicPr>
            <a:picLocks noChangeAspect="1"/>
          </p:cNvPicPr>
          <p:nvPr/>
        </p:nvPicPr>
        <p:blipFill>
          <a:blip r:embed="rId3"/>
          <a:stretch>
            <a:fillRect/>
          </a:stretch>
        </p:blipFill>
        <p:spPr>
          <a:xfrm>
            <a:off x="711182" y="4055961"/>
            <a:ext cx="228594" cy="228594"/>
          </a:xfrm>
          <a:prstGeom prst="rect">
            <a:avLst/>
          </a:prstGeom>
          <a:effectLst/>
        </p:spPr>
      </p:pic>
      <p:pic>
        <p:nvPicPr>
          <p:cNvPr id="8" name="Picture 7" descr="vis_1788251_15_02.png"/>
          <p:cNvPicPr>
            <a:picLocks noChangeAspect="1"/>
          </p:cNvPicPr>
          <p:nvPr/>
        </p:nvPicPr>
        <p:blipFill>
          <a:blip r:embed="rId4"/>
          <a:stretch>
            <a:fillRect/>
          </a:stretch>
        </p:blipFill>
        <p:spPr>
          <a:xfrm>
            <a:off x="711182" y="5538649"/>
            <a:ext cx="228594" cy="228594"/>
          </a:xfrm>
          <a:prstGeom prst="rect">
            <a:avLst/>
          </a:prstGeom>
          <a:effectLst/>
        </p:spPr>
      </p:pic>
      <p:sp>
        <p:nvSpPr>
          <p:cNvPr id="9" name="TextBox 8"/>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Kelajakdagi prognozlar: Aholi daromadlarining o'sish sur'atlari (2026-2028)</a:t>
            </a:r>
          </a:p>
        </p:txBody>
      </p:sp>
      <p:sp>
        <p:nvSpPr>
          <p:cNvPr id="10" name="TextBox 9"/>
          <p:cNvSpPr txBox="1"/>
          <p:nvPr/>
        </p:nvSpPr>
        <p:spPr>
          <a:xfrm>
            <a:off x="1231869" y="2144659"/>
            <a:ext cx="5260447"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Barqaror iqtisodiy o'sish. YaIMning barqaror o'sishi aholi daromadlarining asosiy drayveri bo'lib qoladi.</a:t>
            </a:r>
          </a:p>
        </p:txBody>
      </p:sp>
      <p:sp>
        <p:nvSpPr>
          <p:cNvPr id="11" name="TextBox 10"/>
          <p:cNvSpPr txBox="1"/>
          <p:nvPr/>
        </p:nvSpPr>
        <p:spPr>
          <a:xfrm>
            <a:off x="1231869" y="3446376"/>
            <a:ext cx="5260447"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Mehnat unumdorligi oshishi. Yangi texnologiyalar va malakali kadrlar hisobiga mehnat unumdorligining oshishi daromadlar o'sishiga ijobiy ta'sir ko'rsatadi.</a:t>
            </a:r>
          </a:p>
        </p:txBody>
      </p:sp>
      <p:sp>
        <p:nvSpPr>
          <p:cNvPr id="12" name="TextBox 11"/>
          <p:cNvSpPr txBox="1"/>
          <p:nvPr/>
        </p:nvSpPr>
        <p:spPr>
          <a:xfrm>
            <a:off x="1231869" y="5110035"/>
            <a:ext cx="5260447"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Ish haqi oshishi. Iqtisodiyotdagi ijobiy o'zgarishlar real ish haqining o'sishiga olib keladi.</a:t>
            </a:r>
          </a:p>
        </p:txBody>
      </p:sp>
      <p:sp>
        <p:nvSpPr>
          <p:cNvPr id="13" name="TextBox 12"/>
          <p:cNvSpPr txBox="1"/>
          <p:nvPr/>
        </p:nvSpPr>
        <p:spPr>
          <a:xfrm>
            <a:off x="1231869" y="6456201"/>
            <a:ext cx="2603713" cy="266693"/>
          </a:xfrm>
          <a:prstGeom prst="rect">
            <a:avLst/>
          </a:prstGeom>
          <a:noFill/>
        </p:spPr>
        <p:txBody>
          <a:bodyPr wrap="square" lIns="0" rIns="0" tIns="0" bIns="0" anchor="t">
            <a:spAutoFit/>
          </a:bodyPr>
          <a:lstStyle/>
          <a:p>
            <a:pPr algn="l">
              <a:lnSpc>
                <a:spcPts val="2850"/>
              </a:lnSpc>
              <a:spcBef>
                <a:spcPts val="0"/>
              </a:spcBef>
              <a:spcAft>
                <a:spcPts val="0"/>
              </a:spcAft>
            </a:pPr>
            <a:r>
              <a:rPr sz="1900" b="1" i="0">
                <a:solidFill>
                  <a:srgbClr val="0F2E22"/>
                </a:solidFill>
                <a:latin typeface="Arial"/>
              </a:rPr>
              <a:t>Ijtimoiy himoya tizimi.</a:t>
            </a:r>
          </a:p>
        </p:txBody>
      </p:sp>
      <p:sp>
        <p:nvSpPr>
          <p:cNvPr id="14" name="TextBox 13"/>
          <p:cNvSpPr txBox="1"/>
          <p:nvPr/>
        </p:nvSpPr>
        <p:spPr>
          <a:xfrm>
            <a:off x="6886006" y="3906740"/>
            <a:ext cx="4708804" cy="1828754"/>
          </a:xfrm>
          <a:prstGeom prst="rect">
            <a:avLst/>
          </a:prstGeom>
          <a:noFill/>
        </p:spPr>
        <p:txBody>
          <a:bodyPr wrap="square" lIns="0" rIns="0" tIns="0" bIns="0" anchor="t">
            <a:spAutoFit/>
          </a:bodyPr>
          <a:lstStyle/>
          <a:p>
            <a:pPr algn="l">
              <a:lnSpc>
                <a:spcPts val="2400"/>
              </a:lnSpc>
              <a:spcBef>
                <a:spcPts val="0"/>
              </a:spcBef>
              <a:spcAft>
                <a:spcPts val="0"/>
              </a:spcAft>
            </a:pPr>
            <a:r>
              <a:rPr sz="1500" b="0" i="0">
                <a:solidFill>
                  <a:srgbClr val="6C8478"/>
                </a:solidFill>
                <a:latin typeface="Arial"/>
              </a:rPr>
              <a:t>Mazkur diagramma O'zbekistonda aholi real va nominal daromadlarining 2026-2028 yillardagi prognoz qilingan o'sish sur'atlarini aks ettiradi. Real daromadlarning barqaror o'sishi xarid qobiliyatini mustahkamlasa, nominal daromadlar inflyatsiya ta'sirini hisobga olgan holda umumiy o'sishni ko'rsatadi.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500250"/>
            <a:ext cx="3420382" cy="2854651"/>
          </a:xfrm>
          <a:prstGeom prst="roundRect">
            <a:avLst>
              <a:gd name="adj" fmla="val 4003"/>
            </a:avLst>
          </a:prstGeom>
          <a:solidFill>
            <a:srgbClr val="E2F0EA"/>
          </a:solidFill>
          <a:ln>
            <a:noFill/>
          </a:ln>
          <a:effectLst/>
        </p:spPr>
        <p:txBody>
          <a:bodyPr rtlCol="0" anchor="ctr"/>
          <a:lstStyle/>
          <a:p/>
        </p:txBody>
      </p:sp>
      <p:sp>
        <p:nvSpPr>
          <p:cNvPr id="4" name="Rectangle 3"/>
          <p:cNvSpPr/>
          <p:nvPr/>
        </p:nvSpPr>
        <p:spPr>
          <a:xfrm>
            <a:off x="609585" y="5304102"/>
            <a:ext cx="3420382" cy="50799"/>
          </a:xfrm>
          <a:prstGeom prst="rect">
            <a:avLst/>
          </a:prstGeom>
          <a:solidFill>
            <a:srgbClr val="1E8E5A"/>
          </a:solidFill>
          <a:ln>
            <a:noFill/>
          </a:ln>
          <a:effectLst/>
        </p:spPr>
        <p:txBody>
          <a:bodyPr rtlCol="0" anchor="ctr"/>
          <a:lstStyle/>
          <a:p/>
        </p:txBody>
      </p:sp>
      <p:sp>
        <p:nvSpPr>
          <p:cNvPr id="5" name="Oval 4"/>
          <p:cNvSpPr/>
          <p:nvPr/>
        </p:nvSpPr>
        <p:spPr>
          <a:xfrm>
            <a:off x="1989584" y="2170058"/>
            <a:ext cx="660383" cy="660383"/>
          </a:xfrm>
          <a:prstGeom prst="ellipse">
            <a:avLst/>
          </a:prstGeom>
          <a:solidFill>
            <a:srgbClr val="1E8E5A"/>
          </a:solidFill>
          <a:ln>
            <a:noFill/>
          </a:ln>
          <a:effectLst/>
        </p:spPr>
        <p:txBody>
          <a:bodyPr rtlCol="0" anchor="ctr"/>
          <a:lstStyle/>
          <a:p/>
        </p:txBody>
      </p:sp>
      <p:sp>
        <p:nvSpPr>
          <p:cNvPr id="6" name="Rounded Rectangle 5"/>
          <p:cNvSpPr/>
          <p:nvPr/>
        </p:nvSpPr>
        <p:spPr>
          <a:xfrm>
            <a:off x="4385558" y="2500250"/>
            <a:ext cx="3420481" cy="2854651"/>
          </a:xfrm>
          <a:prstGeom prst="roundRect">
            <a:avLst>
              <a:gd name="adj" fmla="val 4003"/>
            </a:avLst>
          </a:prstGeom>
          <a:solidFill>
            <a:srgbClr val="FCF3E6"/>
          </a:solidFill>
          <a:ln>
            <a:noFill/>
          </a:ln>
          <a:effectLst/>
        </p:spPr>
        <p:txBody>
          <a:bodyPr rtlCol="0" anchor="ctr"/>
          <a:lstStyle/>
          <a:p/>
        </p:txBody>
      </p:sp>
      <p:sp>
        <p:nvSpPr>
          <p:cNvPr id="7" name="Rectangle 6"/>
          <p:cNvSpPr/>
          <p:nvPr/>
        </p:nvSpPr>
        <p:spPr>
          <a:xfrm>
            <a:off x="4385558" y="5304102"/>
            <a:ext cx="3420481" cy="50799"/>
          </a:xfrm>
          <a:prstGeom prst="rect">
            <a:avLst/>
          </a:prstGeom>
          <a:solidFill>
            <a:srgbClr val="E8A33D"/>
          </a:solidFill>
          <a:ln>
            <a:noFill/>
          </a:ln>
          <a:effectLst/>
        </p:spPr>
        <p:txBody>
          <a:bodyPr rtlCol="0" anchor="ctr"/>
          <a:lstStyle/>
          <a:p/>
        </p:txBody>
      </p:sp>
      <p:sp>
        <p:nvSpPr>
          <p:cNvPr id="8" name="Oval 7"/>
          <p:cNvSpPr/>
          <p:nvPr/>
        </p:nvSpPr>
        <p:spPr>
          <a:xfrm>
            <a:off x="5765557" y="2170058"/>
            <a:ext cx="660383" cy="660383"/>
          </a:xfrm>
          <a:prstGeom prst="ellipse">
            <a:avLst/>
          </a:prstGeom>
          <a:solidFill>
            <a:srgbClr val="E8A33D"/>
          </a:solidFill>
          <a:ln>
            <a:noFill/>
          </a:ln>
          <a:effectLst/>
        </p:spPr>
        <p:txBody>
          <a:bodyPr rtlCol="0" anchor="ctr"/>
          <a:lstStyle/>
          <a:p/>
        </p:txBody>
      </p:sp>
      <p:sp>
        <p:nvSpPr>
          <p:cNvPr id="9" name="Rounded Rectangle 8"/>
          <p:cNvSpPr/>
          <p:nvPr/>
        </p:nvSpPr>
        <p:spPr>
          <a:xfrm>
            <a:off x="8161630" y="2500250"/>
            <a:ext cx="3420481" cy="2854651"/>
          </a:xfrm>
          <a:prstGeom prst="roundRect">
            <a:avLst>
              <a:gd name="adj" fmla="val 4003"/>
            </a:avLst>
          </a:prstGeom>
          <a:solidFill>
            <a:srgbClr val="E4EEFB"/>
          </a:solidFill>
          <a:ln>
            <a:noFill/>
          </a:ln>
          <a:effectLst/>
        </p:spPr>
        <p:txBody>
          <a:bodyPr rtlCol="0" anchor="ctr"/>
          <a:lstStyle/>
          <a:p/>
        </p:txBody>
      </p:sp>
      <p:sp>
        <p:nvSpPr>
          <p:cNvPr id="10" name="Rectangle 9"/>
          <p:cNvSpPr/>
          <p:nvPr/>
        </p:nvSpPr>
        <p:spPr>
          <a:xfrm>
            <a:off x="8161630" y="5304102"/>
            <a:ext cx="3420481" cy="50799"/>
          </a:xfrm>
          <a:prstGeom prst="rect">
            <a:avLst/>
          </a:prstGeom>
          <a:solidFill>
            <a:srgbClr val="2F7BE0"/>
          </a:solidFill>
          <a:ln>
            <a:noFill/>
          </a:ln>
          <a:effectLst/>
        </p:spPr>
        <p:txBody>
          <a:bodyPr rtlCol="0" anchor="ctr"/>
          <a:lstStyle/>
          <a:p/>
        </p:txBody>
      </p:sp>
      <p:sp>
        <p:nvSpPr>
          <p:cNvPr id="11" name="Oval 10"/>
          <p:cNvSpPr/>
          <p:nvPr/>
        </p:nvSpPr>
        <p:spPr>
          <a:xfrm>
            <a:off x="9541629" y="2170058"/>
            <a:ext cx="660383" cy="660383"/>
          </a:xfrm>
          <a:prstGeom prst="ellipse">
            <a:avLst/>
          </a:prstGeom>
          <a:solidFill>
            <a:srgbClr val="2F7BE0"/>
          </a:solidFill>
          <a:ln>
            <a:noFill/>
          </a:ln>
          <a:effectLst/>
        </p:spPr>
        <p:txBody>
          <a:bodyPr rtlCol="0" anchor="ctr"/>
          <a:lstStyle/>
          <a:p/>
        </p:txBody>
      </p:sp>
      <p:sp>
        <p:nvSpPr>
          <p:cNvPr id="12" name="Oval 11"/>
          <p:cNvSpPr/>
          <p:nvPr/>
        </p:nvSpPr>
        <p:spPr>
          <a:xfrm>
            <a:off x="609585" y="5659693"/>
            <a:ext cx="660383" cy="660383"/>
          </a:xfrm>
          <a:prstGeom prst="ellipse">
            <a:avLst/>
          </a:prstGeom>
          <a:solidFill>
            <a:srgbClr val="1E8E5A"/>
          </a:solidFill>
          <a:ln>
            <a:noFill/>
          </a:ln>
          <a:effectLst/>
        </p:spPr>
        <p:txBody>
          <a:bodyPr rtlCol="0" anchor="ctr"/>
          <a:lstStyle/>
          <a:p/>
        </p:txBody>
      </p:sp>
      <p:sp>
        <p:nvSpPr>
          <p:cNvPr id="13" name="Oval 12"/>
          <p:cNvSpPr/>
          <p:nvPr/>
        </p:nvSpPr>
        <p:spPr>
          <a:xfrm>
            <a:off x="1473163" y="5659693"/>
            <a:ext cx="660383" cy="660383"/>
          </a:xfrm>
          <a:prstGeom prst="ellipse">
            <a:avLst/>
          </a:prstGeom>
          <a:solidFill>
            <a:srgbClr val="E8A33D"/>
          </a:solidFill>
          <a:ln>
            <a:noFill/>
          </a:ln>
          <a:effectLst/>
        </p:spPr>
        <p:txBody>
          <a:bodyPr rtlCol="0" anchor="ctr"/>
          <a:lstStyle/>
          <a:p/>
        </p:txBody>
      </p:sp>
      <p:sp>
        <p:nvSpPr>
          <p:cNvPr id="14" name="Oval 13"/>
          <p:cNvSpPr/>
          <p:nvPr/>
        </p:nvSpPr>
        <p:spPr>
          <a:xfrm>
            <a:off x="2336742" y="5659693"/>
            <a:ext cx="660383" cy="660383"/>
          </a:xfrm>
          <a:prstGeom prst="ellipse">
            <a:avLst/>
          </a:prstGeom>
          <a:solidFill>
            <a:srgbClr val="2F7BE0"/>
          </a:solidFill>
          <a:ln>
            <a:noFill/>
          </a:ln>
          <a:effectLst/>
        </p:spPr>
        <p:txBody>
          <a:bodyPr rtlCol="0" anchor="ctr"/>
          <a:lstStyle/>
          <a:p/>
        </p:txBody>
      </p:sp>
      <p:pic>
        <p:nvPicPr>
          <p:cNvPr id="15" name="Picture 14" descr="vis_1788251_16_00.png"/>
          <p:cNvPicPr>
            <a:picLocks noChangeAspect="1"/>
          </p:cNvPicPr>
          <p:nvPr/>
        </p:nvPicPr>
        <p:blipFill>
          <a:blip r:embed="rId2"/>
          <a:stretch>
            <a:fillRect/>
          </a:stretch>
        </p:blipFill>
        <p:spPr>
          <a:xfrm>
            <a:off x="2148330" y="2328804"/>
            <a:ext cx="342891" cy="342891"/>
          </a:xfrm>
          <a:prstGeom prst="rect">
            <a:avLst/>
          </a:prstGeom>
          <a:effectLst/>
        </p:spPr>
      </p:pic>
      <p:pic>
        <p:nvPicPr>
          <p:cNvPr id="16" name="Picture 15" descr="vis_1788251_16_01.png"/>
          <p:cNvPicPr>
            <a:picLocks noChangeAspect="1"/>
          </p:cNvPicPr>
          <p:nvPr/>
        </p:nvPicPr>
        <p:blipFill>
          <a:blip r:embed="rId3"/>
          <a:stretch>
            <a:fillRect/>
          </a:stretch>
        </p:blipFill>
        <p:spPr>
          <a:xfrm>
            <a:off x="5924303" y="2328804"/>
            <a:ext cx="342891" cy="342891"/>
          </a:xfrm>
          <a:prstGeom prst="rect">
            <a:avLst/>
          </a:prstGeom>
          <a:effectLst/>
        </p:spPr>
      </p:pic>
      <p:pic>
        <p:nvPicPr>
          <p:cNvPr id="17" name="Picture 16" descr="vis_1788251_16_02.png"/>
          <p:cNvPicPr>
            <a:picLocks noChangeAspect="1"/>
          </p:cNvPicPr>
          <p:nvPr/>
        </p:nvPicPr>
        <p:blipFill>
          <a:blip r:embed="rId4"/>
          <a:stretch>
            <a:fillRect/>
          </a:stretch>
        </p:blipFill>
        <p:spPr>
          <a:xfrm>
            <a:off x="9700375" y="2328804"/>
            <a:ext cx="342891" cy="342891"/>
          </a:xfrm>
          <a:prstGeom prst="rect">
            <a:avLst/>
          </a:prstGeom>
          <a:effectLst/>
        </p:spPr>
      </p:pic>
      <p:pic>
        <p:nvPicPr>
          <p:cNvPr id="18" name="Picture 17" descr="vis_1788251_16_03.png"/>
          <p:cNvPicPr>
            <a:picLocks noChangeAspect="1"/>
          </p:cNvPicPr>
          <p:nvPr/>
        </p:nvPicPr>
        <p:blipFill>
          <a:blip r:embed="rId5"/>
          <a:stretch>
            <a:fillRect/>
          </a:stretch>
        </p:blipFill>
        <p:spPr>
          <a:xfrm>
            <a:off x="768331" y="5818439"/>
            <a:ext cx="342891" cy="342891"/>
          </a:xfrm>
          <a:prstGeom prst="rect">
            <a:avLst/>
          </a:prstGeom>
          <a:effectLst/>
        </p:spPr>
      </p:pic>
      <p:pic>
        <p:nvPicPr>
          <p:cNvPr id="19" name="Picture 18" descr="vis_1788251_16_04.png"/>
          <p:cNvPicPr>
            <a:picLocks noChangeAspect="1"/>
          </p:cNvPicPr>
          <p:nvPr/>
        </p:nvPicPr>
        <p:blipFill>
          <a:blip r:embed="rId6"/>
          <a:stretch>
            <a:fillRect/>
          </a:stretch>
        </p:blipFill>
        <p:spPr>
          <a:xfrm>
            <a:off x="1631909" y="5818439"/>
            <a:ext cx="342891" cy="342891"/>
          </a:xfrm>
          <a:prstGeom prst="rect">
            <a:avLst/>
          </a:prstGeom>
          <a:effectLst/>
        </p:spPr>
      </p:pic>
      <p:pic>
        <p:nvPicPr>
          <p:cNvPr id="20" name="Picture 19" descr="vis_1788251_16_05.png"/>
          <p:cNvPicPr>
            <a:picLocks noChangeAspect="1"/>
          </p:cNvPicPr>
          <p:nvPr/>
        </p:nvPicPr>
        <p:blipFill>
          <a:blip r:embed="rId7"/>
          <a:stretch>
            <a:fillRect/>
          </a:stretch>
        </p:blipFill>
        <p:spPr>
          <a:xfrm>
            <a:off x="2495488" y="5818439"/>
            <a:ext cx="342891" cy="342891"/>
          </a:xfrm>
          <a:prstGeom prst="rect">
            <a:avLst/>
          </a:prstGeom>
          <a:effectLst/>
        </p:spPr>
      </p:pic>
      <p:sp>
        <p:nvSpPr>
          <p:cNvPr id="21" name="TextBox 20"/>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Daromadlarni oshirish uchun asosiy strategik yo'nalishlar (2026-2028)</a:t>
            </a:r>
          </a:p>
        </p:txBody>
      </p:sp>
      <p:sp>
        <p:nvSpPr>
          <p:cNvPr id="22" name="TextBox 21"/>
          <p:cNvSpPr txBox="1"/>
          <p:nvPr/>
        </p:nvSpPr>
        <p:spPr>
          <a:xfrm>
            <a:off x="888978" y="2944739"/>
            <a:ext cx="2874295"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Mehnat bozorini rivojlantirish</a:t>
            </a:r>
          </a:p>
        </p:txBody>
      </p:sp>
      <p:sp>
        <p:nvSpPr>
          <p:cNvPr id="23" name="TextBox 22"/>
          <p:cNvSpPr txBox="1"/>
          <p:nvPr/>
        </p:nvSpPr>
        <p:spPr>
          <a:xfrm>
            <a:off x="888978" y="3725769"/>
            <a:ext cx="2874295" cy="1298939"/>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Malakali ishchi kuchini tayyorlash va yangi ish o'rinlarini yaratishga qaratilgan dasturlar.</a:t>
            </a:r>
          </a:p>
        </p:txBody>
      </p:sp>
      <p:sp>
        <p:nvSpPr>
          <p:cNvPr id="24" name="TextBox 23"/>
          <p:cNvSpPr txBox="1"/>
          <p:nvPr/>
        </p:nvSpPr>
        <p:spPr>
          <a:xfrm>
            <a:off x="4029966" y="2500250"/>
            <a:ext cx="368291" cy="2854651"/>
          </a:xfrm>
          <a:prstGeom prst="rect">
            <a:avLst/>
          </a:prstGeom>
          <a:noFill/>
        </p:spPr>
        <p:txBody>
          <a:bodyPr wrap="square" lIns="0" rIns="0" tIns="0" bIns="0" anchor="t">
            <a:spAutoFit/>
          </a:bodyPr>
          <a:lstStyle/>
          <a:p>
            <a:pPr algn="l">
              <a:lnSpc>
                <a:spcPts val="2850"/>
              </a:lnSpc>
              <a:spcBef>
                <a:spcPts val="0"/>
              </a:spcBef>
              <a:spcAft>
                <a:spcPts val="0"/>
              </a:spcAft>
            </a:pPr>
            <a:r>
              <a:rPr sz="1900" b="1" i="0">
                <a:solidFill>
                  <a:srgbClr val="1E8E5A"/>
                </a:solidFill>
                <a:latin typeface="Arial"/>
              </a:rPr>
              <a:t>→</a:t>
            </a:r>
          </a:p>
        </p:txBody>
      </p:sp>
      <p:sp>
        <p:nvSpPr>
          <p:cNvPr id="25" name="TextBox 24"/>
          <p:cNvSpPr txBox="1"/>
          <p:nvPr/>
        </p:nvSpPr>
        <p:spPr>
          <a:xfrm>
            <a:off x="4664951" y="2944739"/>
            <a:ext cx="2874395"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Tadbirkorlikni qo'llab-quvvatlash</a:t>
            </a:r>
          </a:p>
        </p:txBody>
      </p:sp>
      <p:sp>
        <p:nvSpPr>
          <p:cNvPr id="26" name="TextBox 25"/>
          <p:cNvSpPr txBox="1"/>
          <p:nvPr/>
        </p:nvSpPr>
        <p:spPr>
          <a:xfrm>
            <a:off x="4664951" y="3725769"/>
            <a:ext cx="2874395" cy="974205"/>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Kichik va o'rta biznesni rivojlantirish, startaplar uchun imtiyozli sharoitlar yaratish.</a:t>
            </a:r>
          </a:p>
        </p:txBody>
      </p:sp>
      <p:sp>
        <p:nvSpPr>
          <p:cNvPr id="27" name="TextBox 26"/>
          <p:cNvSpPr txBox="1"/>
          <p:nvPr/>
        </p:nvSpPr>
        <p:spPr>
          <a:xfrm>
            <a:off x="7806038" y="2500250"/>
            <a:ext cx="368291" cy="2854651"/>
          </a:xfrm>
          <a:prstGeom prst="rect">
            <a:avLst/>
          </a:prstGeom>
          <a:noFill/>
        </p:spPr>
        <p:txBody>
          <a:bodyPr wrap="square" lIns="0" rIns="0" tIns="0" bIns="0" anchor="t">
            <a:spAutoFit/>
          </a:bodyPr>
          <a:lstStyle/>
          <a:p>
            <a:pPr algn="l">
              <a:lnSpc>
                <a:spcPts val="2850"/>
              </a:lnSpc>
              <a:spcBef>
                <a:spcPts val="0"/>
              </a:spcBef>
              <a:spcAft>
                <a:spcPts val="0"/>
              </a:spcAft>
            </a:pPr>
            <a:r>
              <a:rPr sz="1900" b="1" i="0">
                <a:solidFill>
                  <a:srgbClr val="1E8E5A"/>
                </a:solidFill>
                <a:latin typeface="Arial"/>
              </a:rPr>
              <a:t>→</a:t>
            </a:r>
          </a:p>
        </p:txBody>
      </p:sp>
      <p:sp>
        <p:nvSpPr>
          <p:cNvPr id="28" name="TextBox 27"/>
          <p:cNvSpPr txBox="1"/>
          <p:nvPr/>
        </p:nvSpPr>
        <p:spPr>
          <a:xfrm>
            <a:off x="8441023" y="2944739"/>
            <a:ext cx="2874395"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Ijtimoiy himoyani kuchaytirish</a:t>
            </a:r>
          </a:p>
        </p:txBody>
      </p:sp>
      <p:sp>
        <p:nvSpPr>
          <p:cNvPr id="29" name="TextBox 28"/>
          <p:cNvSpPr txBox="1"/>
          <p:nvPr/>
        </p:nvSpPr>
        <p:spPr>
          <a:xfrm>
            <a:off x="8441023" y="3725769"/>
            <a:ext cx="2874395" cy="974205"/>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Ehtiyojmand oilalarga manzilli yordam ko'rsatish, nafaqa va pensiyalarni indeksatsiyalash.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471676"/>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3954364"/>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5618022"/>
            <a:ext cx="431789" cy="431789"/>
          </a:xfrm>
          <a:prstGeom prst="ellipse">
            <a:avLst/>
          </a:prstGeom>
          <a:solidFill>
            <a:srgbClr val="2F7BE0"/>
          </a:solidFill>
          <a:ln>
            <a:noFill/>
          </a:ln>
          <a:effectLst/>
        </p:spPr>
        <p:txBody>
          <a:bodyPr rtlCol="0" anchor="ctr"/>
          <a:lstStyle/>
          <a:p/>
        </p:txBody>
      </p:sp>
      <p:sp>
        <p:nvSpPr>
          <p:cNvPr id="6" name="Rounded Rectangle 5"/>
          <p:cNvSpPr/>
          <p:nvPr/>
        </p:nvSpPr>
        <p:spPr>
          <a:xfrm>
            <a:off x="6299043" y="2144659"/>
            <a:ext cx="5283068" cy="4413140"/>
          </a:xfrm>
          <a:prstGeom prst="roundRect">
            <a:avLst>
              <a:gd name="adj" fmla="val 2589"/>
            </a:avLst>
          </a:prstGeom>
          <a:gradFill rotWithShape="1">
            <a:gsLst>
              <a:gs pos="0">
                <a:srgbClr val="E4F5EC"/>
              </a:gs>
              <a:gs pos="100000">
                <a:srgbClr val="F3FAF6"/>
              </a:gs>
            </a:gsLst>
            <a:lin scaled="0" ang="17400000"/>
          </a:gradFill>
          <a:ln>
            <a:noFill/>
          </a:ln>
          <a:effectLst/>
        </p:spPr>
        <p:txBody>
          <a:bodyPr rtlCol="0" anchor="ctr"/>
          <a:lstStyle/>
          <a:p/>
        </p:txBody>
      </p:sp>
      <p:sp>
        <p:nvSpPr>
          <p:cNvPr id="7" name="Rectangle 6"/>
          <p:cNvSpPr/>
          <p:nvPr/>
        </p:nvSpPr>
        <p:spPr>
          <a:xfrm>
            <a:off x="6299043" y="2144659"/>
            <a:ext cx="50799" cy="4413140"/>
          </a:xfrm>
          <a:prstGeom prst="rect">
            <a:avLst/>
          </a:prstGeom>
          <a:solidFill>
            <a:srgbClr val="1E8E5A"/>
          </a:solidFill>
          <a:ln>
            <a:noFill/>
          </a:ln>
          <a:effectLst/>
        </p:spPr>
        <p:txBody>
          <a:bodyPr rtlCol="0" anchor="ctr"/>
          <a:lstStyle/>
          <a:p/>
        </p:txBody>
      </p:sp>
      <p:pic>
        <p:nvPicPr>
          <p:cNvPr id="8" name="Picture 7" descr="vis_1788251_17_00.png"/>
          <p:cNvPicPr>
            <a:picLocks noChangeAspect="1"/>
          </p:cNvPicPr>
          <p:nvPr/>
        </p:nvPicPr>
        <p:blipFill>
          <a:blip r:embed="rId2"/>
          <a:stretch>
            <a:fillRect/>
          </a:stretch>
        </p:blipFill>
        <p:spPr>
          <a:xfrm>
            <a:off x="711182" y="2573273"/>
            <a:ext cx="228594" cy="228594"/>
          </a:xfrm>
          <a:prstGeom prst="rect">
            <a:avLst/>
          </a:prstGeom>
          <a:effectLst/>
        </p:spPr>
      </p:pic>
      <p:pic>
        <p:nvPicPr>
          <p:cNvPr id="9" name="Picture 8" descr="vis_1788251_17_01.png"/>
          <p:cNvPicPr>
            <a:picLocks noChangeAspect="1"/>
          </p:cNvPicPr>
          <p:nvPr/>
        </p:nvPicPr>
        <p:blipFill>
          <a:blip r:embed="rId3"/>
          <a:stretch>
            <a:fillRect/>
          </a:stretch>
        </p:blipFill>
        <p:spPr>
          <a:xfrm>
            <a:off x="711182" y="4055961"/>
            <a:ext cx="228594" cy="228594"/>
          </a:xfrm>
          <a:prstGeom prst="rect">
            <a:avLst/>
          </a:prstGeom>
          <a:effectLst/>
        </p:spPr>
      </p:pic>
      <p:pic>
        <p:nvPicPr>
          <p:cNvPr id="10" name="Picture 9" descr="vis_1788251_17_02.png"/>
          <p:cNvPicPr>
            <a:picLocks noChangeAspect="1"/>
          </p:cNvPicPr>
          <p:nvPr/>
        </p:nvPicPr>
        <p:blipFill>
          <a:blip r:embed="rId4"/>
          <a:stretch>
            <a:fillRect/>
          </a:stretch>
        </p:blipFill>
        <p:spPr>
          <a:xfrm>
            <a:off x="711182" y="5719620"/>
            <a:ext cx="228594" cy="228594"/>
          </a:xfrm>
          <a:prstGeom prst="rect">
            <a:avLst/>
          </a:prstGeom>
          <a:effectLst/>
        </p:spPr>
      </p:pic>
      <p:sp>
        <p:nvSpPr>
          <p:cNvPr id="11" name="TextBox 10"/>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Investitsiyalar va innovatsiyalarning daromadlarga ta'siri</a:t>
            </a:r>
          </a:p>
        </p:txBody>
      </p:sp>
      <p:sp>
        <p:nvSpPr>
          <p:cNvPr id="12" name="TextBox 11"/>
          <p:cNvSpPr txBox="1"/>
          <p:nvPr/>
        </p:nvSpPr>
        <p:spPr>
          <a:xfrm>
            <a:off x="1231869" y="2144659"/>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Innovatsiyalarni rag'batlantirish. Yangi texnologiyalar va ishlab chiqarish usullarini joriy etish orqali mahsuldorlikni oshirish.</a:t>
            </a:r>
          </a:p>
        </p:txBody>
      </p:sp>
      <p:sp>
        <p:nvSpPr>
          <p:cNvPr id="13" name="TextBox 12"/>
          <p:cNvSpPr txBox="1"/>
          <p:nvPr/>
        </p:nvSpPr>
        <p:spPr>
          <a:xfrm>
            <a:off x="1231869" y="3446376"/>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To'g'ridan-to'g'ri xorijiy investitsiyalar. Yangi korxonalar ochish, ish o'rinlari yaratish va zamonaviy boshqaruv tajribasini olib kirish.</a:t>
            </a:r>
          </a:p>
        </p:txBody>
      </p:sp>
      <p:sp>
        <p:nvSpPr>
          <p:cNvPr id="14" name="TextBox 13"/>
          <p:cNvSpPr txBox="1"/>
          <p:nvPr/>
        </p:nvSpPr>
        <p:spPr>
          <a:xfrm>
            <a:off x="1231869" y="5110035"/>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Ilm-fan va ta'limga sarmoya. Ilmiy tadqiqotlar va kadrlar tayyorlashga yo'naltirilgan investitsiyalar iqtisodiyot raqobatbardoshligini oshiradi.</a:t>
            </a:r>
          </a:p>
        </p:txBody>
      </p:sp>
      <p:sp>
        <p:nvSpPr>
          <p:cNvPr id="15" name="TextBox 14"/>
          <p:cNvSpPr txBox="1"/>
          <p:nvPr/>
        </p:nvSpPr>
        <p:spPr>
          <a:xfrm>
            <a:off x="6654634" y="3494000"/>
            <a:ext cx="4635384" cy="1714457"/>
          </a:xfrm>
          <a:prstGeom prst="rect">
            <a:avLst/>
          </a:prstGeom>
          <a:noFill/>
        </p:spPr>
        <p:txBody>
          <a:bodyPr wrap="square" lIns="0" rIns="0" tIns="0" bIns="0" anchor="t">
            <a:spAutoFit/>
          </a:bodyPr>
          <a:lstStyle/>
          <a:p>
            <a:pPr algn="l">
              <a:lnSpc>
                <a:spcPts val="2700"/>
              </a:lnSpc>
              <a:spcBef>
                <a:spcPts val="0"/>
              </a:spcBef>
              <a:spcAft>
                <a:spcPts val="0"/>
              </a:spcAft>
            </a:pPr>
            <a:r>
              <a:rPr sz="1800" b="0" i="0">
                <a:solidFill>
                  <a:srgbClr val="234437"/>
                </a:solidFill>
                <a:latin typeface="Arial"/>
              </a:rPr>
              <a:t>Zamonaviy ishlab chiqarish texnologiyalari va avtomatizatsiyaning joriy etilishi mehnat unumdorligini sezilarli darajada oshiradi, bu esa ish haqi va umumiy daromadlarning o'sishiga olib keladi.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750969"/>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5391412"/>
            <a:ext cx="660383" cy="660383"/>
          </a:xfrm>
          <a:prstGeom prst="ellipse">
            <a:avLst/>
          </a:prstGeom>
          <a:solidFill>
            <a:srgbClr val="1E8E5A"/>
          </a:solidFill>
          <a:ln>
            <a:noFill/>
          </a:ln>
          <a:effectLst/>
        </p:spPr>
        <p:txBody>
          <a:bodyPr rtlCol="0" anchor="ctr"/>
          <a:lstStyle/>
          <a:p/>
        </p:txBody>
      </p:sp>
      <p:sp>
        <p:nvSpPr>
          <p:cNvPr id="4" name="Oval 3"/>
          <p:cNvSpPr/>
          <p:nvPr/>
        </p:nvSpPr>
        <p:spPr>
          <a:xfrm>
            <a:off x="1473163" y="5391412"/>
            <a:ext cx="660383" cy="660383"/>
          </a:xfrm>
          <a:prstGeom prst="ellipse">
            <a:avLst/>
          </a:prstGeom>
          <a:solidFill>
            <a:srgbClr val="E8A33D"/>
          </a:solidFill>
          <a:ln>
            <a:noFill/>
          </a:ln>
          <a:effectLst/>
        </p:spPr>
        <p:txBody>
          <a:bodyPr rtlCol="0" anchor="ctr"/>
          <a:lstStyle/>
          <a:p/>
        </p:txBody>
      </p:sp>
      <p:sp>
        <p:nvSpPr>
          <p:cNvPr id="5" name="Oval 4"/>
          <p:cNvSpPr/>
          <p:nvPr/>
        </p:nvSpPr>
        <p:spPr>
          <a:xfrm>
            <a:off x="2336742" y="5391412"/>
            <a:ext cx="660383" cy="660383"/>
          </a:xfrm>
          <a:prstGeom prst="ellipse">
            <a:avLst/>
          </a:prstGeom>
          <a:solidFill>
            <a:srgbClr val="2F7BE0"/>
          </a:solidFill>
          <a:ln>
            <a:noFill/>
          </a:ln>
          <a:effectLst/>
        </p:spPr>
        <p:txBody>
          <a:bodyPr rtlCol="0" anchor="ctr"/>
          <a:lstStyle/>
          <a:p/>
        </p:txBody>
      </p:sp>
      <p:pic>
        <p:nvPicPr>
          <p:cNvPr id="6" name="Picture 5" descr="vis_1788251_18_00.png"/>
          <p:cNvPicPr>
            <a:picLocks noChangeAspect="1"/>
          </p:cNvPicPr>
          <p:nvPr/>
        </p:nvPicPr>
        <p:blipFill>
          <a:blip r:embed="rId2"/>
          <a:stretch>
            <a:fillRect/>
          </a:stretch>
        </p:blipFill>
        <p:spPr>
          <a:xfrm>
            <a:off x="768331" y="5550158"/>
            <a:ext cx="342891" cy="342891"/>
          </a:xfrm>
          <a:prstGeom prst="rect">
            <a:avLst/>
          </a:prstGeom>
          <a:effectLst/>
        </p:spPr>
      </p:pic>
      <p:pic>
        <p:nvPicPr>
          <p:cNvPr id="7" name="Picture 6" descr="vis_1788251_18_01.png"/>
          <p:cNvPicPr>
            <a:picLocks noChangeAspect="1"/>
          </p:cNvPicPr>
          <p:nvPr/>
        </p:nvPicPr>
        <p:blipFill>
          <a:blip r:embed="rId3"/>
          <a:stretch>
            <a:fillRect/>
          </a:stretch>
        </p:blipFill>
        <p:spPr>
          <a:xfrm>
            <a:off x="1631909" y="5550158"/>
            <a:ext cx="342891" cy="342891"/>
          </a:xfrm>
          <a:prstGeom prst="rect">
            <a:avLst/>
          </a:prstGeom>
          <a:effectLst/>
        </p:spPr>
      </p:pic>
      <p:pic>
        <p:nvPicPr>
          <p:cNvPr id="8" name="Picture 7" descr="vis_1788251_18_02.png"/>
          <p:cNvPicPr>
            <a:picLocks noChangeAspect="1"/>
          </p:cNvPicPr>
          <p:nvPr/>
        </p:nvPicPr>
        <p:blipFill>
          <a:blip r:embed="rId4"/>
          <a:stretch>
            <a:fillRect/>
          </a:stretch>
        </p:blipFill>
        <p:spPr>
          <a:xfrm>
            <a:off x="2495488" y="5550158"/>
            <a:ext cx="342891" cy="342891"/>
          </a:xfrm>
          <a:prstGeom prst="rect">
            <a:avLst/>
          </a:prstGeom>
          <a:effectLst/>
        </p:spPr>
      </p:pic>
      <p:sp>
        <p:nvSpPr>
          <p:cNvPr id="9" name="TextBox 8"/>
          <p:cNvSpPr txBox="1"/>
          <p:nvPr/>
        </p:nvSpPr>
        <p:spPr>
          <a:xfrm>
            <a:off x="609585" y="609585"/>
            <a:ext cx="10985225" cy="988988"/>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Barqaror iqtisodiy o'sish va aholi daromadlari o'rtasidagi bog'liqlik</a:t>
            </a:r>
          </a:p>
        </p:txBody>
      </p:sp>
      <p:sp>
        <p:nvSpPr>
          <p:cNvPr id="10" name="TextBox 9"/>
          <p:cNvSpPr txBox="1"/>
          <p:nvPr/>
        </p:nvSpPr>
        <p:spPr>
          <a:xfrm>
            <a:off x="609585" y="2341107"/>
            <a:ext cx="11277318" cy="533387"/>
          </a:xfrm>
          <a:prstGeom prst="rect">
            <a:avLst/>
          </a:prstGeom>
          <a:noFill/>
        </p:spPr>
        <p:txBody>
          <a:bodyPr wrap="square" lIns="0" rIns="0" tIns="0" bIns="0" anchor="t">
            <a:spAutoFit/>
          </a:bodyPr>
          <a:lstStyle/>
          <a:p>
            <a:pPr algn="l">
              <a:lnSpc>
                <a:spcPts val="4200"/>
              </a:lnSpc>
              <a:spcBef>
                <a:spcPts val="0"/>
              </a:spcBef>
              <a:spcAft>
                <a:spcPts val="0"/>
              </a:spcAft>
            </a:pPr>
            <a:r>
              <a:rPr sz="6000" b="0" i="0">
                <a:solidFill>
                  <a:srgbClr val="1E8E5A"/>
                </a:solidFill>
                <a:latin typeface="Times New Roman"/>
              </a:rPr>
              <a:t>“</a:t>
            </a:r>
          </a:p>
        </p:txBody>
      </p:sp>
      <p:sp>
        <p:nvSpPr>
          <p:cNvPr id="11" name="TextBox 10"/>
          <p:cNvSpPr txBox="1"/>
          <p:nvPr/>
        </p:nvSpPr>
        <p:spPr>
          <a:xfrm>
            <a:off x="609585" y="2874494"/>
            <a:ext cx="9537462" cy="1767637"/>
          </a:xfrm>
          <a:prstGeom prst="rect">
            <a:avLst/>
          </a:prstGeom>
          <a:noFill/>
        </p:spPr>
        <p:txBody>
          <a:bodyPr wrap="square" lIns="0" rIns="0" tIns="0" bIns="0" anchor="t">
            <a:spAutoFit/>
          </a:bodyPr>
          <a:lstStyle/>
          <a:p>
            <a:pPr algn="l">
              <a:lnSpc>
                <a:spcPts val="3479"/>
              </a:lnSpc>
              <a:spcBef>
                <a:spcPts val="0"/>
              </a:spcBef>
              <a:spcAft>
                <a:spcPts val="0"/>
              </a:spcAft>
            </a:pPr>
            <a:r>
              <a:rPr sz="2400" b="0" i="1">
                <a:solidFill>
                  <a:srgbClr val="0F2E22"/>
                </a:solidFill>
                <a:latin typeface="Times New Roman"/>
              </a:rPr>
              <a:t>Barqaror iqtisodiy o'sish — bu aholi daromadlari va turmush darajasining uzluksiz yuksalishini ta'minlovchi yagona ishonchli mexanizm. Uning asosida mahsuldorlikni oshirish, innovatsiyalarni joriy etish va inklyuziv rivojlanish yotadi.</a:t>
            </a:r>
          </a:p>
        </p:txBody>
      </p:sp>
      <p:sp>
        <p:nvSpPr>
          <p:cNvPr id="12" name="TextBox 11"/>
          <p:cNvSpPr txBox="1"/>
          <p:nvPr/>
        </p:nvSpPr>
        <p:spPr>
          <a:xfrm>
            <a:off x="609585" y="4819926"/>
            <a:ext cx="11191976" cy="266693"/>
          </a:xfrm>
          <a:prstGeom prst="rect">
            <a:avLst/>
          </a:prstGeom>
          <a:noFill/>
        </p:spPr>
        <p:txBody>
          <a:bodyPr wrap="square" lIns="0" rIns="0" tIns="0" bIns="0" anchor="t">
            <a:spAutoFit/>
          </a:bodyPr>
          <a:lstStyle/>
          <a:p>
            <a:pPr algn="l">
              <a:lnSpc>
                <a:spcPts val="2100"/>
              </a:lnSpc>
              <a:spcBef>
                <a:spcPts val="0"/>
              </a:spcBef>
              <a:spcAft>
                <a:spcPts val="0"/>
              </a:spcAft>
            </a:pPr>
            <a:r>
              <a:rPr sz="1400" b="0" i="0">
                <a:solidFill>
                  <a:srgbClr val="6C8478"/>
                </a:solidFill>
                <a:latin typeface="Arial"/>
              </a:rPr>
              <a:t>— O'zbekiston Respublikasi Iqtisodiyot vazirligi,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Rounded Rectangle 2"/>
          <p:cNvSpPr/>
          <p:nvPr/>
        </p:nvSpPr>
        <p:spPr>
          <a:xfrm>
            <a:off x="609585" y="2005756"/>
            <a:ext cx="3488146" cy="4594011"/>
          </a:xfrm>
          <a:prstGeom prst="roundRect">
            <a:avLst>
              <a:gd name="adj" fmla="val 3276"/>
            </a:avLst>
          </a:prstGeom>
          <a:solidFill>
            <a:srgbClr val="E2F0EA"/>
          </a:solidFill>
          <a:ln>
            <a:noFill/>
          </a:ln>
          <a:effectLst/>
        </p:spPr>
        <p:txBody>
          <a:bodyPr rtlCol="0" anchor="ctr"/>
          <a:lstStyle/>
          <a:p/>
        </p:txBody>
      </p:sp>
      <p:sp>
        <p:nvSpPr>
          <p:cNvPr id="4" name="Rectangle 3"/>
          <p:cNvSpPr/>
          <p:nvPr/>
        </p:nvSpPr>
        <p:spPr>
          <a:xfrm>
            <a:off x="609585" y="6548968"/>
            <a:ext cx="3488146" cy="50799"/>
          </a:xfrm>
          <a:prstGeom prst="rect">
            <a:avLst/>
          </a:prstGeom>
          <a:solidFill>
            <a:srgbClr val="1E8E5A"/>
          </a:solidFill>
          <a:ln>
            <a:noFill/>
          </a:ln>
          <a:effectLst/>
        </p:spPr>
        <p:txBody>
          <a:bodyPr rtlCol="0" anchor="ctr"/>
          <a:lstStyle/>
          <a:p/>
        </p:txBody>
      </p:sp>
      <p:sp>
        <p:nvSpPr>
          <p:cNvPr id="5" name="Oval 4"/>
          <p:cNvSpPr/>
          <p:nvPr/>
        </p:nvSpPr>
        <p:spPr>
          <a:xfrm>
            <a:off x="2023417" y="1675564"/>
            <a:ext cx="660383" cy="660383"/>
          </a:xfrm>
          <a:prstGeom prst="ellipse">
            <a:avLst/>
          </a:prstGeom>
          <a:solidFill>
            <a:srgbClr val="1E8E5A"/>
          </a:solidFill>
          <a:ln>
            <a:noFill/>
          </a:ln>
          <a:effectLst/>
        </p:spPr>
        <p:txBody>
          <a:bodyPr rtlCol="0" anchor="ctr"/>
          <a:lstStyle/>
          <a:p/>
        </p:txBody>
      </p:sp>
      <p:sp>
        <p:nvSpPr>
          <p:cNvPr id="6" name="Rounded Rectangle 5"/>
          <p:cNvSpPr/>
          <p:nvPr/>
        </p:nvSpPr>
        <p:spPr>
          <a:xfrm>
            <a:off x="4351725" y="2005756"/>
            <a:ext cx="3488146" cy="4594011"/>
          </a:xfrm>
          <a:prstGeom prst="roundRect">
            <a:avLst>
              <a:gd name="adj" fmla="val 3276"/>
            </a:avLst>
          </a:prstGeom>
          <a:solidFill>
            <a:srgbClr val="FCF3E6"/>
          </a:solidFill>
          <a:ln>
            <a:noFill/>
          </a:ln>
          <a:effectLst/>
        </p:spPr>
        <p:txBody>
          <a:bodyPr rtlCol="0" anchor="ctr"/>
          <a:lstStyle/>
          <a:p/>
        </p:txBody>
      </p:sp>
      <p:sp>
        <p:nvSpPr>
          <p:cNvPr id="7" name="Rectangle 6"/>
          <p:cNvSpPr/>
          <p:nvPr/>
        </p:nvSpPr>
        <p:spPr>
          <a:xfrm>
            <a:off x="4351725" y="6548968"/>
            <a:ext cx="3488146" cy="50799"/>
          </a:xfrm>
          <a:prstGeom prst="rect">
            <a:avLst/>
          </a:prstGeom>
          <a:solidFill>
            <a:srgbClr val="E8A33D"/>
          </a:solidFill>
          <a:ln>
            <a:noFill/>
          </a:ln>
          <a:effectLst/>
        </p:spPr>
        <p:txBody>
          <a:bodyPr rtlCol="0" anchor="ctr"/>
          <a:lstStyle/>
          <a:p/>
        </p:txBody>
      </p:sp>
      <p:sp>
        <p:nvSpPr>
          <p:cNvPr id="8" name="Oval 7"/>
          <p:cNvSpPr/>
          <p:nvPr/>
        </p:nvSpPr>
        <p:spPr>
          <a:xfrm>
            <a:off x="5765557" y="1675564"/>
            <a:ext cx="660383" cy="660383"/>
          </a:xfrm>
          <a:prstGeom prst="ellipse">
            <a:avLst/>
          </a:prstGeom>
          <a:solidFill>
            <a:srgbClr val="E8A33D"/>
          </a:solidFill>
          <a:ln>
            <a:noFill/>
          </a:ln>
          <a:effectLst/>
        </p:spPr>
        <p:txBody>
          <a:bodyPr rtlCol="0" anchor="ctr"/>
          <a:lstStyle/>
          <a:p/>
        </p:txBody>
      </p:sp>
      <p:sp>
        <p:nvSpPr>
          <p:cNvPr id="9" name="Rounded Rectangle 8"/>
          <p:cNvSpPr/>
          <p:nvPr/>
        </p:nvSpPr>
        <p:spPr>
          <a:xfrm>
            <a:off x="8093865" y="2005756"/>
            <a:ext cx="3488146" cy="4594011"/>
          </a:xfrm>
          <a:prstGeom prst="roundRect">
            <a:avLst>
              <a:gd name="adj" fmla="val 3276"/>
            </a:avLst>
          </a:prstGeom>
          <a:solidFill>
            <a:srgbClr val="E4EEFB"/>
          </a:solidFill>
          <a:ln>
            <a:noFill/>
          </a:ln>
          <a:effectLst/>
        </p:spPr>
        <p:txBody>
          <a:bodyPr rtlCol="0" anchor="ctr"/>
          <a:lstStyle/>
          <a:p/>
        </p:txBody>
      </p:sp>
      <p:sp>
        <p:nvSpPr>
          <p:cNvPr id="10" name="Rectangle 9"/>
          <p:cNvSpPr/>
          <p:nvPr/>
        </p:nvSpPr>
        <p:spPr>
          <a:xfrm>
            <a:off x="8093865" y="6548968"/>
            <a:ext cx="3488146" cy="50799"/>
          </a:xfrm>
          <a:prstGeom prst="rect">
            <a:avLst/>
          </a:prstGeom>
          <a:solidFill>
            <a:srgbClr val="2F7BE0"/>
          </a:solidFill>
          <a:ln>
            <a:noFill/>
          </a:ln>
          <a:effectLst/>
        </p:spPr>
        <p:txBody>
          <a:bodyPr rtlCol="0" anchor="ctr"/>
          <a:lstStyle/>
          <a:p/>
        </p:txBody>
      </p:sp>
      <p:sp>
        <p:nvSpPr>
          <p:cNvPr id="11" name="Oval 10"/>
          <p:cNvSpPr/>
          <p:nvPr/>
        </p:nvSpPr>
        <p:spPr>
          <a:xfrm>
            <a:off x="9507697" y="1675564"/>
            <a:ext cx="660383" cy="660383"/>
          </a:xfrm>
          <a:prstGeom prst="ellipse">
            <a:avLst/>
          </a:prstGeom>
          <a:solidFill>
            <a:srgbClr val="2F7BE0"/>
          </a:solidFill>
          <a:ln>
            <a:noFill/>
          </a:ln>
          <a:effectLst/>
        </p:spPr>
        <p:txBody>
          <a:bodyPr rtlCol="0" anchor="ctr"/>
          <a:lstStyle/>
          <a:p/>
        </p:txBody>
      </p:sp>
      <p:pic>
        <p:nvPicPr>
          <p:cNvPr id="12" name="Picture 11" descr="vis_1788251_19_00.png"/>
          <p:cNvPicPr>
            <a:picLocks noChangeAspect="1"/>
          </p:cNvPicPr>
          <p:nvPr/>
        </p:nvPicPr>
        <p:blipFill>
          <a:blip r:embed="rId2"/>
          <a:stretch>
            <a:fillRect/>
          </a:stretch>
        </p:blipFill>
        <p:spPr>
          <a:xfrm>
            <a:off x="2182163" y="1834310"/>
            <a:ext cx="342891" cy="342891"/>
          </a:xfrm>
          <a:prstGeom prst="rect">
            <a:avLst/>
          </a:prstGeom>
          <a:effectLst/>
        </p:spPr>
      </p:pic>
      <p:pic>
        <p:nvPicPr>
          <p:cNvPr id="13" name="Picture 12" descr="vis_1788251_19_01.png"/>
          <p:cNvPicPr>
            <a:picLocks noChangeAspect="1"/>
          </p:cNvPicPr>
          <p:nvPr/>
        </p:nvPicPr>
        <p:blipFill>
          <a:blip r:embed="rId3"/>
          <a:stretch>
            <a:fillRect/>
          </a:stretch>
        </p:blipFill>
        <p:spPr>
          <a:xfrm>
            <a:off x="5924303" y="1834310"/>
            <a:ext cx="342891" cy="342891"/>
          </a:xfrm>
          <a:prstGeom prst="rect">
            <a:avLst/>
          </a:prstGeom>
          <a:effectLst/>
        </p:spPr>
      </p:pic>
      <p:pic>
        <p:nvPicPr>
          <p:cNvPr id="14" name="Picture 13" descr="vis_1788251_19_02.png"/>
          <p:cNvPicPr>
            <a:picLocks noChangeAspect="1"/>
          </p:cNvPicPr>
          <p:nvPr/>
        </p:nvPicPr>
        <p:blipFill>
          <a:blip r:embed="rId4"/>
          <a:stretch>
            <a:fillRect/>
          </a:stretch>
        </p:blipFill>
        <p:spPr>
          <a:xfrm>
            <a:off x="9666443" y="1834310"/>
            <a:ext cx="342891" cy="342891"/>
          </a:xfrm>
          <a:prstGeom prst="rect">
            <a:avLst/>
          </a:prstGeom>
          <a:effectLst/>
        </p:spPr>
      </p:pic>
      <p:sp>
        <p:nvSpPr>
          <p:cNvPr id="15" name="TextBox 14"/>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Aholi daromadlarini oshirishda har bir fuqaroning roli</a:t>
            </a:r>
          </a:p>
        </p:txBody>
      </p:sp>
      <p:sp>
        <p:nvSpPr>
          <p:cNvPr id="16" name="TextBox 15"/>
          <p:cNvSpPr txBox="1"/>
          <p:nvPr/>
        </p:nvSpPr>
        <p:spPr>
          <a:xfrm>
            <a:off x="88897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01</a:t>
            </a:r>
          </a:p>
        </p:txBody>
      </p:sp>
      <p:sp>
        <p:nvSpPr>
          <p:cNvPr id="17" name="TextBox 16"/>
          <p:cNvSpPr txBox="1"/>
          <p:nvPr/>
        </p:nvSpPr>
        <p:spPr>
          <a:xfrm>
            <a:off x="888978" y="2882034"/>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Bilim va ko'nikmalarni oshirish</a:t>
            </a:r>
          </a:p>
        </p:txBody>
      </p:sp>
      <p:sp>
        <p:nvSpPr>
          <p:cNvPr id="18" name="TextBox 17"/>
          <p:cNvSpPr txBox="1"/>
          <p:nvPr/>
        </p:nvSpPr>
        <p:spPr>
          <a:xfrm>
            <a:off x="888978" y="3663065"/>
            <a:ext cx="2942060" cy="227314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Doimiy ravishda yangi bilim va ko'nikmalarni egallash, kasbiy malakani oshirish mehnat bozoridagi raqobatbardoshlikni kuchaytiradi. Bu yuqori daromadli ishlarga ega bo'lish imkoniyatini yaratadi.</a:t>
            </a:r>
          </a:p>
        </p:txBody>
      </p:sp>
      <p:sp>
        <p:nvSpPr>
          <p:cNvPr id="19" name="TextBox 18"/>
          <p:cNvSpPr txBox="1"/>
          <p:nvPr/>
        </p:nvSpPr>
        <p:spPr>
          <a:xfrm>
            <a:off x="463111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02</a:t>
            </a:r>
          </a:p>
        </p:txBody>
      </p:sp>
      <p:sp>
        <p:nvSpPr>
          <p:cNvPr id="20" name="TextBox 19"/>
          <p:cNvSpPr txBox="1"/>
          <p:nvPr/>
        </p:nvSpPr>
        <p:spPr>
          <a:xfrm>
            <a:off x="4631118" y="2882034"/>
            <a:ext cx="2942060" cy="1000100"/>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Moliyaviy savodxonlikni rivojlantirish</a:t>
            </a:r>
          </a:p>
        </p:txBody>
      </p:sp>
      <p:sp>
        <p:nvSpPr>
          <p:cNvPr id="21" name="TextBox 20"/>
          <p:cNvSpPr txBox="1"/>
          <p:nvPr/>
        </p:nvSpPr>
        <p:spPr>
          <a:xfrm>
            <a:off x="4631118" y="3996431"/>
            <a:ext cx="2942060" cy="2273144"/>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Daromadlarni samarali boshqarish, tejash va investitsiya qilish ko'nikmalarini egallash moliyaviy barqarorlikni ta'minlaydi va kelajakda daromadlarni ko'paytirishga xizmat qiladi.</a:t>
            </a:r>
          </a:p>
        </p:txBody>
      </p:sp>
      <p:sp>
        <p:nvSpPr>
          <p:cNvPr id="22" name="TextBox 21"/>
          <p:cNvSpPr txBox="1"/>
          <p:nvPr/>
        </p:nvSpPr>
        <p:spPr>
          <a:xfrm>
            <a:off x="8373258" y="2450245"/>
            <a:ext cx="3056357" cy="317492"/>
          </a:xfrm>
          <a:prstGeom prst="rect">
            <a:avLst/>
          </a:prstGeom>
          <a:noFill/>
        </p:spPr>
        <p:txBody>
          <a:bodyPr wrap="square" lIns="0" rIns="0" tIns="0" bIns="0" anchor="t">
            <a:spAutoFit/>
          </a:bodyPr>
          <a:lstStyle/>
          <a:p>
            <a:pPr algn="l">
              <a:lnSpc>
                <a:spcPts val="2500"/>
              </a:lnSpc>
              <a:spcBef>
                <a:spcPts val="0"/>
              </a:spcBef>
              <a:spcAft>
                <a:spcPts val="0"/>
              </a:spcAft>
            </a:pPr>
            <a:r>
              <a:rPr sz="2500" b="1" i="0">
                <a:solidFill>
                  <a:srgbClr val="1E8E5A"/>
                </a:solidFill>
                <a:latin typeface="Arial"/>
              </a:rPr>
              <a:t>03</a:t>
            </a:r>
          </a:p>
        </p:txBody>
      </p:sp>
      <p:sp>
        <p:nvSpPr>
          <p:cNvPr id="23" name="TextBox 22"/>
          <p:cNvSpPr txBox="1"/>
          <p:nvPr/>
        </p:nvSpPr>
        <p:spPr>
          <a:xfrm>
            <a:off x="8373258" y="2882034"/>
            <a:ext cx="2942060" cy="666733"/>
          </a:xfrm>
          <a:prstGeom prst="rect">
            <a:avLst/>
          </a:prstGeom>
          <a:noFill/>
        </p:spPr>
        <p:txBody>
          <a:bodyPr wrap="square" lIns="0" rIns="0" tIns="0" bIns="0" anchor="t">
            <a:spAutoFit/>
          </a:bodyPr>
          <a:lstStyle/>
          <a:p>
            <a:pPr algn="l">
              <a:lnSpc>
                <a:spcPts val="2620"/>
              </a:lnSpc>
              <a:spcBef>
                <a:spcPts val="0"/>
              </a:spcBef>
              <a:spcAft>
                <a:spcPts val="0"/>
              </a:spcAft>
            </a:pPr>
            <a:r>
              <a:rPr sz="2100" b="1" i="0">
                <a:solidFill>
                  <a:srgbClr val="0F2E22"/>
                </a:solidFill>
                <a:latin typeface="Arial"/>
              </a:rPr>
              <a:t>Tadbirkorlik tashabbusi</a:t>
            </a:r>
          </a:p>
        </p:txBody>
      </p:sp>
      <p:sp>
        <p:nvSpPr>
          <p:cNvPr id="24" name="TextBox 23"/>
          <p:cNvSpPr txBox="1"/>
          <p:nvPr/>
        </p:nvSpPr>
        <p:spPr>
          <a:xfrm>
            <a:off x="8373258" y="3663065"/>
            <a:ext cx="2942060" cy="2597879"/>
          </a:xfrm>
          <a:prstGeom prst="rect">
            <a:avLst/>
          </a:prstGeom>
          <a:noFill/>
        </p:spPr>
        <p:txBody>
          <a:bodyPr wrap="square" lIns="0" rIns="0" tIns="0" bIns="0" anchor="t">
            <a:spAutoFit/>
          </a:bodyPr>
          <a:lstStyle/>
          <a:p>
            <a:pPr algn="l">
              <a:lnSpc>
                <a:spcPts val="2560"/>
              </a:lnSpc>
              <a:spcBef>
                <a:spcPts val="0"/>
              </a:spcBef>
              <a:spcAft>
                <a:spcPts val="0"/>
              </a:spcAft>
            </a:pPr>
            <a:r>
              <a:rPr sz="1650" b="0" i="0">
                <a:solidFill>
                  <a:srgbClr val="234437"/>
                </a:solidFill>
                <a:latin typeface="Arial"/>
              </a:rPr>
              <a:t>O'z biznesini boshlash va rivojlantirish, yangi g'oyalarni amalga oshirish orqali nafaqat o'z daromadini, balki yangi ish o'rinlari yaratish orqali boshqalarning ham daromadini oshirishga hissa qo'shish mumkin.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585" y="1256475"/>
            <a:ext cx="761981" cy="38099"/>
          </a:xfrm>
          <a:prstGeom prst="rect">
            <a:avLst/>
          </a:prstGeom>
          <a:solidFill>
            <a:srgbClr val="1E8E5A"/>
          </a:solidFill>
          <a:ln>
            <a:noFill/>
          </a:ln>
          <a:effectLst/>
        </p:spPr>
        <p:txBody>
          <a:bodyPr rtlCol="0" anchor="ctr"/>
          <a:lstStyle/>
          <a:p/>
        </p:txBody>
      </p:sp>
      <p:sp>
        <p:nvSpPr>
          <p:cNvPr id="3" name="Oval 2"/>
          <p:cNvSpPr/>
          <p:nvPr/>
        </p:nvSpPr>
        <p:spPr>
          <a:xfrm>
            <a:off x="609585" y="2158152"/>
            <a:ext cx="431789" cy="431789"/>
          </a:xfrm>
          <a:prstGeom prst="ellipse">
            <a:avLst/>
          </a:prstGeom>
          <a:solidFill>
            <a:srgbClr val="1E8E5A"/>
          </a:solidFill>
          <a:ln>
            <a:noFill/>
          </a:ln>
          <a:effectLst/>
        </p:spPr>
        <p:txBody>
          <a:bodyPr rtlCol="0" anchor="ctr"/>
          <a:lstStyle/>
          <a:p/>
        </p:txBody>
      </p:sp>
      <p:sp>
        <p:nvSpPr>
          <p:cNvPr id="4" name="Oval 3"/>
          <p:cNvSpPr/>
          <p:nvPr/>
        </p:nvSpPr>
        <p:spPr>
          <a:xfrm>
            <a:off x="609585" y="3640840"/>
            <a:ext cx="431789" cy="431789"/>
          </a:xfrm>
          <a:prstGeom prst="ellipse">
            <a:avLst/>
          </a:prstGeom>
          <a:solidFill>
            <a:srgbClr val="E8A33D"/>
          </a:solidFill>
          <a:ln>
            <a:noFill/>
          </a:ln>
          <a:effectLst/>
        </p:spPr>
        <p:txBody>
          <a:bodyPr rtlCol="0" anchor="ctr"/>
          <a:lstStyle/>
          <a:p/>
        </p:txBody>
      </p:sp>
      <p:sp>
        <p:nvSpPr>
          <p:cNvPr id="5" name="Oval 4"/>
          <p:cNvSpPr/>
          <p:nvPr/>
        </p:nvSpPr>
        <p:spPr>
          <a:xfrm>
            <a:off x="609585" y="4942558"/>
            <a:ext cx="431789" cy="431789"/>
          </a:xfrm>
          <a:prstGeom prst="ellipse">
            <a:avLst/>
          </a:prstGeom>
          <a:solidFill>
            <a:srgbClr val="2F7BE0"/>
          </a:solidFill>
          <a:ln>
            <a:noFill/>
          </a:ln>
          <a:effectLst/>
        </p:spPr>
        <p:txBody>
          <a:bodyPr rtlCol="0" anchor="ctr"/>
          <a:lstStyle/>
          <a:p/>
        </p:txBody>
      </p:sp>
      <p:sp>
        <p:nvSpPr>
          <p:cNvPr id="6" name="Oval 5"/>
          <p:cNvSpPr/>
          <p:nvPr/>
        </p:nvSpPr>
        <p:spPr>
          <a:xfrm>
            <a:off x="609585" y="6425246"/>
            <a:ext cx="431789" cy="431789"/>
          </a:xfrm>
          <a:prstGeom prst="ellipse">
            <a:avLst/>
          </a:prstGeom>
          <a:solidFill>
            <a:srgbClr val="EE6C3A"/>
          </a:solidFill>
          <a:ln>
            <a:noFill/>
          </a:ln>
          <a:effectLst/>
        </p:spPr>
        <p:txBody>
          <a:bodyPr rtlCol="0" anchor="ctr"/>
          <a:lstStyle/>
          <a:p/>
        </p:txBody>
      </p:sp>
      <p:sp>
        <p:nvSpPr>
          <p:cNvPr id="7" name="Rounded Rectangle 6"/>
          <p:cNvSpPr/>
          <p:nvPr/>
        </p:nvSpPr>
        <p:spPr>
          <a:xfrm>
            <a:off x="6299043" y="1650165"/>
            <a:ext cx="5283068" cy="5207664"/>
          </a:xfrm>
          <a:prstGeom prst="roundRect">
            <a:avLst>
              <a:gd name="adj" fmla="val 2194"/>
            </a:avLst>
          </a:prstGeom>
          <a:gradFill rotWithShape="1">
            <a:gsLst>
              <a:gs pos="0">
                <a:srgbClr val="E4F5EC"/>
              </a:gs>
              <a:gs pos="100000">
                <a:srgbClr val="F3FAF6"/>
              </a:gs>
            </a:gsLst>
            <a:lin scaled="0" ang="17400000"/>
          </a:gradFill>
          <a:ln>
            <a:noFill/>
          </a:ln>
          <a:effectLst/>
        </p:spPr>
        <p:txBody>
          <a:bodyPr rtlCol="0" anchor="ctr"/>
          <a:lstStyle/>
          <a:p/>
        </p:txBody>
      </p:sp>
      <p:sp>
        <p:nvSpPr>
          <p:cNvPr id="8" name="Rectangle 7"/>
          <p:cNvSpPr/>
          <p:nvPr/>
        </p:nvSpPr>
        <p:spPr>
          <a:xfrm>
            <a:off x="6299043" y="1650165"/>
            <a:ext cx="50799" cy="5207664"/>
          </a:xfrm>
          <a:prstGeom prst="rect">
            <a:avLst/>
          </a:prstGeom>
          <a:solidFill>
            <a:srgbClr val="1E8E5A"/>
          </a:solidFill>
          <a:ln>
            <a:noFill/>
          </a:ln>
          <a:effectLst/>
        </p:spPr>
        <p:txBody>
          <a:bodyPr rtlCol="0" anchor="ctr"/>
          <a:lstStyle/>
          <a:p/>
        </p:txBody>
      </p:sp>
      <p:pic>
        <p:nvPicPr>
          <p:cNvPr id="9" name="Picture 8" descr="vis_1788251_06_00.png"/>
          <p:cNvPicPr>
            <a:picLocks noChangeAspect="1"/>
          </p:cNvPicPr>
          <p:nvPr/>
        </p:nvPicPr>
        <p:blipFill>
          <a:blip r:embed="rId2"/>
          <a:stretch>
            <a:fillRect/>
          </a:stretch>
        </p:blipFill>
        <p:spPr>
          <a:xfrm>
            <a:off x="711182" y="2259750"/>
            <a:ext cx="228594" cy="228594"/>
          </a:xfrm>
          <a:prstGeom prst="rect">
            <a:avLst/>
          </a:prstGeom>
          <a:effectLst/>
        </p:spPr>
      </p:pic>
      <p:pic>
        <p:nvPicPr>
          <p:cNvPr id="10" name="Picture 9" descr="vis_1788251_20_01.png"/>
          <p:cNvPicPr>
            <a:picLocks noChangeAspect="1"/>
          </p:cNvPicPr>
          <p:nvPr/>
        </p:nvPicPr>
        <p:blipFill>
          <a:blip r:embed="rId3"/>
          <a:stretch>
            <a:fillRect/>
          </a:stretch>
        </p:blipFill>
        <p:spPr>
          <a:xfrm>
            <a:off x="711182" y="3742438"/>
            <a:ext cx="228594" cy="228594"/>
          </a:xfrm>
          <a:prstGeom prst="rect">
            <a:avLst/>
          </a:prstGeom>
          <a:effectLst/>
        </p:spPr>
      </p:pic>
      <p:pic>
        <p:nvPicPr>
          <p:cNvPr id="11" name="Picture 10" descr="vis_1788251_20_02.png"/>
          <p:cNvPicPr>
            <a:picLocks noChangeAspect="1"/>
          </p:cNvPicPr>
          <p:nvPr/>
        </p:nvPicPr>
        <p:blipFill>
          <a:blip r:embed="rId4"/>
          <a:stretch>
            <a:fillRect/>
          </a:stretch>
        </p:blipFill>
        <p:spPr>
          <a:xfrm>
            <a:off x="711182" y="5044155"/>
            <a:ext cx="228594" cy="228594"/>
          </a:xfrm>
          <a:prstGeom prst="rect">
            <a:avLst/>
          </a:prstGeom>
          <a:effectLst/>
        </p:spPr>
      </p:pic>
      <p:pic>
        <p:nvPicPr>
          <p:cNvPr id="12" name="Picture 11" descr="vis_1788251_20_03.png"/>
          <p:cNvPicPr>
            <a:picLocks noChangeAspect="1"/>
          </p:cNvPicPr>
          <p:nvPr/>
        </p:nvPicPr>
        <p:blipFill>
          <a:blip r:embed="rId5"/>
          <a:stretch>
            <a:fillRect/>
          </a:stretch>
        </p:blipFill>
        <p:spPr>
          <a:xfrm>
            <a:off x="711182" y="6526843"/>
            <a:ext cx="228594" cy="228594"/>
          </a:xfrm>
          <a:prstGeom prst="rect">
            <a:avLst/>
          </a:prstGeom>
          <a:effectLst/>
        </p:spPr>
      </p:pic>
      <p:sp>
        <p:nvSpPr>
          <p:cNvPr id="13" name="TextBox 12"/>
          <p:cNvSpPr txBox="1"/>
          <p:nvPr/>
        </p:nvSpPr>
        <p:spPr>
          <a:xfrm>
            <a:off x="609585" y="609585"/>
            <a:ext cx="11191976" cy="494494"/>
          </a:xfrm>
          <a:prstGeom prst="rect">
            <a:avLst/>
          </a:prstGeom>
          <a:noFill/>
        </p:spPr>
        <p:txBody>
          <a:bodyPr wrap="square" lIns="0" rIns="0" tIns="0" bIns="0" anchor="t">
            <a:spAutoFit/>
          </a:bodyPr>
          <a:lstStyle/>
          <a:p>
            <a:pPr algn="l">
              <a:lnSpc>
                <a:spcPts val="3890"/>
              </a:lnSpc>
              <a:spcBef>
                <a:spcPts val="0"/>
              </a:spcBef>
              <a:spcAft>
                <a:spcPts val="0"/>
              </a:spcAft>
            </a:pPr>
            <a:r>
              <a:rPr sz="3300" b="1" i="0">
                <a:solidFill>
                  <a:srgbClr val="0F2E22"/>
                </a:solidFill>
                <a:latin typeface="Arial"/>
              </a:rPr>
              <a:t>Xulosa: Aholi daromadlarini oshirish - farovonlik garovi</a:t>
            </a:r>
          </a:p>
        </p:txBody>
      </p:sp>
      <p:sp>
        <p:nvSpPr>
          <p:cNvPr id="14" name="TextBox 13"/>
          <p:cNvSpPr txBox="1"/>
          <p:nvPr/>
        </p:nvSpPr>
        <p:spPr>
          <a:xfrm>
            <a:off x="1231869" y="1650165"/>
            <a:ext cx="4673483" cy="1447764"/>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Iqtisodiy barqarorlik. Aholi daromadlarining o'sishi ichki talabni oshiradi, bu esa ishlab chiqarish va xizmat ko'rsatishni rivojlantiradi.</a:t>
            </a:r>
          </a:p>
        </p:txBody>
      </p:sp>
      <p:sp>
        <p:nvSpPr>
          <p:cNvPr id="15" name="TextBox 14"/>
          <p:cNvSpPr txBox="1"/>
          <p:nvPr/>
        </p:nvSpPr>
        <p:spPr>
          <a:xfrm>
            <a:off x="1231869" y="3313823"/>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Hayot sifati. Yuqori daromadlar aholining ta'lim, sog'liqni saqlash, uy-joy ehtiyojlarini qondirish imkoniyatini kengaytiradi.</a:t>
            </a:r>
          </a:p>
        </p:txBody>
      </p:sp>
      <p:sp>
        <p:nvSpPr>
          <p:cNvPr id="16" name="TextBox 15"/>
          <p:cNvSpPr txBox="1"/>
          <p:nvPr/>
        </p:nvSpPr>
        <p:spPr>
          <a:xfrm>
            <a:off x="1231869" y="4615541"/>
            <a:ext cx="4673483" cy="1085823"/>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Ijtimoiy adolat. Daromadlar tengsizligini kamaytirishga qaratilgan siyosatlar jamiyatda ijtimoiy adolatni mustahkamlaydi.</a:t>
            </a:r>
          </a:p>
        </p:txBody>
      </p:sp>
      <p:sp>
        <p:nvSpPr>
          <p:cNvPr id="17" name="TextBox 16"/>
          <p:cNvSpPr txBox="1"/>
          <p:nvPr/>
        </p:nvSpPr>
        <p:spPr>
          <a:xfrm>
            <a:off x="1231869" y="5917258"/>
            <a:ext cx="4673483" cy="940570"/>
          </a:xfrm>
          <a:prstGeom prst="rect">
            <a:avLst/>
          </a:prstGeom>
          <a:noFill/>
        </p:spPr>
        <p:txBody>
          <a:bodyPr wrap="square" lIns="0" rIns="0" tIns="0" bIns="0" anchor="t">
            <a:spAutoFit/>
          </a:bodyPr>
          <a:lstStyle/>
          <a:p>
            <a:pPr algn="l">
              <a:lnSpc>
                <a:spcPts val="2850"/>
              </a:lnSpc>
              <a:spcBef>
                <a:spcPts val="0"/>
              </a:spcBef>
              <a:spcAft>
                <a:spcPts val="0"/>
              </a:spcAft>
            </a:pPr>
            <a:r>
              <a:rPr sz="1900" b="0" i="0">
                <a:solidFill>
                  <a:srgbClr val="234437"/>
                </a:solidFill>
                <a:latin typeface="Arial"/>
              </a:rPr>
              <a:t>Kelajak avlodlar. Barqaror daromadlar oilalarga farzandlarining ta'limi va sog'lig'iga ko'proq sarmoya kiritish imkonini beradi.</a:t>
            </a:r>
          </a:p>
        </p:txBody>
      </p:sp>
      <p:sp>
        <p:nvSpPr>
          <p:cNvPr id="18" name="TextBox 17"/>
          <p:cNvSpPr txBox="1"/>
          <p:nvPr/>
        </p:nvSpPr>
        <p:spPr>
          <a:xfrm>
            <a:off x="6654634" y="3478919"/>
            <a:ext cx="4635384" cy="2057349"/>
          </a:xfrm>
          <a:prstGeom prst="rect">
            <a:avLst/>
          </a:prstGeom>
          <a:noFill/>
        </p:spPr>
        <p:txBody>
          <a:bodyPr wrap="square" lIns="0" rIns="0" tIns="0" bIns="0" anchor="t">
            <a:spAutoFit/>
          </a:bodyPr>
          <a:lstStyle/>
          <a:p>
            <a:pPr algn="l">
              <a:lnSpc>
                <a:spcPts val="2700"/>
              </a:lnSpc>
              <a:spcBef>
                <a:spcPts val="0"/>
              </a:spcBef>
              <a:spcAft>
                <a:spcPts val="0"/>
              </a:spcAft>
            </a:pPr>
            <a:r>
              <a:rPr sz="1800" b="0" i="0">
                <a:solidFill>
                  <a:srgbClr val="234437"/>
                </a:solidFill>
                <a:latin typeface="Arial"/>
              </a:rPr>
              <a:t>Aholi daromadlarining o'sishi oilalarning turmush sharoitini yaxshilaydi, ularga sifatli ta'lim va tibbiy xizmatlardan foydalanish imkoniyatini beradi. Bu esa jamiyatda umumiy farovonlik va barqarorlikni ta'minlashning asosiy omilidir.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