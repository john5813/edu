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0764" y="3484178"/>
            <a:ext cx="1269968" cy="3809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vis_2167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71111" y="2854353"/>
            <a:ext cx="4712872" cy="502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Iqtisodiyot nazariyasi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6569" y="3839769"/>
            <a:ext cx="2701957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F1FE"/>
                </a:solidFill>
                <a:latin typeface="Arial"/>
              </a:rPr>
              <a:t>Asosiy tushunchalar va tamoyillar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8362" y="4106462"/>
            <a:ext cx="1358370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F1FE"/>
                </a:solidFill>
                <a:latin typeface="Arial"/>
              </a:rPr>
              <a:t>2026-yil holatiga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_2167_02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457189"/>
            <a:ext cx="10972526" cy="24405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5943" y="3741446"/>
            <a:ext cx="7683308" cy="97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243F"/>
                </a:solidFill>
                <a:latin typeface="Arial"/>
              </a:rPr>
              <a:t>Iqtisodiyot nazariyasining bugungi kundagi holati va ahamiyati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5943" y="5085032"/>
            <a:ext cx="7683308" cy="1137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7374D"/>
                </a:solidFill>
                <a:latin typeface="Arial"/>
              </a:rPr>
              <a:t>Iqtisodiyot nazariyasi bugungi kunda , va uchun muhim vosita hisoblanadi. U murakkab iqtisodiy hodisalarni tahlil qilish va kelajak tendensiyalarini bashorat qilishga yordam beradi.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9866" y="5123131"/>
            <a:ext cx="1733308" cy="196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Arial"/>
              </a:rPr>
              <a:t>barqaror rivojlanish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2328" y="5123131"/>
            <a:ext cx="7118767" cy="4812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Arial"/>
              </a:rPr>
              <a:t>global iqtisodiy muammolarni tushunish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8354" y="5407584"/>
            <a:ext cx="3027684" cy="196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EB"/>
                </a:solidFill>
                <a:latin typeface="Arial"/>
              </a:rPr>
              <a:t>iqtisodiy siyosatlarni shakllantirish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1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5" y="1377916"/>
            <a:ext cx="3488146" cy="2384365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5" y="1377916"/>
            <a:ext cx="38099" cy="238436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351725" y="1377916"/>
            <a:ext cx="3488146" cy="2384365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351725" y="1377916"/>
            <a:ext cx="38099" cy="238436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093865" y="1377916"/>
            <a:ext cx="3488146" cy="2384365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093865" y="1377916"/>
            <a:ext cx="38099" cy="238436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09585" y="4016275"/>
            <a:ext cx="3488146" cy="2384365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09585" y="4016275"/>
            <a:ext cx="38099" cy="238436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351725" y="4016275"/>
            <a:ext cx="3488146" cy="2384365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51725" y="4016275"/>
            <a:ext cx="38099" cy="2384365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585" y="457189"/>
            <a:ext cx="600060" cy="285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43F"/>
                </a:solidFill>
                <a:latin typeface="Arial"/>
              </a:rPr>
              <a:t>Reja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79" y="1568411"/>
            <a:ext cx="275424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79" y="1879553"/>
            <a:ext cx="3027287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Iqtisodiyot nazariyasining mohiyati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2146246"/>
            <a:ext cx="3132555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Iqtisodiy hodisalar, resurslar taqsimoti va inson xulq-atvorini o'rganish asoslari.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0319" y="1568411"/>
            <a:ext cx="275424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319" y="1879553"/>
            <a:ext cx="1564839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Bozor iqtisodiyoti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0319" y="2146246"/>
            <a:ext cx="3132555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Talab, taklif, narx mexanizmi va raqobatning iqtisodiyotdagi roli.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2459" y="1568411"/>
            <a:ext cx="275424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2459" y="1879553"/>
            <a:ext cx="2612067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Davlatning iqtisodiyotdagi roli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2459" y="2146246"/>
            <a:ext cx="3132555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Iqtisodiy tartibga solish, ijtimoiy himoya va bozor nosozliklarini bartaraf etish.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79" y="4206770"/>
            <a:ext cx="275424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79" y="4517912"/>
            <a:ext cx="2536365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Iqtisodiy o'sish va rivojlanish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79" y="4784605"/>
            <a:ext cx="3132555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O'sish omillari, taraqqiyot ko'rsatkichlari va barqaror rivojlanish strategiyalari.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0319" y="4206770"/>
            <a:ext cx="275424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0319" y="4517912"/>
            <a:ext cx="1584682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Jahon iqtisodiyoti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0319" y="4784605"/>
            <a:ext cx="3132555" cy="380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Globallashuv, xalqaro savdo, investitsiyalar va iqtisodiy integratsiya jarayonlari.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5" y="2095448"/>
            <a:ext cx="3454314" cy="4527437"/>
          </a:xfrm>
          <a:prstGeom prst="roundRect">
            <a:avLst>
              <a:gd name="adj" fmla="val 2941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2324042" y="2298643"/>
            <a:ext cx="25399" cy="203195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368691" y="2095448"/>
            <a:ext cx="3454314" cy="4527437"/>
          </a:xfrm>
          <a:prstGeom prst="roundRect">
            <a:avLst>
              <a:gd name="adj" fmla="val 2941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083148" y="2298643"/>
            <a:ext cx="25399" cy="203195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127797" y="2095448"/>
            <a:ext cx="3454314" cy="4298843"/>
          </a:xfrm>
          <a:prstGeom prst="roundRect">
            <a:avLst>
              <a:gd name="adj" fmla="val 2941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842254" y="2298643"/>
            <a:ext cx="25399" cy="203195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9585" y="457189"/>
            <a:ext cx="11036024" cy="46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243F"/>
                </a:solidFill>
                <a:latin typeface="Arial"/>
              </a:rPr>
              <a:t>Iqtisodiy Tizimlar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5" y="1231869"/>
            <a:ext cx="11036024" cy="177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A90"/>
                </a:solidFill>
                <a:latin typeface="Arial"/>
              </a:rPr>
              <a:t>An'anaviy, buyruqbozlik va bozor iqtisodiyoti o'rtasidagi farqlar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780" y="2578036"/>
            <a:ext cx="3111422" cy="23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43F"/>
                </a:solidFill>
                <a:latin typeface="Arial"/>
              </a:rPr>
              <a:t>An'anaviy Iqtisodiyot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780" y="3117772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Uzoq tarixga ega, ko'pincha qishloq xo'jaligiga asoslangan.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80" y="3828954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Tradisiyalar, urf-odatlar va urug'chilik an'analariga tayanadi.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80" y="4540136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Texnologik taraqqiyot sekin, innovatsiyalar kam.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80" y="5251319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Iqtisodiy qarorlar ko'pincha avloddan-avlodga o'tadigan tajribaga asoslanadi.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80" y="5962501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Asosiy ishlab chiqarish vositalari shaxsiy yoki jamoaviy mulk bo'lishi mumkin.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86" y="2578036"/>
            <a:ext cx="3111422" cy="23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43F"/>
                </a:solidFill>
                <a:latin typeface="Arial"/>
              </a:rPr>
              <a:t>Buyruqbozlik Iqtisodiyoti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886" y="3117772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Markazlashgan rejalashtirish ustun, davlat barcha iqtisodiy qarorlarni qabul qiladi.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886" y="3828954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Asosiy ishlab chiqarish vositalari davlat mulki hisoblanadi.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886" y="4540136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Bozor mexanizmlari (talab, taklif) cheklangan yoki yo'q.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886" y="5251319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Narxlar davlat tomonidan belgilanishi mumkin, mahsulot taqsimoti markazlashgan.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6" y="5962501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Fuqarolar uchun ish haqi va bandlik davlat tomonidan kafolatlanadi.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992" y="2578036"/>
            <a:ext cx="3111422" cy="23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43F"/>
                </a:solidFill>
                <a:latin typeface="Arial"/>
              </a:rPr>
              <a:t>Bozor Iqtisodiyoti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992" y="3117772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Talab va taklif asosida ishlaydi, narxlar erkin shakllanadi.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992" y="3828954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Xususiy mulkchilik va tadbirkorlik erkinligi keng tarqalgan.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992" y="4540136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Raqobat iqtisodiyotning asosiy harakatlantiruvchi kuchi.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992" y="5251319"/>
            <a:ext cx="3111422" cy="4571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Davlat iqtisodiyotga kam aralashadi, asosan huquqiy bazani yaratadi.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992" y="5962501"/>
            <a:ext cx="3111422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Iste'molchilarning tanlash erkinligi yuqori.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09745" y="1866853"/>
            <a:ext cx="457189" cy="457189"/>
          </a:xfrm>
          <a:prstGeom prst="ellipse">
            <a:avLst/>
          </a:prstGeom>
          <a:solidFill>
            <a:srgbClr val="E8F1FE"/>
          </a:solidFill>
          <a:ln w="25400">
            <a:solidFill>
              <a:srgbClr val="1F6F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5867253" y="1866853"/>
            <a:ext cx="457189" cy="457189"/>
          </a:xfrm>
          <a:prstGeom prst="ellipse">
            <a:avLst/>
          </a:prstGeom>
          <a:solidFill>
            <a:srgbClr val="E8F1FE"/>
          </a:solidFill>
          <a:ln w="25400">
            <a:solidFill>
              <a:srgbClr val="1F6F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524762" y="1866853"/>
            <a:ext cx="457189" cy="457189"/>
          </a:xfrm>
          <a:prstGeom prst="ellipse">
            <a:avLst/>
          </a:prstGeom>
          <a:solidFill>
            <a:srgbClr val="E8F1FE"/>
          </a:solidFill>
          <a:ln w="25400">
            <a:solidFill>
              <a:srgbClr val="1F6F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266994" y="2749481"/>
            <a:ext cx="3657409" cy="50799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924503" y="2749481"/>
            <a:ext cx="3657409" cy="50799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vis_2167_0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144" y="1892253"/>
            <a:ext cx="406390" cy="406390"/>
          </a:xfrm>
          <a:prstGeom prst="rect">
            <a:avLst/>
          </a:prstGeom>
        </p:spPr>
      </p:pic>
      <p:pic>
        <p:nvPicPr>
          <p:cNvPr id="8" name="Picture 7" descr="vis_2167_0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653" y="1892253"/>
            <a:ext cx="406390" cy="406390"/>
          </a:xfrm>
          <a:prstGeom prst="rect">
            <a:avLst/>
          </a:prstGeom>
        </p:spPr>
      </p:pic>
      <p:pic>
        <p:nvPicPr>
          <p:cNvPr id="9" name="Picture 8" descr="vis_2167_05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161" y="1892253"/>
            <a:ext cx="406390" cy="4063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36158" y="761981"/>
            <a:ext cx="3382878" cy="46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243F"/>
                </a:solidFill>
                <a:latin typeface="Arial"/>
              </a:rPr>
              <a:t>Bozor Mexanizmi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721" y="2476438"/>
            <a:ext cx="514734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Talab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582" y="2755831"/>
            <a:ext cx="3467013" cy="41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74D"/>
                </a:solidFill>
                <a:latin typeface="Arial"/>
              </a:rPr>
              <a:t>Iste'molchilarning ma'lum bir tovar yoki xizmatni ma'lum bir narxda sotib olish istagi va imkoniyati.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230" y="2476438"/>
            <a:ext cx="514734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Taklif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4090" y="2755831"/>
            <a:ext cx="3467013" cy="41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74D"/>
                </a:solidFill>
                <a:latin typeface="Arial"/>
              </a:rPr>
              <a:t>Ishlab chiqaruvchilarning ma'lum bir tovar yoki xizmatni ma'lum bir narxda sotish istagi va imkoniyati.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2211" y="2476438"/>
            <a:ext cx="1545789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Narx Shakllanishi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1599" y="2755831"/>
            <a:ext cx="3467013" cy="41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74D"/>
                </a:solidFill>
                <a:latin typeface="Arial"/>
              </a:rPr>
              <a:t>Talab va taklifning o'zaro ta'siri natijasida tovar yoki xizmatning muvozanat narxi aniqlanadi.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5" y="4444889"/>
            <a:ext cx="11036024" cy="406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Arial"/>
              </a:rPr>
              <a:t>Bozor mexanizmi doimiy ravishda talab va taklif o'rtasidagi muvozanatni izlaydi. Narxlar o'zgarishi iste'molchilar va ishlab chiqaruvchilarning xatti-harakatlariga ta'sir ko'rsatadi va resurslarning samarali taqsimlanishiga yordam beradi.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1" y="1612860"/>
            <a:ext cx="3352716" cy="3619410"/>
          </a:xfrm>
          <a:prstGeom prst="roundRect">
            <a:avLst>
              <a:gd name="adj" fmla="val 3030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1981" y="1612860"/>
            <a:ext cx="3352716" cy="3809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419490" y="1866853"/>
            <a:ext cx="3352716" cy="3619410"/>
          </a:xfrm>
          <a:prstGeom prst="roundRect">
            <a:avLst>
              <a:gd name="adj" fmla="val 3030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419490" y="1866853"/>
            <a:ext cx="3352716" cy="3809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076998" y="1612860"/>
            <a:ext cx="3352716" cy="3619410"/>
          </a:xfrm>
          <a:prstGeom prst="roundRect">
            <a:avLst>
              <a:gd name="adj" fmla="val 3030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076998" y="1612860"/>
            <a:ext cx="3352716" cy="3809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9585" y="457189"/>
            <a:ext cx="11036024" cy="46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243F"/>
                </a:solidFill>
                <a:latin typeface="Arial"/>
              </a:rPr>
              <a:t>Iqtisodiy O'sish Ko'rsatkichlari (2026-yil holatiga)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2056" y="2619310"/>
            <a:ext cx="1916065" cy="81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4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1F6FEB"/>
                </a:solidFill>
                <a:latin typeface="Arial"/>
              </a:rPr>
              <a:t>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1800" y="3533687"/>
            <a:ext cx="1876577" cy="23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43F"/>
                </a:solidFill>
                <a:latin typeface="Arial"/>
              </a:rPr>
              <a:t>YaIM O'sish Sur'ati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3844829"/>
            <a:ext cx="3111422" cy="41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Arial"/>
              </a:rPr>
              <a:t>Mamlakat iqtisodiyotining yillik o'rtacha o'sish dinamikasini ko'rsatadi.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52" y="2873303"/>
            <a:ext cx="3001491" cy="81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4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1F6FEB"/>
                </a:solidFill>
                <a:latin typeface="Arial"/>
              </a:rPr>
              <a:t>$15,000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129" y="3787680"/>
            <a:ext cx="2362935" cy="23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43F"/>
                </a:solidFill>
                <a:latin typeface="Arial"/>
              </a:rPr>
              <a:t>Aholi Jon Boshiga YaIM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886" y="4098823"/>
            <a:ext cx="3111422" cy="41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Arial"/>
              </a:rPr>
              <a:t>Fuqarolarning o'rtacha daromadi va yashash darajasini baholash imkonini beradi.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5996" y="2619310"/>
            <a:ext cx="1238219" cy="812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4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1F6FEB"/>
                </a:solidFill>
                <a:latin typeface="Arial"/>
              </a:rPr>
              <a:t>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2828" y="3533687"/>
            <a:ext cx="1904556" cy="23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43F"/>
                </a:solidFill>
                <a:latin typeface="Arial"/>
              </a:rPr>
              <a:t>Inflyatsiya Darajasi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394" y="3844829"/>
            <a:ext cx="3111422" cy="41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Arial"/>
              </a:rPr>
              <a:t>Tovar va xizmatlar narxining umumiy o'sish sur'ati, pulning qadrsizlanishini aks ettiradi.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5" y="3363828"/>
            <a:ext cx="3454314" cy="2135928"/>
          </a:xfrm>
          <a:prstGeom prst="roundRect">
            <a:avLst>
              <a:gd name="adj" fmla="val 4756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368691" y="3363828"/>
            <a:ext cx="3454314" cy="2135928"/>
          </a:xfrm>
          <a:prstGeom prst="roundRect">
            <a:avLst>
              <a:gd name="adj" fmla="val 4756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127797" y="3363828"/>
            <a:ext cx="3454314" cy="2135928"/>
          </a:xfrm>
          <a:prstGeom prst="roundRect">
            <a:avLst>
              <a:gd name="adj" fmla="val 4756"/>
            </a:avLst>
          </a:prstGeom>
          <a:solidFill>
            <a:srgbClr val="E8F1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vis_2167_0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47" y="4890171"/>
            <a:ext cx="406390" cy="406390"/>
          </a:xfrm>
          <a:prstGeom prst="rect">
            <a:avLst/>
          </a:prstGeom>
        </p:spPr>
      </p:pic>
      <p:pic>
        <p:nvPicPr>
          <p:cNvPr id="6" name="Picture 5" descr="vis_2167_07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653" y="4890171"/>
            <a:ext cx="406390" cy="406390"/>
          </a:xfrm>
          <a:prstGeom prst="rect">
            <a:avLst/>
          </a:prstGeom>
        </p:spPr>
      </p:pic>
      <p:pic>
        <p:nvPicPr>
          <p:cNvPr id="7" name="Picture 6" descr="vis_2167_07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759" y="4890171"/>
            <a:ext cx="406390" cy="406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585" y="457189"/>
            <a:ext cx="11036024" cy="46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243F"/>
                </a:solidFill>
                <a:latin typeface="Arial"/>
              </a:rPr>
              <a:t>Iqtisodiy rivojlanish omillari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5" y="1783512"/>
            <a:ext cx="11036024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A90"/>
                </a:solidFill>
                <a:latin typeface="Arial"/>
              </a:rPr>
              <a:t>Texnologik taraqqiyot, ta'lim va investitsiyalar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780" y="3567023"/>
            <a:ext cx="2028675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43F"/>
                </a:solidFill>
                <a:latin typeface="Arial"/>
              </a:rPr>
              <a:t>Texnologik taraqqiyot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780" y="3884515"/>
            <a:ext cx="3111422" cy="85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Innovatsiyalar va yangi texnologiyalarni joriy etish samaradorlikni oshiradi, ishlab chiqarishni ko'paytiradi va yangi bozorlarni yaratadi.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6" y="3567023"/>
            <a:ext cx="2127296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43F"/>
                </a:solidFill>
                <a:latin typeface="Arial"/>
              </a:rPr>
              <a:t>Ta'lim va Inson kapitali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886" y="3884515"/>
            <a:ext cx="3111422" cy="85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Sifatli ta'lim va malakali ishchi kuchi iqtisodiyotning barqaror o'sishi uchun zaruriy asosdir. Inson kapitaliga sarmoya kiritish muhimdir.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992" y="3567023"/>
            <a:ext cx="1334260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43F"/>
                </a:solidFill>
                <a:latin typeface="Arial"/>
              </a:rPr>
              <a:t>Investitsiyalar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992" y="3884515"/>
            <a:ext cx="3111422" cy="85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374D"/>
                </a:solidFill>
                <a:latin typeface="Arial"/>
              </a:rPr>
              <a:t>Mahalliy va xorijiy investitsiyalar yangi korxonalar ochish, mavjudlarini modernizatsiya qilish va infrastrukturani rivojlantirishga yordam beradi.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5" y="6254594"/>
            <a:ext cx="11036024" cy="146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Arial"/>
              </a:rPr>
              <a:t>Har bir omil o'zaro bog'liq va iqtisodiy taraqqiyotga birgalikda hissa qo'shadi.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_2167_08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39997" y="2317791"/>
            <a:ext cx="3975100" cy="52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Jahon iqtisodiyoti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0731" y="3201610"/>
            <a:ext cx="5173632" cy="285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FC0FF"/>
                </a:solidFill>
                <a:latin typeface="Arial"/>
              </a:rPr>
              <a:t>Globallashuv va xalqaro savdo dinamikasi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0927" y="3868343"/>
            <a:ext cx="6413340" cy="80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Bugungi kunda jahon iqtisodiyoti globallashuv ta'sirida tobora bir-biriga bog'liq bo'lib bormoqda. Xalqaro savdo va investitsiyalar iqtisodiy o'sishning muhim vositalariga aylangan.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5" y="3751665"/>
            <a:ext cx="10972526" cy="5079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2141087" y="3675467"/>
            <a:ext cx="228594" cy="22859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6F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981550" y="3675467"/>
            <a:ext cx="228594" cy="22859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6F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821915" y="3675467"/>
            <a:ext cx="228594" cy="22859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6F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9585" y="729438"/>
            <a:ext cx="11036024" cy="46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243F"/>
                </a:solidFill>
                <a:latin typeface="Arial"/>
              </a:rPr>
              <a:t>Prognoz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5" y="1357378"/>
            <a:ext cx="11036024" cy="21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Arial"/>
              </a:rPr>
              <a:t>2026-2028-yillarda iqtisodiy o'sishning prognoz qilinayotgan sur'atlari va asosiy tendensiyalar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5873" y="3370674"/>
            <a:ext cx="402520" cy="177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43F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5" y="3878662"/>
            <a:ext cx="3355197" cy="355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Barqaror o'sish sur'ati, texnologik yangilanishlar va investitsiyalar qo'llab-quvvatlanadi.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6337" y="3370674"/>
            <a:ext cx="402520" cy="177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43F"/>
                </a:solidFill>
                <a:latin typeface="Arial"/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48" y="3878662"/>
            <a:ext cx="3355197" cy="355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Innovatsion loyihalarning kengayishi, xalqaro hamkorlikning mustahkamlanishi kutilmoqda.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66701" y="3370674"/>
            <a:ext cx="402520" cy="177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43F"/>
                </a:solidFill>
                <a:latin typeface="Arial"/>
              </a:rP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12" y="3878662"/>
            <a:ext cx="3355197" cy="355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74D"/>
                </a:solidFill>
                <a:latin typeface="Arial"/>
              </a:rPr>
              <a:t>Yuqori texnologiyali tarmoqlarning rivojlanishi, iqtisodiyot raqobatbardoshligining oshishi prognoz qilinadi.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5" y="6254594"/>
            <a:ext cx="11036024" cy="146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Arial"/>
              </a:rPr>
              <a:t>Prognozlar global iqtisodiy vaziyat, texnologik rivojlanish sur'atlari va siyosiy barqarorlikka bog'liq.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46269" y="2115192"/>
            <a:ext cx="1562557" cy="52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0243F"/>
                </a:solidFill>
                <a:latin typeface="Arial"/>
              </a:rPr>
              <a:t>Xulosa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2745" y="3245463"/>
            <a:ext cx="1634588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Kelajak istiqbollari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40" y="3575655"/>
            <a:ext cx="3355197" cy="838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74D"/>
                </a:solidFill>
                <a:latin typeface="Arial"/>
              </a:rPr>
              <a:t>Iqtisodiyot nazariyasi doimiy rivojlanib boradi, yangi global muammolar va texnologik yutuqlarga moslashadi. Zamonaviy talabalar kelajakdagi iqtisodiy o'zgarishlarga tayyor bo'lishi kerak.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1434" y="3245463"/>
            <a:ext cx="1832128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Mamlakat taraqqiyoti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9949" y="3575655"/>
            <a:ext cx="3355197" cy="838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74D"/>
                </a:solidFill>
                <a:latin typeface="Arial"/>
              </a:rPr>
              <a:t>Nazariy bilimlarni amaliyotga tatbiq etish iqtisodiy o'sishni ta'minlaydi, aholi turmush farovonligini oshiradi va global iqtisodiyotda mamlakatning o'rnini mustahkamlaydi.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5626" y="3245463"/>
            <a:ext cx="1498761" cy="20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43F"/>
                </a:solidFill>
                <a:latin typeface="Arial"/>
              </a:rPr>
              <a:t>Doimiy o'rganish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457" y="3575655"/>
            <a:ext cx="3355197" cy="628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7374D"/>
                </a:solidFill>
                <a:latin typeface="Arial"/>
              </a:rPr>
              <a:t>Iqtisodiyot murakkab tizim. Uni tushunish va undan foydalanish uchun doimiy ravishda yangi ma'lumotlar va tahlillarni o'rganish muhimdir.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7188" y="4871023"/>
            <a:ext cx="1820718" cy="177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A90"/>
                </a:solidFill>
                <a:latin typeface="Arial"/>
              </a:rPr>
              <a:t>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