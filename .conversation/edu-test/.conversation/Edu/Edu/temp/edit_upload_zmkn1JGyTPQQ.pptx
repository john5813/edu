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t>Uy xo'jaligi iste'mol xarajatlari tarkibi (O'zbekiston, %)</a:t>
            </a:r>
          </a:p>
        </c:rich>
      </c:tx>
      <c:layout/>
      <c:overlay val="0"/>
    </c:title>
    <c:autoTitleDeleted val="0"/>
    <c:plotArea>
      <c:pieChart>
        <c:varyColors val="1"/>
        <c:ser>
          <c:idx val="0"/>
          <c:order val="0"/>
          <c:tx>
            <c:strRef>
              <c:f>Sheet1!$B$1</c:f>
              <c:strCache>
                <c:ptCount val="1"/>
                <c:pt idx="0">
                  <c:v>Ulush, %</c:v>
                </c:pt>
              </c:strCache>
            </c:strRef>
          </c:tx>
          <c:cat>
            <c:strRef>
              <c:f>Sheet1!$A$2:$A$8</c:f>
              <c:strCache>
                <c:ptCount val="7"/>
                <c:pt idx="0">
                  <c:v>Oziq-ovqat</c:v>
                </c:pt>
                <c:pt idx="1">
                  <c:v>Transport</c:v>
                </c:pt>
                <c:pt idx="2">
                  <c:v>Uy-joy, kommunal</c:v>
                </c:pt>
                <c:pt idx="3">
                  <c:v>Kiyim-kechak</c:v>
                </c:pt>
                <c:pt idx="4">
                  <c:v>Sog'liq</c:v>
                </c:pt>
                <c:pt idx="5">
                  <c:v>Ta'lim</c:v>
                </c:pt>
                <c:pt idx="6">
                  <c:v>Boshqalar</c:v>
                </c:pt>
              </c:strCache>
            </c:strRef>
          </c:cat>
          <c:val>
            <c:numRef>
              <c:f>Sheet1!$B$2:$B$8</c:f>
              <c:numCache>
                <c:formatCode>General</c:formatCode>
                <c:ptCount val="7"/>
                <c:pt idx="0">
                  <c:v>44</c:v>
                </c:pt>
                <c:pt idx="1">
                  <c:v>11</c:v>
                </c:pt>
                <c:pt idx="2">
                  <c:v>9</c:v>
                </c:pt>
                <c:pt idx="3">
                  <c:v>8</c:v>
                </c:pt>
                <c:pt idx="4">
                  <c:v>5</c:v>
                </c:pt>
                <c:pt idx="5">
                  <c:v>4</c:v>
                </c:pt>
                <c:pt idx="6">
                  <c:v>19</c:v>
                </c:pt>
              </c:numCache>
            </c:numRef>
          </c:val>
        </c:ser>
        <c:dLbls>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YaIM tarkibi (xarajatlar usuli, jahon o'rtacha)</a:t>
            </a:r>
          </a:p>
        </c:rich>
      </c:tx>
      <c:layout/>
      <c:overlay val="0"/>
    </c:title>
    <c:autoTitleDeleted val="0"/>
    <c:plotArea>
      <c:pieChart>
        <c:varyColors val="1"/>
        <c:ser>
          <c:idx val="0"/>
          <c:order val="0"/>
          <c:tx>
            <c:strRef>
              <c:f>Sheet1!$B$1</c:f>
              <c:strCache>
                <c:ptCount val="1"/>
                <c:pt idx="0">
                  <c:v>Ulush, %</c:v>
                </c:pt>
              </c:strCache>
            </c:strRef>
          </c:tx>
          <c:cat>
            <c:strRef>
              <c:f>Sheet1!$A$2:$A$5</c:f>
              <c:strCache>
                <c:ptCount val="4"/>
                <c:pt idx="0">
                  <c:v>Iste'mol (C)</c:v>
                </c:pt>
                <c:pt idx="1">
                  <c:v>Investitsiya (I)</c:v>
                </c:pt>
                <c:pt idx="2">
                  <c:v>Davlat xarajatlari (G)</c:v>
                </c:pt>
                <c:pt idx="3">
                  <c:v>Sof eksport (NX)</c:v>
                </c:pt>
              </c:strCache>
            </c:strRef>
          </c:cat>
          <c:val>
            <c:numRef>
              <c:f>Sheet1!$B$2:$B$5</c:f>
              <c:numCache>
                <c:formatCode>General</c:formatCode>
                <c:ptCount val="4"/>
                <c:pt idx="0">
                  <c:v>58</c:v>
                </c:pt>
                <c:pt idx="1">
                  <c:v>24</c:v>
                </c:pt>
                <c:pt idx="2">
                  <c:v>15</c:v>
                </c:pt>
                <c:pt idx="3">
                  <c:v>3</c:v>
                </c:pt>
              </c:numCache>
            </c:numRef>
          </c:val>
        </c:ser>
        <c:dLbls>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t>Ishsizlikning turlari bo'yicha strukturasi</a:t>
            </a:r>
          </a:p>
        </c:rich>
      </c:tx>
      <c:layout/>
      <c:overlay val="0"/>
    </c:title>
    <c:autoTitleDeleted val="0"/>
    <c:plotArea>
      <c:pieChart>
        <c:varyColors val="1"/>
        <c:ser>
          <c:idx val="0"/>
          <c:order val="0"/>
          <c:tx>
            <c:strRef>
              <c:f>Sheet1!$B$1</c:f>
              <c:strCache>
                <c:ptCount val="1"/>
                <c:pt idx="0">
                  <c:v>Ulush, %</c:v>
                </c:pt>
              </c:strCache>
            </c:strRef>
          </c:tx>
          <c:cat>
            <c:strRef>
              <c:f>Sheet1!$A$2:$A$5</c:f>
              <c:strCache>
                <c:ptCount val="4"/>
                <c:pt idx="0">
                  <c:v>Friktsion</c:v>
                </c:pt>
                <c:pt idx="1">
                  <c:v>Strukturaviy</c:v>
                </c:pt>
                <c:pt idx="2">
                  <c:v>Tsiklik</c:v>
                </c:pt>
                <c:pt idx="3">
                  <c:v>Mavsumiy</c:v>
                </c:pt>
              </c:strCache>
            </c:strRef>
          </c:cat>
          <c:val>
            <c:numRef>
              <c:f>Sheet1!$B$2:$B$5</c:f>
              <c:numCache>
                <c:formatCode>General</c:formatCode>
                <c:ptCount val="4"/>
                <c:pt idx="0">
                  <c:v>40</c:v>
                </c:pt>
                <c:pt idx="1">
                  <c:v>35</c:v>
                </c:pt>
                <c:pt idx="2">
                  <c:v>15</c:v>
                </c:pt>
                <c:pt idx="3">
                  <c:v>10</c:v>
                </c:pt>
              </c:numCache>
            </c:numRef>
          </c:val>
        </c:ser>
        <c:dLbls>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t>Iste'mol savati tarkibi (INI vaznlari, %)</a:t>
            </a:r>
          </a:p>
        </c:rich>
      </c:tx>
      <c:layout/>
      <c:overlay val="0"/>
    </c:title>
    <c:autoTitleDeleted val="0"/>
    <c:plotArea>
      <c:pieChart>
        <c:varyColors val="1"/>
        <c:ser>
          <c:idx val="0"/>
          <c:order val="0"/>
          <c:tx>
            <c:strRef>
              <c:f>Sheet1!$B$1</c:f>
              <c:strCache>
                <c:ptCount val="1"/>
                <c:pt idx="0">
                  <c:v>Ulush, %</c:v>
                </c:pt>
              </c:strCache>
            </c:strRef>
          </c:tx>
          <c:cat>
            <c:strRef>
              <c:f>Sheet1!$A$2:$A$8</c:f>
              <c:strCache>
                <c:ptCount val="7"/>
                <c:pt idx="0">
                  <c:v>Oziq-ovqat</c:v>
                </c:pt>
                <c:pt idx="1">
                  <c:v>Uy-joy va kommunal</c:v>
                </c:pt>
                <c:pt idx="2">
                  <c:v>Transport</c:v>
                </c:pt>
                <c:pt idx="3">
                  <c:v>Kiyim-kechak</c:v>
                </c:pt>
                <c:pt idx="4">
                  <c:v>Sog'liqni saqlash</c:v>
                </c:pt>
                <c:pt idx="5">
                  <c:v>Ta'lim</c:v>
                </c:pt>
                <c:pt idx="6">
                  <c:v>Boshqa tovarlar</c:v>
                </c:pt>
              </c:strCache>
            </c:strRef>
          </c:cat>
          <c:val>
            <c:numRef>
              <c:f>Sheet1!$B$2:$B$8</c:f>
              <c:numCache>
                <c:formatCode>General</c:formatCode>
                <c:ptCount val="7"/>
                <c:pt idx="0">
                  <c:v>38</c:v>
                </c:pt>
                <c:pt idx="1">
                  <c:v>15</c:v>
                </c:pt>
                <c:pt idx="2">
                  <c:v>12</c:v>
                </c:pt>
                <c:pt idx="3">
                  <c:v>8</c:v>
                </c:pt>
                <c:pt idx="4">
                  <c:v>6</c:v>
                </c:pt>
                <c:pt idx="5">
                  <c:v>5</c:v>
                </c:pt>
                <c:pt idx="6">
                  <c:v>16</c:v>
                </c:pt>
              </c:numCache>
            </c:numRef>
          </c:val>
        </c:ser>
        <c:dLbls>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t>Jahon iqtisodiy o'sish sur'atlari (yillik %)</a:t>
            </a:r>
          </a:p>
        </c:rich>
      </c:tx>
      <c:layout/>
      <c:overlay val="0"/>
    </c:title>
    <c:autoTitleDeleted val="0"/>
    <c:plotArea>
      <c:barChart>
        <c:barDir val="col"/>
        <c:grouping val="clustered"/>
        <c:ser>
          <c:idx val="0"/>
          <c:order val="0"/>
          <c:tx>
            <c:strRef>
              <c:f>Sheet1!$B$1</c:f>
              <c:strCache>
                <c:ptCount val="1"/>
                <c:pt idx="0">
                  <c:v>Jahon YaIM o'sishi</c:v>
                </c:pt>
              </c:strCache>
            </c:strRef>
          </c:tx>
          <c:cat>
            <c:strRef>
              <c:f>Sheet1!$A$2:$A$7</c:f>
              <c:strCache>
                <c:ptCount val="6"/>
                <c:pt idx="0">
                  <c:v>2019</c:v>
                </c:pt>
                <c:pt idx="1">
                  <c:v>2020</c:v>
                </c:pt>
                <c:pt idx="2">
                  <c:v>2021</c:v>
                </c:pt>
                <c:pt idx="3">
                  <c:v>2022</c:v>
                </c:pt>
                <c:pt idx="4">
                  <c:v>2023</c:v>
                </c:pt>
                <c:pt idx="5">
                  <c:v>2024</c:v>
                </c:pt>
              </c:strCache>
            </c:strRef>
          </c:cat>
          <c:val>
            <c:numRef>
              <c:f>Sheet1!$B$2:$B$7</c:f>
              <c:numCache>
                <c:formatCode>General</c:formatCode>
                <c:ptCount val="6"/>
                <c:pt idx="0">
                  <c:v>2.8</c:v>
                </c:pt>
                <c:pt idx="1">
                  <c:v>-3.0</c:v>
                </c:pt>
                <c:pt idx="2">
                  <c:v>6.0</c:v>
                </c:pt>
                <c:pt idx="3">
                  <c:v>3.5</c:v>
                </c:pt>
                <c:pt idx="4">
                  <c:v>3.2</c:v>
                </c:pt>
                <c:pt idx="5">
                  <c:v>3.1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420624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3474720" cy="365760"/>
          </a:xfrm>
          <a:prstGeom prst="rect">
            <a:avLst/>
          </a:prstGeom>
          <a:noFill/>
        </p:spPr>
        <p:txBody>
          <a:bodyPr wrap="square" anchor="t" lIns="0" rIns="0" tIns="0" bIns="0">
            <a:spAutoFit/>
          </a:bodyPr>
          <a:lstStyle/>
          <a:p>
            <a:pPr algn="l"/>
            <a:r>
              <a:rPr sz="1200" b="1" i="0">
                <a:solidFill>
                  <a:srgbClr val="E8A020"/>
                </a:solidFill>
                <a:latin typeface="Calibri"/>
              </a:rPr>
              <a:t>OLIY TA'LIM KURSI • 1-QISM</a:t>
            </a:r>
          </a:p>
        </p:txBody>
      </p:sp>
      <p:sp>
        <p:nvSpPr>
          <p:cNvPr id="4" name="TextBox 3"/>
          <p:cNvSpPr txBox="1"/>
          <p:nvPr/>
        </p:nvSpPr>
        <p:spPr>
          <a:xfrm>
            <a:off x="457200" y="1554480"/>
            <a:ext cx="3474720" cy="1737360"/>
          </a:xfrm>
          <a:prstGeom prst="rect">
            <a:avLst/>
          </a:prstGeom>
          <a:noFill/>
        </p:spPr>
        <p:txBody>
          <a:bodyPr wrap="square" anchor="t" lIns="0" rIns="0" tIns="0" bIns="0">
            <a:spAutoFit/>
          </a:bodyPr>
          <a:lstStyle/>
          <a:p>
            <a:pPr algn="l"/>
            <a:r>
              <a:rPr sz="3600" b="1" i="0">
                <a:solidFill>
                  <a:srgbClr val="FFFFFF"/>
                </a:solidFill>
                <a:latin typeface="Calibri"/>
              </a:rPr>
              <a:t>IQTISODIYOT</a:t>
            </a:r>
          </a:p>
          <a:p>
            <a:pPr algn="l"/>
            <a:r>
              <a:rPr sz="3600" b="1" i="0">
                <a:solidFill>
                  <a:srgbClr val="FFFFFF"/>
                </a:solidFill>
                <a:latin typeface="Calibri"/>
              </a:rPr>
              <a:t>NAZARIYASI</a:t>
            </a:r>
          </a:p>
        </p:txBody>
      </p:sp>
      <p:sp>
        <p:nvSpPr>
          <p:cNvPr id="5" name="Rectangle 4"/>
          <p:cNvSpPr/>
          <p:nvPr/>
        </p:nvSpPr>
        <p:spPr>
          <a:xfrm>
            <a:off x="457200" y="3337560"/>
            <a:ext cx="822960"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566160"/>
            <a:ext cx="3383280" cy="1463040"/>
          </a:xfrm>
          <a:prstGeom prst="rect">
            <a:avLst/>
          </a:prstGeom>
          <a:noFill/>
        </p:spPr>
        <p:txBody>
          <a:bodyPr wrap="square" anchor="t" lIns="0" rIns="0" tIns="0" bIns="0">
            <a:spAutoFit/>
          </a:bodyPr>
          <a:lstStyle/>
          <a:p>
            <a:pPr algn="l"/>
            <a:r>
              <a:rPr sz="1400" b="0" i="0">
                <a:solidFill>
                  <a:srgbClr val="C9D3E4"/>
                </a:solidFill>
                <a:latin typeface="Calibri"/>
              </a:rPr>
              <a:t>Zamonaviy iqtisodiy fikr asoslari, bozor mexanizmlari va makroiqtisodiy tahlil usullari</a:t>
            </a:r>
          </a:p>
        </p:txBody>
      </p:sp>
      <p:sp>
        <p:nvSpPr>
          <p:cNvPr id="7" name="TextBox 6"/>
          <p:cNvSpPr txBox="1"/>
          <p:nvPr/>
        </p:nvSpPr>
        <p:spPr>
          <a:xfrm>
            <a:off x="4663440" y="777240"/>
            <a:ext cx="7040880" cy="1234440"/>
          </a:xfrm>
          <a:prstGeom prst="rect">
            <a:avLst/>
          </a:prstGeom>
          <a:noFill/>
        </p:spPr>
        <p:txBody>
          <a:bodyPr wrap="square" anchor="t" lIns="0" rIns="0" tIns="0" bIns="0">
            <a:spAutoFit/>
          </a:bodyPr>
          <a:lstStyle/>
          <a:p>
            <a:pPr algn="l"/>
            <a:r>
              <a:rPr sz="5800" b="1" i="0">
                <a:solidFill>
                  <a:srgbClr val="1B2A4A"/>
                </a:solidFill>
                <a:latin typeface="Calibri"/>
              </a:rPr>
              <a:t>$105 trln</a:t>
            </a:r>
          </a:p>
        </p:txBody>
      </p:sp>
      <p:sp>
        <p:nvSpPr>
          <p:cNvPr id="8" name="Rectangle 7"/>
          <p:cNvSpPr/>
          <p:nvPr/>
        </p:nvSpPr>
        <p:spPr>
          <a:xfrm>
            <a:off x="4709160" y="2103120"/>
            <a:ext cx="1005840" cy="64008"/>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286000"/>
            <a:ext cx="7040880" cy="502920"/>
          </a:xfrm>
          <a:prstGeom prst="rect">
            <a:avLst/>
          </a:prstGeom>
          <a:noFill/>
        </p:spPr>
        <p:txBody>
          <a:bodyPr wrap="square" anchor="t" lIns="0" rIns="0" tIns="0" bIns="0">
            <a:spAutoFit/>
          </a:bodyPr>
          <a:lstStyle/>
          <a:p>
            <a:pPr algn="l"/>
            <a:r>
              <a:rPr sz="1400" b="1" i="0">
                <a:solidFill>
                  <a:srgbClr val="1B2A4A"/>
                </a:solidFill>
                <a:latin typeface="Calibri"/>
              </a:rPr>
              <a:t>Jahon yalpi ichki mahsulotining hajmi (2023-yil, Jahon banki bahosi)</a:t>
            </a:r>
          </a:p>
        </p:txBody>
      </p:sp>
      <p:sp>
        <p:nvSpPr>
          <p:cNvPr id="10" name="TextBox 9"/>
          <p:cNvSpPr txBox="1"/>
          <p:nvPr/>
        </p:nvSpPr>
        <p:spPr>
          <a:xfrm>
            <a:off x="4663440" y="2926080"/>
            <a:ext cx="7132320" cy="1920240"/>
          </a:xfrm>
          <a:prstGeom prst="rect">
            <a:avLst/>
          </a:prstGeom>
          <a:noFill/>
        </p:spPr>
        <p:txBody>
          <a:bodyPr wrap="square" anchor="t" lIns="0" rIns="0" tIns="0" bIns="0">
            <a:spAutoFit/>
          </a:bodyPr>
          <a:lstStyle/>
          <a:p>
            <a:pPr algn="l"/>
            <a:r>
              <a:rPr sz="1400" b="0" i="0">
                <a:solidFill>
                  <a:srgbClr val="333A4A"/>
                </a:solidFill>
                <a:latin typeface="Calibri"/>
              </a:rPr>
              <a:t>Iqtisodiyot nazariyasi cheklangan resurslar sharoitida insonlar, firmalar va davlatlar qanday qaror qabul qilishini o'rganadi. U narxlar qanday shakllanishi, bozorlar nega muvozanatga kelishi yoki inqirozga uchirashi hamda davlat siyosati farovonlikka qanday ta'sir ko'rsatishini tushuntiradi. Bu fan har bir kundalik qarorimiz ortidagi mantiqni ochib beradi.</a:t>
            </a:r>
          </a:p>
        </p:txBody>
      </p:sp>
      <p:sp>
        <p:nvSpPr>
          <p:cNvPr id="11" name="Rounded Rectangle 10"/>
          <p:cNvSpPr/>
          <p:nvPr/>
        </p:nvSpPr>
        <p:spPr>
          <a:xfrm>
            <a:off x="4663440" y="5074920"/>
            <a:ext cx="2286000" cy="1417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28032" y="5212080"/>
            <a:ext cx="1920240" cy="411480"/>
          </a:xfrm>
          <a:prstGeom prst="rect">
            <a:avLst/>
          </a:prstGeom>
          <a:noFill/>
        </p:spPr>
        <p:txBody>
          <a:bodyPr wrap="square" anchor="t" lIns="0" rIns="0" tIns="0" bIns="0">
            <a:spAutoFit/>
          </a:bodyPr>
          <a:lstStyle/>
          <a:p>
            <a:pPr algn="l"/>
            <a:r>
              <a:rPr sz="2200" b="1" i="0">
                <a:solidFill>
                  <a:srgbClr val="E8A020"/>
                </a:solidFill>
                <a:latin typeface="Calibri"/>
              </a:rPr>
              <a:t>1776</a:t>
            </a:r>
          </a:p>
        </p:txBody>
      </p:sp>
      <p:sp>
        <p:nvSpPr>
          <p:cNvPr id="13" name="TextBox 12"/>
          <p:cNvSpPr txBox="1"/>
          <p:nvPr/>
        </p:nvSpPr>
        <p:spPr>
          <a:xfrm>
            <a:off x="4828032" y="5669280"/>
            <a:ext cx="1965960" cy="731520"/>
          </a:xfrm>
          <a:prstGeom prst="rect">
            <a:avLst/>
          </a:prstGeom>
          <a:noFill/>
        </p:spPr>
        <p:txBody>
          <a:bodyPr wrap="square" anchor="t" lIns="0" rIns="0" tIns="0" bIns="0">
            <a:spAutoFit/>
          </a:bodyPr>
          <a:lstStyle/>
          <a:p>
            <a:pPr algn="l"/>
            <a:r>
              <a:rPr sz="1300" b="0" i="0">
                <a:solidFill>
                  <a:srgbClr val="444B5C"/>
                </a:solidFill>
                <a:latin typeface="Calibri"/>
              </a:rPr>
              <a:t>Adam Smitning «Millatlar boyligi» asari nashr etilgan yil</a:t>
            </a:r>
          </a:p>
        </p:txBody>
      </p:sp>
      <p:sp>
        <p:nvSpPr>
          <p:cNvPr id="14" name="Rounded Rectangle 13"/>
          <p:cNvSpPr/>
          <p:nvPr/>
        </p:nvSpPr>
        <p:spPr>
          <a:xfrm>
            <a:off x="7086600" y="5074920"/>
            <a:ext cx="2286000" cy="1417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51192" y="5212080"/>
            <a:ext cx="1920240" cy="411480"/>
          </a:xfrm>
          <a:prstGeom prst="rect">
            <a:avLst/>
          </a:prstGeom>
          <a:noFill/>
        </p:spPr>
        <p:txBody>
          <a:bodyPr wrap="square" anchor="t" lIns="0" rIns="0" tIns="0" bIns="0">
            <a:spAutoFit/>
          </a:bodyPr>
          <a:lstStyle/>
          <a:p>
            <a:pPr algn="l"/>
            <a:r>
              <a:rPr sz="2200" b="1" i="0">
                <a:solidFill>
                  <a:srgbClr val="E8A020"/>
                </a:solidFill>
                <a:latin typeface="Calibri"/>
              </a:rPr>
              <a:t>3 ta</a:t>
            </a:r>
          </a:p>
        </p:txBody>
      </p:sp>
      <p:sp>
        <p:nvSpPr>
          <p:cNvPr id="16" name="TextBox 15"/>
          <p:cNvSpPr txBox="1"/>
          <p:nvPr/>
        </p:nvSpPr>
        <p:spPr>
          <a:xfrm>
            <a:off x="7251192" y="5669280"/>
            <a:ext cx="1965960" cy="731520"/>
          </a:xfrm>
          <a:prstGeom prst="rect">
            <a:avLst/>
          </a:prstGeom>
          <a:noFill/>
        </p:spPr>
        <p:txBody>
          <a:bodyPr wrap="square" anchor="t" lIns="0" rIns="0" tIns="0" bIns="0">
            <a:spAutoFit/>
          </a:bodyPr>
          <a:lstStyle/>
          <a:p>
            <a:pPr algn="l"/>
            <a:r>
              <a:rPr sz="1300" b="0" i="0">
                <a:solidFill>
                  <a:srgbClr val="444B5C"/>
                </a:solidFill>
                <a:latin typeface="Calibri"/>
              </a:rPr>
              <a:t>Asosiy iqtisodiy savol: nima, qanday va kim uchun ishlab chiqarish</a:t>
            </a:r>
          </a:p>
        </p:txBody>
      </p:sp>
      <p:sp>
        <p:nvSpPr>
          <p:cNvPr id="17" name="Rounded Rectangle 16"/>
          <p:cNvSpPr/>
          <p:nvPr/>
        </p:nvSpPr>
        <p:spPr>
          <a:xfrm>
            <a:off x="9509760" y="5074920"/>
            <a:ext cx="2286000" cy="1417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4352" y="5212080"/>
            <a:ext cx="1920240" cy="411480"/>
          </a:xfrm>
          <a:prstGeom prst="rect">
            <a:avLst/>
          </a:prstGeom>
          <a:noFill/>
        </p:spPr>
        <p:txBody>
          <a:bodyPr wrap="square" anchor="t" lIns="0" rIns="0" tIns="0" bIns="0">
            <a:spAutoFit/>
          </a:bodyPr>
          <a:lstStyle/>
          <a:p>
            <a:pPr algn="l"/>
            <a:r>
              <a:rPr sz="2200" b="1" i="0">
                <a:solidFill>
                  <a:srgbClr val="E8A020"/>
                </a:solidFill>
                <a:latin typeface="Calibri"/>
              </a:rPr>
              <a:t>2 soha</a:t>
            </a:r>
          </a:p>
        </p:txBody>
      </p:sp>
      <p:sp>
        <p:nvSpPr>
          <p:cNvPr id="19" name="TextBox 18"/>
          <p:cNvSpPr txBox="1"/>
          <p:nvPr/>
        </p:nvSpPr>
        <p:spPr>
          <a:xfrm>
            <a:off x="9674352" y="5669280"/>
            <a:ext cx="1965960" cy="731520"/>
          </a:xfrm>
          <a:prstGeom prst="rect">
            <a:avLst/>
          </a:prstGeom>
          <a:noFill/>
        </p:spPr>
        <p:txBody>
          <a:bodyPr wrap="square" anchor="t" lIns="0" rIns="0" tIns="0" bIns="0">
            <a:spAutoFit/>
          </a:bodyPr>
          <a:lstStyle/>
          <a:p>
            <a:pPr algn="l"/>
            <a:r>
              <a:rPr sz="1300" b="0" i="0">
                <a:solidFill>
                  <a:srgbClr val="444B5C"/>
                </a:solidFill>
                <a:latin typeface="Calibri"/>
              </a:rPr>
              <a:t>Mikro- va makroiqtisodiyot — nazariyaning ikki ustuni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457200" y="457200"/>
            <a:ext cx="5669280" cy="365760"/>
          </a:xfrm>
          <a:prstGeom prst="rect">
            <a:avLst/>
          </a:prstGeom>
          <a:noFill/>
        </p:spPr>
        <p:txBody>
          <a:bodyPr wrap="square" anchor="t" lIns="0" rIns="0" tIns="0" bIns="0">
            <a:spAutoFit/>
          </a:bodyPr>
          <a:lstStyle/>
          <a:p>
            <a:pPr algn="l"/>
            <a:r>
              <a:rPr sz="1200" b="1" i="0">
                <a:solidFill>
                  <a:srgbClr val="E8A020"/>
                </a:solidFill>
                <a:latin typeface="Calibri"/>
              </a:rPr>
              <a:t>KONTEKST • IQTISODIY FIKR TARIXI</a:t>
            </a:r>
          </a:p>
        </p:txBody>
      </p:sp>
      <p:sp>
        <p:nvSpPr>
          <p:cNvPr id="3" name="TextBox 2"/>
          <p:cNvSpPr txBox="1"/>
          <p:nvPr/>
        </p:nvSpPr>
        <p:spPr>
          <a:xfrm>
            <a:off x="457200" y="868680"/>
            <a:ext cx="5760720" cy="685800"/>
          </a:xfrm>
          <a:prstGeom prst="rect">
            <a:avLst/>
          </a:prstGeom>
          <a:noFill/>
        </p:spPr>
        <p:txBody>
          <a:bodyPr wrap="square" anchor="t" lIns="0" rIns="0" tIns="0" bIns="0">
            <a:spAutoFit/>
          </a:bodyPr>
          <a:lstStyle/>
          <a:p>
            <a:pPr algn="l"/>
            <a:r>
              <a:rPr sz="2600" b="1" i="0">
                <a:solidFill>
                  <a:srgbClr val="1B2A4A"/>
                </a:solidFill>
                <a:latin typeface="Calibri"/>
              </a:rPr>
              <a:t>Iqtisodiy fikrning rivojlanish bosqichlari</a:t>
            </a:r>
          </a:p>
        </p:txBody>
      </p:sp>
      <p:sp>
        <p:nvSpPr>
          <p:cNvPr id="4" name="Rectangle 3"/>
          <p:cNvSpPr/>
          <p:nvPr/>
        </p:nvSpPr>
        <p:spPr>
          <a:xfrm>
            <a:off x="475488" y="1600200"/>
            <a:ext cx="914400"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5760720" cy="822960"/>
          </a:xfrm>
          <a:prstGeom prst="rect">
            <a:avLst/>
          </a:prstGeom>
          <a:noFill/>
        </p:spPr>
        <p:txBody>
          <a:bodyPr wrap="square" anchor="t" lIns="0" rIns="0" tIns="0" bIns="0">
            <a:spAutoFit/>
          </a:bodyPr>
          <a:lstStyle/>
          <a:p>
            <a:pPr algn="l"/>
            <a:r>
              <a:rPr sz="1300" b="0" i="0">
                <a:solidFill>
                  <a:srgbClr val="333A4A"/>
                </a:solidFill>
                <a:latin typeface="Calibri"/>
              </a:rPr>
              <a:t>Iqtisodiyot nazariyasi bir necha asrlik fikr evolyutsiyasining mahsulidir. Har bir maktab o'z davrining dolzarb muammolariga javob sifatida paydo bo'lgan.</a:t>
            </a:r>
          </a:p>
        </p:txBody>
      </p:sp>
      <p:sp>
        <p:nvSpPr>
          <p:cNvPr id="6" name="TextBox 5"/>
          <p:cNvSpPr txBox="1"/>
          <p:nvPr/>
        </p:nvSpPr>
        <p:spPr>
          <a:xfrm>
            <a:off x="457200" y="2743200"/>
            <a:ext cx="5806440" cy="3840480"/>
          </a:xfrm>
          <a:prstGeom prst="rect">
            <a:avLst/>
          </a:prstGeom>
          <a:noFill/>
        </p:spPr>
        <p:txBody>
          <a:bodyPr wrap="square" anchor="t" lIns="0" rIns="0" tIns="0" bIns="0">
            <a:spAutoFit/>
          </a:bodyPr>
          <a:lstStyle/>
          <a:p>
            <a:pPr algn="l"/>
            <a:r>
              <a:rPr sz="1300" b="0" i="0">
                <a:solidFill>
                  <a:srgbClr val="333A4A"/>
                </a:solidFill>
                <a:latin typeface="Calibri"/>
              </a:rPr>
              <a:t>• Merkantilizm (XVI–XVII asrlar): boylik oltin-kumush zaxiralari va faol savdo balansida deb hisoblangan.</a:t>
            </a:r>
          </a:p>
          <a:p>
            <a:pPr algn="l"/>
            <a:r>
              <a:rPr sz="1300" b="0" i="0">
                <a:solidFill>
                  <a:srgbClr val="333A4A"/>
                </a:solidFill>
                <a:latin typeface="Calibri"/>
              </a:rPr>
              <a:t>• Klassik maktab (1776): Adam Smit «ko'rinmas qo'l» va erkin bozor g'oyasini ilgari surdi.</a:t>
            </a:r>
          </a:p>
          <a:p>
            <a:pPr algn="l"/>
            <a:r>
              <a:rPr sz="1300" b="0" i="0">
                <a:solidFill>
                  <a:srgbClr val="333A4A"/>
                </a:solidFill>
                <a:latin typeface="Calibri"/>
              </a:rPr>
              <a:t>• Marksizm (1867): Karl Marks mehnat qiymat nazariyasi va kapitalning ichki ziddiyatlarini tahlil qildi.</a:t>
            </a:r>
          </a:p>
          <a:p>
            <a:pPr algn="l"/>
            <a:r>
              <a:rPr sz="1300" b="0" i="0">
                <a:solidFill>
                  <a:srgbClr val="333A4A"/>
                </a:solidFill>
                <a:latin typeface="Calibri"/>
              </a:rPr>
              <a:t>• Marjinalizm (1870-yillar): chegaraviy foyda va subyektiv qiymat tahlili shakllandi.</a:t>
            </a:r>
          </a:p>
          <a:p>
            <a:pPr algn="l"/>
            <a:r>
              <a:rPr sz="1300" b="0" i="0">
                <a:solidFill>
                  <a:srgbClr val="333A4A"/>
                </a:solidFill>
                <a:latin typeface="Calibri"/>
              </a:rPr>
              <a:t>• Keynschilik (1936): Buyuk depressiyaga javoban davlat aralashuvining zarurligi asoslandi.</a:t>
            </a:r>
          </a:p>
        </p:txBody>
      </p:sp>
      <p:sp>
        <p:nvSpPr>
          <p:cNvPr id="7" name="TextBox 6"/>
          <p:cNvSpPr txBox="1"/>
          <p:nvPr/>
        </p:nvSpPr>
        <p:spPr>
          <a:xfrm>
            <a:off x="6492240" y="5943600"/>
            <a:ext cx="5257800" cy="457200"/>
          </a:xfrm>
          <a:prstGeom prst="rect">
            <a:avLst/>
          </a:prstGeom>
          <a:noFill/>
        </p:spPr>
        <p:txBody>
          <a:bodyPr wrap="square" anchor="t" lIns="0" rIns="0" tIns="0" bIns="0">
            <a:spAutoFit/>
          </a:bodyPr>
          <a:lstStyle/>
          <a:p>
            <a:pPr algn="l"/>
            <a:r>
              <a:rPr sz="1300" b="0" i="0">
                <a:solidFill>
                  <a:srgbClr val="6A7386"/>
                </a:solidFill>
                <a:latin typeface="Calibri"/>
              </a:rPr>
              <a:t>1776-yil — Adam Smit asari bilan iqtisodiyot mustaqil fan sifatida shakllandi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486400" cy="365760"/>
          </a:xfrm>
          <a:prstGeom prst="rect">
            <a:avLst/>
          </a:prstGeom>
          <a:noFill/>
        </p:spPr>
        <p:txBody>
          <a:bodyPr wrap="square" anchor="t" lIns="0" rIns="0" tIns="0" bIns="0">
            <a:spAutoFit/>
          </a:bodyPr>
          <a:lstStyle/>
          <a:p>
            <a:pPr algn="l"/>
            <a:r>
              <a:rPr sz="1200" b="1" i="0">
                <a:solidFill>
                  <a:srgbClr val="E8A020"/>
                </a:solidFill>
                <a:latin typeface="Calibri"/>
              </a:rPr>
              <a:t>TAHLIL • TARKIBIY QISMLAR</a:t>
            </a:r>
          </a:p>
        </p:txBody>
      </p:sp>
      <p:sp>
        <p:nvSpPr>
          <p:cNvPr id="4" name="TextBox 3"/>
          <p:cNvSpPr txBox="1"/>
          <p:nvPr/>
        </p:nvSpPr>
        <p:spPr>
          <a:xfrm>
            <a:off x="457200" y="777240"/>
            <a:ext cx="11247120" cy="731520"/>
          </a:xfrm>
          <a:prstGeom prst="rect">
            <a:avLst/>
          </a:prstGeom>
          <a:noFill/>
        </p:spPr>
        <p:txBody>
          <a:bodyPr wrap="square" anchor="t" lIns="0" rIns="0" tIns="0" bIns="0">
            <a:spAutoFit/>
          </a:bodyPr>
          <a:lstStyle/>
          <a:p>
            <a:pPr algn="l"/>
            <a:r>
              <a:rPr sz="2600" b="1" i="0">
                <a:solidFill>
                  <a:srgbClr val="FFFFFF"/>
                </a:solidFill>
                <a:latin typeface="Calibri"/>
              </a:rPr>
              <a:t>Iqtisodiyot nazariyasining tarkibiy qismlari</a:t>
            </a:r>
          </a:p>
        </p:txBody>
      </p:sp>
      <p:sp>
        <p:nvSpPr>
          <p:cNvPr id="5" name="Rounded Rectangle 4"/>
          <p:cNvSpPr/>
          <p:nvPr/>
        </p:nvSpPr>
        <p:spPr>
          <a:xfrm>
            <a:off x="365760" y="1965960"/>
            <a:ext cx="2724912" cy="3931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6928" y="2194560"/>
            <a:ext cx="502920" cy="5029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194560"/>
            <a:ext cx="502920" cy="502920"/>
          </a:xfrm>
          <a:prstGeom prst="rect">
            <a:avLst/>
          </a:prstGeom>
          <a:noFill/>
        </p:spPr>
        <p:txBody>
          <a:bodyPr wrap="square" anchor="t" lIns="0" rIns="0" tIns="0" bIns="0">
            <a:spAutoFit/>
          </a:bodyPr>
          <a:lstStyle/>
          <a:p>
            <a:pPr algn="ctr"/>
            <a:r>
              <a:rPr sz="1400" b="1" i="0">
                <a:solidFill>
                  <a:srgbClr val="FFFFFF"/>
                </a:solidFill>
                <a:latin typeface="Calibri"/>
              </a:rPr>
              <a:t>01</a:t>
            </a:r>
          </a:p>
        </p:txBody>
      </p:sp>
      <p:sp>
        <p:nvSpPr>
          <p:cNvPr id="8" name="TextBox 7"/>
          <p:cNvSpPr txBox="1"/>
          <p:nvPr/>
        </p:nvSpPr>
        <p:spPr>
          <a:xfrm>
            <a:off x="566928" y="2880360"/>
            <a:ext cx="2286000" cy="640080"/>
          </a:xfrm>
          <a:prstGeom prst="rect">
            <a:avLst/>
          </a:prstGeom>
          <a:noFill/>
        </p:spPr>
        <p:txBody>
          <a:bodyPr wrap="square" anchor="t" lIns="0" rIns="0" tIns="0" bIns="0">
            <a:spAutoFit/>
          </a:bodyPr>
          <a:lstStyle/>
          <a:p>
            <a:pPr algn="l"/>
            <a:r>
              <a:rPr sz="1500" b="1" i="0">
                <a:solidFill>
                  <a:srgbClr val="1B2A4A"/>
                </a:solidFill>
                <a:latin typeface="Calibri"/>
              </a:rPr>
              <a:t>Mikroiqtisodiyot</a:t>
            </a:r>
          </a:p>
        </p:txBody>
      </p:sp>
      <p:sp>
        <p:nvSpPr>
          <p:cNvPr id="9" name="TextBox 8"/>
          <p:cNvSpPr txBox="1"/>
          <p:nvPr/>
        </p:nvSpPr>
        <p:spPr>
          <a:xfrm>
            <a:off x="566928" y="3520440"/>
            <a:ext cx="2340864" cy="2194560"/>
          </a:xfrm>
          <a:prstGeom prst="rect">
            <a:avLst/>
          </a:prstGeom>
          <a:noFill/>
        </p:spPr>
        <p:txBody>
          <a:bodyPr wrap="square" anchor="t" lIns="0" rIns="0" tIns="0" bIns="0">
            <a:spAutoFit/>
          </a:bodyPr>
          <a:lstStyle/>
          <a:p>
            <a:pPr algn="l"/>
            <a:r>
              <a:rPr sz="1300" b="0" i="0">
                <a:solidFill>
                  <a:srgbClr val="444B5C"/>
                </a:solidFill>
                <a:latin typeface="Calibri"/>
              </a:rPr>
              <a:t>Alohida xo'jalik subyektlari — uy xo'jaliklari, firmalar va bozorlar faoliyatini o'rganadi. Narx shakllanishi, talab-taklif, raqobat va iste'molchi xulq-atvori asosiy mavzulardir.</a:t>
            </a:r>
          </a:p>
        </p:txBody>
      </p:sp>
      <p:sp>
        <p:nvSpPr>
          <p:cNvPr id="10" name="Rounded Rectangle 9"/>
          <p:cNvSpPr/>
          <p:nvPr/>
        </p:nvSpPr>
        <p:spPr>
          <a:xfrm>
            <a:off x="3273552" y="1965960"/>
            <a:ext cx="2724912" cy="3931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74720" y="2194560"/>
            <a:ext cx="502920" cy="5029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194560"/>
            <a:ext cx="502920" cy="502920"/>
          </a:xfrm>
          <a:prstGeom prst="rect">
            <a:avLst/>
          </a:prstGeom>
          <a:noFill/>
        </p:spPr>
        <p:txBody>
          <a:bodyPr wrap="square" anchor="t" lIns="0" rIns="0" tIns="0" bIns="0">
            <a:spAutoFit/>
          </a:bodyPr>
          <a:lstStyle/>
          <a:p>
            <a:pPr algn="ctr"/>
            <a:r>
              <a:rPr sz="1400" b="1" i="0">
                <a:solidFill>
                  <a:srgbClr val="FFFFFF"/>
                </a:solidFill>
                <a:latin typeface="Calibri"/>
              </a:rPr>
              <a:t>02</a:t>
            </a:r>
          </a:p>
        </p:txBody>
      </p:sp>
      <p:sp>
        <p:nvSpPr>
          <p:cNvPr id="13" name="TextBox 12"/>
          <p:cNvSpPr txBox="1"/>
          <p:nvPr/>
        </p:nvSpPr>
        <p:spPr>
          <a:xfrm>
            <a:off x="3474720" y="2880360"/>
            <a:ext cx="2286000" cy="640080"/>
          </a:xfrm>
          <a:prstGeom prst="rect">
            <a:avLst/>
          </a:prstGeom>
          <a:noFill/>
        </p:spPr>
        <p:txBody>
          <a:bodyPr wrap="square" anchor="t" lIns="0" rIns="0" tIns="0" bIns="0">
            <a:spAutoFit/>
          </a:bodyPr>
          <a:lstStyle/>
          <a:p>
            <a:pPr algn="l"/>
            <a:r>
              <a:rPr sz="1500" b="1" i="0">
                <a:solidFill>
                  <a:srgbClr val="1B2A4A"/>
                </a:solidFill>
                <a:latin typeface="Calibri"/>
              </a:rPr>
              <a:t>Makroiqtisodiyot</a:t>
            </a:r>
          </a:p>
        </p:txBody>
      </p:sp>
      <p:sp>
        <p:nvSpPr>
          <p:cNvPr id="14" name="TextBox 13"/>
          <p:cNvSpPr txBox="1"/>
          <p:nvPr/>
        </p:nvSpPr>
        <p:spPr>
          <a:xfrm>
            <a:off x="3474720" y="3520440"/>
            <a:ext cx="2340864" cy="2194560"/>
          </a:xfrm>
          <a:prstGeom prst="rect">
            <a:avLst/>
          </a:prstGeom>
          <a:noFill/>
        </p:spPr>
        <p:txBody>
          <a:bodyPr wrap="square" anchor="t" lIns="0" rIns="0" tIns="0" bIns="0">
            <a:spAutoFit/>
          </a:bodyPr>
          <a:lstStyle/>
          <a:p>
            <a:pPr algn="l"/>
            <a:r>
              <a:rPr sz="1300" b="0" i="0">
                <a:solidFill>
                  <a:srgbClr val="444B5C"/>
                </a:solidFill>
                <a:latin typeface="Calibri"/>
              </a:rPr>
              <a:t>Milliy iqtisodiyotni bir butun sifatida tahlil qiladi: YaIM, inflyatsiya, ishsizlik, iqtisodiy o'sish hamda fiskal va monetar siyosat asosiy tushunchalardir.</a:t>
            </a:r>
          </a:p>
        </p:txBody>
      </p:sp>
      <p:sp>
        <p:nvSpPr>
          <p:cNvPr id="15" name="Rounded Rectangle 14"/>
          <p:cNvSpPr/>
          <p:nvPr/>
        </p:nvSpPr>
        <p:spPr>
          <a:xfrm>
            <a:off x="6181344" y="1965960"/>
            <a:ext cx="2724912" cy="3931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2194560"/>
            <a:ext cx="502920" cy="5029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194560"/>
            <a:ext cx="502920" cy="502920"/>
          </a:xfrm>
          <a:prstGeom prst="rect">
            <a:avLst/>
          </a:prstGeom>
          <a:noFill/>
        </p:spPr>
        <p:txBody>
          <a:bodyPr wrap="square" anchor="t" lIns="0" rIns="0" tIns="0" bIns="0">
            <a:spAutoFit/>
          </a:bodyPr>
          <a:lstStyle/>
          <a:p>
            <a:pPr algn="ctr"/>
            <a:r>
              <a:rPr sz="1400" b="1" i="0">
                <a:solidFill>
                  <a:srgbClr val="FFFFFF"/>
                </a:solidFill>
                <a:latin typeface="Calibri"/>
              </a:rPr>
              <a:t>03</a:t>
            </a:r>
          </a:p>
        </p:txBody>
      </p:sp>
      <p:sp>
        <p:nvSpPr>
          <p:cNvPr id="18" name="TextBox 17"/>
          <p:cNvSpPr txBox="1"/>
          <p:nvPr/>
        </p:nvSpPr>
        <p:spPr>
          <a:xfrm>
            <a:off x="6382512" y="2880360"/>
            <a:ext cx="2286000" cy="640080"/>
          </a:xfrm>
          <a:prstGeom prst="rect">
            <a:avLst/>
          </a:prstGeom>
          <a:noFill/>
        </p:spPr>
        <p:txBody>
          <a:bodyPr wrap="square" anchor="t" lIns="0" rIns="0" tIns="0" bIns="0">
            <a:spAutoFit/>
          </a:bodyPr>
          <a:lstStyle/>
          <a:p>
            <a:pPr algn="l"/>
            <a:r>
              <a:rPr sz="1500" b="1" i="0">
                <a:solidFill>
                  <a:srgbClr val="1B2A4A"/>
                </a:solidFill>
                <a:latin typeface="Calibri"/>
              </a:rPr>
              <a:t>Mezoiqtisodiyot</a:t>
            </a:r>
          </a:p>
        </p:txBody>
      </p:sp>
      <p:sp>
        <p:nvSpPr>
          <p:cNvPr id="19" name="TextBox 18"/>
          <p:cNvSpPr txBox="1"/>
          <p:nvPr/>
        </p:nvSpPr>
        <p:spPr>
          <a:xfrm>
            <a:off x="6382512" y="3520440"/>
            <a:ext cx="2340864" cy="2194560"/>
          </a:xfrm>
          <a:prstGeom prst="rect">
            <a:avLst/>
          </a:prstGeom>
          <a:noFill/>
        </p:spPr>
        <p:txBody>
          <a:bodyPr wrap="square" anchor="t" lIns="0" rIns="0" tIns="0" bIns="0">
            <a:spAutoFit/>
          </a:bodyPr>
          <a:lstStyle/>
          <a:p>
            <a:pPr algn="l"/>
            <a:r>
              <a:rPr sz="1300" b="0" i="0">
                <a:solidFill>
                  <a:srgbClr val="444B5C"/>
                </a:solidFill>
                <a:latin typeface="Calibri"/>
              </a:rPr>
              <a:t>Tarmoqlar va hududlar kesimidagi tahlil: sanoat, qishloq xo'jaligi, transport tizimlari hamda regionlar iqtisodiyoti o'rtasidagi o'zaro bog'liqliklar o'rganiladi.</a:t>
            </a:r>
          </a:p>
        </p:txBody>
      </p:sp>
      <p:sp>
        <p:nvSpPr>
          <p:cNvPr id="20" name="Rounded Rectangle 19"/>
          <p:cNvSpPr/>
          <p:nvPr/>
        </p:nvSpPr>
        <p:spPr>
          <a:xfrm>
            <a:off x="9089136" y="1965960"/>
            <a:ext cx="2724912" cy="3931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90304" y="2194560"/>
            <a:ext cx="502920" cy="5029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0304" y="2194560"/>
            <a:ext cx="502920" cy="502920"/>
          </a:xfrm>
          <a:prstGeom prst="rect">
            <a:avLst/>
          </a:prstGeom>
          <a:noFill/>
        </p:spPr>
        <p:txBody>
          <a:bodyPr wrap="square" anchor="t" lIns="0" rIns="0" tIns="0" bIns="0">
            <a:spAutoFit/>
          </a:bodyPr>
          <a:lstStyle/>
          <a:p>
            <a:pPr algn="ctr"/>
            <a:r>
              <a:rPr sz="1400" b="1" i="0">
                <a:solidFill>
                  <a:srgbClr val="FFFFFF"/>
                </a:solidFill>
                <a:latin typeface="Calibri"/>
              </a:rPr>
              <a:t>04</a:t>
            </a:r>
          </a:p>
        </p:txBody>
      </p:sp>
      <p:sp>
        <p:nvSpPr>
          <p:cNvPr id="23" name="TextBox 22"/>
          <p:cNvSpPr txBox="1"/>
          <p:nvPr/>
        </p:nvSpPr>
        <p:spPr>
          <a:xfrm>
            <a:off x="9290304" y="2880360"/>
            <a:ext cx="2286000" cy="640080"/>
          </a:xfrm>
          <a:prstGeom prst="rect">
            <a:avLst/>
          </a:prstGeom>
          <a:noFill/>
        </p:spPr>
        <p:txBody>
          <a:bodyPr wrap="square" anchor="t" lIns="0" rIns="0" tIns="0" bIns="0">
            <a:spAutoFit/>
          </a:bodyPr>
          <a:lstStyle/>
          <a:p>
            <a:pPr algn="l"/>
            <a:r>
              <a:rPr sz="1500" b="1" i="0">
                <a:solidFill>
                  <a:srgbClr val="1B2A4A"/>
                </a:solidFill>
                <a:latin typeface="Calibri"/>
              </a:rPr>
              <a:t>Jahon iqtisodiyoti</a:t>
            </a:r>
          </a:p>
        </p:txBody>
      </p:sp>
      <p:sp>
        <p:nvSpPr>
          <p:cNvPr id="24" name="TextBox 23"/>
          <p:cNvSpPr txBox="1"/>
          <p:nvPr/>
        </p:nvSpPr>
        <p:spPr>
          <a:xfrm>
            <a:off x="9290304" y="3520440"/>
            <a:ext cx="2340864" cy="2194560"/>
          </a:xfrm>
          <a:prstGeom prst="rect">
            <a:avLst/>
          </a:prstGeom>
          <a:noFill/>
        </p:spPr>
        <p:txBody>
          <a:bodyPr wrap="square" anchor="t" lIns="0" rIns="0" tIns="0" bIns="0">
            <a:spAutoFit/>
          </a:bodyPr>
          <a:lstStyle/>
          <a:p>
            <a:pPr algn="l"/>
            <a:r>
              <a:rPr sz="1300" b="0" i="0">
                <a:solidFill>
                  <a:srgbClr val="444B5C"/>
                </a:solidFill>
                <a:latin typeface="Calibri"/>
              </a:rPr>
              <a:t>Xalqaro savdo, valyuta munosabatlari, kapital harakati va global integratsiya jarayonlarini o'rganadi hamda mamlakatlarning o'zaro iqtisodiy ta'sirini tahlil qiladi.</a:t>
            </a:r>
          </a:p>
        </p:txBody>
      </p:sp>
      <p:sp>
        <p:nvSpPr>
          <p:cNvPr id="25" name="Rounded Rectangle 24"/>
          <p:cNvSpPr/>
          <p:nvPr/>
        </p:nvSpPr>
        <p:spPr>
          <a:xfrm>
            <a:off x="365760" y="6053328"/>
            <a:ext cx="11457432" cy="457200"/>
          </a:xfrm>
          <a:prstGeom prst="roundRect">
            <a:avLst/>
          </a:prstGeom>
          <a:solidFill>
            <a:srgbClr val="E9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108192"/>
            <a:ext cx="11091672" cy="347472"/>
          </a:xfrm>
          <a:prstGeom prst="rect">
            <a:avLst/>
          </a:prstGeom>
          <a:noFill/>
        </p:spPr>
        <p:txBody>
          <a:bodyPr wrap="square" anchor="t" lIns="0" rIns="0" tIns="0" bIns="0">
            <a:spAutoFit/>
          </a:bodyPr>
          <a:lstStyle/>
          <a:p>
            <a:pPr algn="ctr"/>
            <a:r>
              <a:rPr sz="1300" b="0" i="0">
                <a:solidFill>
                  <a:srgbClr val="1B2A4A"/>
                </a:solidFill>
                <a:latin typeface="Calibri"/>
              </a:rPr>
              <a:t>Eslatma: mikro va makro tahlil bir-birini to'ldiradi — bozor signallari milliy siyosatga, siyosat esa bozorlarga ta'sir qiladi.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457200" y="411480"/>
            <a:ext cx="4572000" cy="365760"/>
          </a:xfrm>
          <a:prstGeom prst="rect">
            <a:avLst/>
          </a:prstGeom>
          <a:noFill/>
        </p:spPr>
        <p:txBody>
          <a:bodyPr wrap="square" anchor="t" lIns="0" rIns="0" tIns="0" bIns="0">
            <a:spAutoFit/>
          </a:bodyPr>
          <a:lstStyle/>
          <a:p>
            <a:pPr algn="l"/>
            <a:r>
              <a:rPr sz="1200" b="1" i="0">
                <a:solidFill>
                  <a:srgbClr val="E8A020"/>
                </a:solidFill>
                <a:latin typeface="Calibri"/>
              </a:rPr>
              <a:t>CHUQUR TAHLIL • BOZOR MEXANIZMI</a:t>
            </a:r>
          </a:p>
        </p:txBody>
      </p:sp>
      <p:sp>
        <p:nvSpPr>
          <p:cNvPr id="3" name="TextBox 2"/>
          <p:cNvSpPr txBox="1"/>
          <p:nvPr/>
        </p:nvSpPr>
        <p:spPr>
          <a:xfrm>
            <a:off x="457200" y="868680"/>
            <a:ext cx="5394960" cy="868680"/>
          </a:xfrm>
          <a:prstGeom prst="rect">
            <a:avLst/>
          </a:prstGeom>
          <a:noFill/>
        </p:spPr>
        <p:txBody>
          <a:bodyPr wrap="square" anchor="t" lIns="0" rIns="0" tIns="0" bIns="0">
            <a:spAutoFit/>
          </a:bodyPr>
          <a:lstStyle/>
          <a:p>
            <a:pPr algn="l"/>
            <a:r>
              <a:rPr sz="2400" b="1" i="0">
                <a:solidFill>
                  <a:srgbClr val="1B2A4A"/>
                </a:solidFill>
                <a:latin typeface="Calibri"/>
              </a:rPr>
              <a:t>Talab va taklif — bozor mexanizmining asosi</a:t>
            </a:r>
          </a:p>
        </p:txBody>
      </p:sp>
      <p:sp>
        <p:nvSpPr>
          <p:cNvPr id="4" name="Rectangle 3"/>
          <p:cNvSpPr/>
          <p:nvPr/>
        </p:nvSpPr>
        <p:spPr>
          <a:xfrm>
            <a:off x="475488" y="1645920"/>
            <a:ext cx="914400"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74519"/>
            <a:ext cx="5349240" cy="2286000"/>
          </a:xfrm>
          <a:prstGeom prst="rect">
            <a:avLst/>
          </a:prstGeom>
          <a:noFill/>
        </p:spPr>
        <p:txBody>
          <a:bodyPr wrap="square" anchor="t" lIns="0" rIns="0" tIns="0" bIns="0">
            <a:spAutoFit/>
          </a:bodyPr>
          <a:lstStyle/>
          <a:p>
            <a:pPr algn="l"/>
            <a:r>
              <a:rPr sz="1300" b="0" i="0">
                <a:solidFill>
                  <a:srgbClr val="333A4A"/>
                </a:solidFill>
                <a:latin typeface="Calibri"/>
              </a:rPr>
              <a:t>Talab qonuni: narx oshsa, xarid qilish hajmi kamayadi. Taklif qonuni: narx oshsa, ishlab chiqaruvchilar ko'proq mahsulot taklif qiladi. Bu ikki kuch kesishgan nuqta muvozanat narxi (equilibrium price) deb ataladi — bunday narxda bozorda na tanqislik, na ortiqcha mahsulot qoladi. Masalan, 2022-yilda bug'doy narxi ko'tarilganda O'zbekiston bozorida import hajmi oshib, narx asta-sekin barqarorlashdi.</a:t>
            </a:r>
          </a:p>
        </p:txBody>
      </p:sp>
      <p:sp>
        <p:nvSpPr>
          <p:cNvPr id="6" name="Rounded Rectangle 5"/>
          <p:cNvSpPr/>
          <p:nvPr/>
        </p:nvSpPr>
        <p:spPr>
          <a:xfrm>
            <a:off x="365760" y="4251960"/>
            <a:ext cx="5486400" cy="1920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434840"/>
            <a:ext cx="5120640" cy="1600200"/>
          </a:xfrm>
          <a:prstGeom prst="rect">
            <a:avLst/>
          </a:prstGeom>
          <a:noFill/>
        </p:spPr>
        <p:txBody>
          <a:bodyPr wrap="square" anchor="t" lIns="0" rIns="0" tIns="0" bIns="0">
            <a:spAutoFit/>
          </a:bodyPr>
          <a:lstStyle/>
          <a:p>
            <a:pPr algn="l"/>
            <a:r>
              <a:rPr sz="1300" b="0" i="0">
                <a:solidFill>
                  <a:srgbClr val="333A4A"/>
                </a:solidFill>
                <a:latin typeface="Calibri"/>
              </a:rPr>
              <a:t>Engel qonuni: daromad oshgani sari oziq-ovqatga sarflanadigan mablag' ulushi kamayib boradi. Shu bois uy xo'jaligi xarajatlarining tarkibi mamlakat farovonlik darajasini baholovchi dolzarb ko'rsatkich hisoblanadi.</a:t>
            </a:r>
          </a:p>
        </p:txBody>
      </p:sp>
      <p:graphicFrame>
        <p:nvGraphicFramePr>
          <p:cNvPr id="8" name="Chart 7"/>
          <p:cNvGraphicFramePr>
            <a:graphicFrameLocks noGrp="1"/>
          </p:cNvGraphicFramePr>
          <p:nvPr/>
        </p:nvGraphicFramePr>
        <p:xfrm>
          <a:off x="6126480" y="1463040"/>
          <a:ext cx="5760720" cy="4297680"/>
        </p:xfrm>
        <a:graphic>
          <a:graphicData uri="http://schemas.openxmlformats.org/drawingml/2006/chart">
            <c:chart xmlns:c="http://schemas.openxmlformats.org/drawingml/2006/chart" r:id="rId2"/>
          </a:graphicData>
        </a:graphic>
      </p:graphicFrame>
      <p:sp>
        <p:nvSpPr>
          <p:cNvPr id="9" name="TextBox 8"/>
          <p:cNvSpPr txBox="1"/>
          <p:nvPr/>
        </p:nvSpPr>
        <p:spPr>
          <a:xfrm>
            <a:off x="6126480" y="5833872"/>
            <a:ext cx="5760720" cy="320040"/>
          </a:xfrm>
          <a:prstGeom prst="rect">
            <a:avLst/>
          </a:prstGeom>
          <a:noFill/>
        </p:spPr>
        <p:txBody>
          <a:bodyPr wrap="square">
            <a:spAutoFit/>
          </a:bodyPr>
          <a:lstStyle/>
          <a:p>
            <a:pPr algn="ctr"/>
            <a:r>
              <a:rPr sz="1100" i="1">
                <a:solidFill>
                  <a:srgbClr val="555555"/>
                </a:solidFill>
                <a:latin typeface="Calibri"/>
              </a:rPr>
              <a:t>📊 O'zbekiston uy xo'jaliklarining iste'mol xarajatlari tarkibi (%, 2023-yil, taxminiy ma'lumotlar). Oziq-ovqat ulushining yuqoriligi Engel qonunini yaqqol ko'rsatadi.</a:t>
            </a:r>
          </a:p>
        </p:txBody>
      </p:sp>
      <p:sp>
        <p:nvSpPr>
          <p:cNvPr id="10" name="TextBox 9"/>
          <p:cNvSpPr txBox="1"/>
          <p:nvPr/>
        </p:nvSpPr>
        <p:spPr>
          <a:xfrm>
            <a:off x="6126480" y="5897880"/>
            <a:ext cx="5760720" cy="457200"/>
          </a:xfrm>
          <a:prstGeom prst="rect">
            <a:avLst/>
          </a:prstGeom>
          <a:noFill/>
        </p:spPr>
        <p:txBody>
          <a:bodyPr wrap="square" anchor="t" lIns="0" rIns="0" tIns="0" bIns="0">
            <a:spAutoFit/>
          </a:bodyPr>
          <a:lstStyle/>
          <a:p>
            <a:pPr algn="l"/>
            <a:r>
              <a:rPr sz="1300" b="0" i="0">
                <a:solidFill>
                  <a:srgbClr val="6A7386"/>
                </a:solidFill>
                <a:latin typeface="Calibri"/>
              </a:rPr>
              <a:t>Manba: Davlat statistika qo'mitasi ma'lumotlari asosida taxminiy taqsimot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00200"/>
            <a:ext cx="12191695"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1247120" cy="640080"/>
          </a:xfrm>
          <a:prstGeom prst="rect">
            <a:avLst/>
          </a:prstGeom>
          <a:noFill/>
        </p:spPr>
        <p:txBody>
          <a:bodyPr wrap="square" anchor="t" lIns="0" rIns="0" tIns="0" bIns="0">
            <a:spAutoFit/>
          </a:bodyPr>
          <a:lstStyle/>
          <a:p>
            <a:pPr algn="l"/>
            <a:r>
              <a:rPr sz="2800" b="1" i="0">
                <a:solidFill>
                  <a:srgbClr val="FFFFFF"/>
                </a:solidFill>
                <a:latin typeface="Calibri"/>
              </a:rPr>
              <a:t>Bozor tuzilmalari: raqobatdan monopoliyagacha</a:t>
            </a:r>
          </a:p>
        </p:txBody>
      </p:sp>
      <p:sp>
        <p:nvSpPr>
          <p:cNvPr id="5" name="TextBox 4"/>
          <p:cNvSpPr txBox="1"/>
          <p:nvPr/>
        </p:nvSpPr>
        <p:spPr>
          <a:xfrm>
            <a:off x="457200" y="932688"/>
            <a:ext cx="11247120" cy="548640"/>
          </a:xfrm>
          <a:prstGeom prst="rect">
            <a:avLst/>
          </a:prstGeom>
          <a:noFill/>
        </p:spPr>
        <p:txBody>
          <a:bodyPr wrap="square" anchor="t" lIns="0" rIns="0" tIns="0" bIns="0">
            <a:spAutoFit/>
          </a:bodyPr>
          <a:lstStyle/>
          <a:p>
            <a:pPr algn="l"/>
            <a:r>
              <a:rPr sz="1300" b="0" i="0">
                <a:solidFill>
                  <a:srgbClr val="D6DCE8"/>
                </a:solidFill>
                <a:latin typeface="Calibri"/>
              </a:rPr>
              <a:t>Firma soni, mahsulot farqlanishi va narxga ta'sir kuchiga ko'ra bozorlar to'rt asosiy turga ajratiladi — har birining o'z qoidalari, kuchli va zaif tomonlari bor.</a:t>
            </a:r>
          </a:p>
        </p:txBody>
      </p:sp>
      <p:sp>
        <p:nvSpPr>
          <p:cNvPr id="6" name="Rectangle 5"/>
          <p:cNvSpPr/>
          <p:nvPr/>
        </p:nvSpPr>
        <p:spPr>
          <a:xfrm>
            <a:off x="320040" y="1920240"/>
            <a:ext cx="274320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920240"/>
            <a:ext cx="2743200" cy="109728"/>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7200" y="21762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31136"/>
            <a:ext cx="457200" cy="347472"/>
          </a:xfrm>
          <a:prstGeom prst="rect">
            <a:avLst/>
          </a:prstGeom>
          <a:noFill/>
        </p:spPr>
        <p:txBody>
          <a:bodyPr wrap="square" anchor="t" lIns="0" rIns="0" tIns="0" bIns="0">
            <a:spAutoFit/>
          </a:bodyPr>
          <a:lstStyle/>
          <a:p>
            <a:pPr algn="ctr"/>
            <a:r>
              <a:rPr sz="1600" b="1" i="0">
                <a:solidFill>
                  <a:srgbClr val="FFFFFF"/>
                </a:solidFill>
                <a:latin typeface="Calibri"/>
              </a:rPr>
              <a:t>1</a:t>
            </a:r>
          </a:p>
        </p:txBody>
      </p:sp>
      <p:sp>
        <p:nvSpPr>
          <p:cNvPr id="10" name="TextBox 9"/>
          <p:cNvSpPr txBox="1"/>
          <p:nvPr/>
        </p:nvSpPr>
        <p:spPr>
          <a:xfrm>
            <a:off x="1024128" y="2212848"/>
            <a:ext cx="1920240" cy="411480"/>
          </a:xfrm>
          <a:prstGeom prst="rect">
            <a:avLst/>
          </a:prstGeom>
          <a:noFill/>
        </p:spPr>
        <p:txBody>
          <a:bodyPr wrap="square" anchor="t" lIns="0" rIns="0" tIns="0" bIns="0">
            <a:spAutoFit/>
          </a:bodyPr>
          <a:lstStyle/>
          <a:p>
            <a:pPr algn="l"/>
            <a:r>
              <a:rPr sz="1500" b="1" i="0">
                <a:solidFill>
                  <a:srgbClr val="1B2A4A"/>
                </a:solidFill>
                <a:latin typeface="Calibri"/>
              </a:rPr>
              <a:t>To'liq raqobat</a:t>
            </a:r>
          </a:p>
        </p:txBody>
      </p:sp>
      <p:sp>
        <p:nvSpPr>
          <p:cNvPr id="11" name="TextBox 10"/>
          <p:cNvSpPr txBox="1"/>
          <p:nvPr/>
        </p:nvSpPr>
        <p:spPr>
          <a:xfrm>
            <a:off x="484632" y="2788920"/>
            <a:ext cx="2414016" cy="3566160"/>
          </a:xfrm>
          <a:prstGeom prst="rect">
            <a:avLst/>
          </a:prstGeom>
          <a:noFill/>
        </p:spPr>
        <p:txBody>
          <a:bodyPr wrap="square" anchor="t" lIns="0" rIns="0" tIns="0" bIns="0">
            <a:spAutoFit/>
          </a:bodyPr>
          <a:lstStyle/>
          <a:p>
            <a:pPr algn="l"/>
            <a:r>
              <a:rPr sz="1300" b="0" i="0">
                <a:solidFill>
                  <a:srgbClr val="3A4456"/>
                </a:solidFill>
                <a:latin typeface="Calibri"/>
              </a:rPr>
              <a:t>• Sotuvchilar juda ko'p, mahsulot bir xil</a:t>
            </a:r>
          </a:p>
          <a:p>
            <a:pPr algn="l"/>
            <a:r>
              <a:rPr sz="1300" b="0" i="0">
                <a:solidFill>
                  <a:srgbClr val="3A4456"/>
                </a:solidFill>
                <a:latin typeface="Calibri"/>
              </a:rPr>
              <a:t>• Narxni faqat bozor belgilaydi</a:t>
            </a:r>
          </a:p>
          <a:p>
            <a:pPr algn="l"/>
            <a:r>
              <a:rPr sz="1300" b="0" i="0">
                <a:solidFill>
                  <a:srgbClr val="3A4456"/>
                </a:solidFill>
                <a:latin typeface="Calibri"/>
              </a:rPr>
              <a:t>• Bozorga kirish va chiqish erkin</a:t>
            </a:r>
          </a:p>
          <a:p>
            <a:pPr algn="l"/>
            <a:r>
              <a:rPr sz="1300" b="0" i="0">
                <a:solidFill>
                  <a:srgbClr val="3A4456"/>
                </a:solidFill>
                <a:latin typeface="Calibri"/>
              </a:rPr>
              <a:t>• Alohida firma narxga ta'sir qila olmaydi</a:t>
            </a:r>
          </a:p>
          <a:p>
            <a:pPr algn="l"/>
            <a:r>
              <a:rPr sz="1300" b="0" i="0">
                <a:solidFill>
                  <a:srgbClr val="3A4456"/>
                </a:solidFill>
                <a:latin typeface="Calibri"/>
              </a:rPr>
              <a:t>Misol: don va sabzavot kabi qishloq xo'jaligi mahsulotlari ulgurji bozorlari.</a:t>
            </a:r>
          </a:p>
        </p:txBody>
      </p:sp>
      <p:sp>
        <p:nvSpPr>
          <p:cNvPr id="12" name="Rectangle 11"/>
          <p:cNvSpPr/>
          <p:nvPr/>
        </p:nvSpPr>
        <p:spPr>
          <a:xfrm>
            <a:off x="3246120" y="1920240"/>
            <a:ext cx="274320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920240"/>
            <a:ext cx="2743200" cy="109728"/>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83280" y="21762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2231136"/>
            <a:ext cx="457200" cy="347472"/>
          </a:xfrm>
          <a:prstGeom prst="rect">
            <a:avLst/>
          </a:prstGeom>
          <a:noFill/>
        </p:spPr>
        <p:txBody>
          <a:bodyPr wrap="square" anchor="t" lIns="0" rIns="0" tIns="0" bIns="0">
            <a:spAutoFit/>
          </a:bodyPr>
          <a:lstStyle/>
          <a:p>
            <a:pPr algn="ctr"/>
            <a:r>
              <a:rPr sz="1600" b="1" i="0">
                <a:solidFill>
                  <a:srgbClr val="FFFFFF"/>
                </a:solidFill>
                <a:latin typeface="Calibri"/>
              </a:rPr>
              <a:t>2</a:t>
            </a:r>
          </a:p>
        </p:txBody>
      </p:sp>
      <p:sp>
        <p:nvSpPr>
          <p:cNvPr id="16" name="TextBox 15"/>
          <p:cNvSpPr txBox="1"/>
          <p:nvPr/>
        </p:nvSpPr>
        <p:spPr>
          <a:xfrm>
            <a:off x="3950208" y="2212848"/>
            <a:ext cx="1920240" cy="411480"/>
          </a:xfrm>
          <a:prstGeom prst="rect">
            <a:avLst/>
          </a:prstGeom>
          <a:noFill/>
        </p:spPr>
        <p:txBody>
          <a:bodyPr wrap="square" anchor="t" lIns="0" rIns="0" tIns="0" bIns="0">
            <a:spAutoFit/>
          </a:bodyPr>
          <a:lstStyle/>
          <a:p>
            <a:pPr algn="l"/>
            <a:r>
              <a:rPr sz="1400" b="1" i="0">
                <a:solidFill>
                  <a:srgbClr val="1B2A4A"/>
                </a:solidFill>
                <a:latin typeface="Calibri"/>
              </a:rPr>
              <a:t>Monopolistik raqobat</a:t>
            </a:r>
          </a:p>
        </p:txBody>
      </p:sp>
      <p:sp>
        <p:nvSpPr>
          <p:cNvPr id="17" name="TextBox 16"/>
          <p:cNvSpPr txBox="1"/>
          <p:nvPr/>
        </p:nvSpPr>
        <p:spPr>
          <a:xfrm>
            <a:off x="3410712" y="2788920"/>
            <a:ext cx="2414016" cy="3566160"/>
          </a:xfrm>
          <a:prstGeom prst="rect">
            <a:avLst/>
          </a:prstGeom>
          <a:noFill/>
        </p:spPr>
        <p:txBody>
          <a:bodyPr wrap="square" anchor="t" lIns="0" rIns="0" tIns="0" bIns="0">
            <a:spAutoFit/>
          </a:bodyPr>
          <a:lstStyle/>
          <a:p>
            <a:pPr algn="l"/>
            <a:r>
              <a:rPr sz="1300" b="0" i="0">
                <a:solidFill>
                  <a:srgbClr val="3A4456"/>
                </a:solidFill>
                <a:latin typeface="Calibri"/>
              </a:rPr>
              <a:t>• Firmalar ko'p, mahsulot farqlangan</a:t>
            </a:r>
          </a:p>
          <a:p>
            <a:pPr algn="l"/>
            <a:r>
              <a:rPr sz="1300" b="0" i="0">
                <a:solidFill>
                  <a:srgbClr val="3A4456"/>
                </a:solidFill>
                <a:latin typeface="Calibri"/>
              </a:rPr>
              <a:t>• Brend va reklama hal qiluvchi rol o'ynaydi</a:t>
            </a:r>
          </a:p>
          <a:p>
            <a:pPr algn="l"/>
            <a:r>
              <a:rPr sz="1300" b="0" i="0">
                <a:solidFill>
                  <a:srgbClr val="3A4456"/>
                </a:solidFill>
                <a:latin typeface="Calibri"/>
              </a:rPr>
              <a:t>• Narxga cheklangan ta'sir imkoniyati bor</a:t>
            </a:r>
          </a:p>
          <a:p>
            <a:pPr algn="l"/>
            <a:r>
              <a:rPr sz="1300" b="0" i="0">
                <a:solidFill>
                  <a:srgbClr val="3A4456"/>
                </a:solidFill>
                <a:latin typeface="Calibri"/>
              </a:rPr>
              <a:t>• Kirish to'siqlari nisbatan past</a:t>
            </a:r>
          </a:p>
          <a:p>
            <a:pPr algn="l"/>
            <a:r>
              <a:rPr sz="1300" b="0" i="0">
                <a:solidFill>
                  <a:srgbClr val="3A4456"/>
                </a:solidFill>
                <a:latin typeface="Calibri"/>
              </a:rPr>
              <a:t>Misol: restoranlar, kiyim brendlari, kosmetika va fast-fud bozori.</a:t>
            </a:r>
          </a:p>
        </p:txBody>
      </p:sp>
      <p:sp>
        <p:nvSpPr>
          <p:cNvPr id="18" name="Rectangle 17"/>
          <p:cNvSpPr/>
          <p:nvPr/>
        </p:nvSpPr>
        <p:spPr>
          <a:xfrm>
            <a:off x="6172200" y="1920240"/>
            <a:ext cx="274320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920240"/>
            <a:ext cx="2743200" cy="109728"/>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09360" y="21762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31136"/>
            <a:ext cx="457200" cy="347472"/>
          </a:xfrm>
          <a:prstGeom prst="rect">
            <a:avLst/>
          </a:prstGeom>
          <a:noFill/>
        </p:spPr>
        <p:txBody>
          <a:bodyPr wrap="square" anchor="t" lIns="0" rIns="0" tIns="0" bIns="0">
            <a:spAutoFit/>
          </a:bodyPr>
          <a:lstStyle/>
          <a:p>
            <a:pPr algn="ctr"/>
            <a:r>
              <a:rPr sz="1600" b="1" i="0">
                <a:solidFill>
                  <a:srgbClr val="FFFFFF"/>
                </a:solidFill>
                <a:latin typeface="Calibri"/>
              </a:rPr>
              <a:t>3</a:t>
            </a:r>
          </a:p>
        </p:txBody>
      </p:sp>
      <p:sp>
        <p:nvSpPr>
          <p:cNvPr id="22" name="TextBox 21"/>
          <p:cNvSpPr txBox="1"/>
          <p:nvPr/>
        </p:nvSpPr>
        <p:spPr>
          <a:xfrm>
            <a:off x="6876288" y="2212848"/>
            <a:ext cx="1920240" cy="411480"/>
          </a:xfrm>
          <a:prstGeom prst="rect">
            <a:avLst/>
          </a:prstGeom>
          <a:noFill/>
        </p:spPr>
        <p:txBody>
          <a:bodyPr wrap="square" anchor="t" lIns="0" rIns="0" tIns="0" bIns="0">
            <a:spAutoFit/>
          </a:bodyPr>
          <a:lstStyle/>
          <a:p>
            <a:pPr algn="l"/>
            <a:r>
              <a:rPr sz="1500" b="1" i="0">
                <a:solidFill>
                  <a:srgbClr val="1B2A4A"/>
                </a:solidFill>
                <a:latin typeface="Calibri"/>
              </a:rPr>
              <a:t>Oligopoliya</a:t>
            </a:r>
          </a:p>
        </p:txBody>
      </p:sp>
      <p:sp>
        <p:nvSpPr>
          <p:cNvPr id="23" name="TextBox 22"/>
          <p:cNvSpPr txBox="1"/>
          <p:nvPr/>
        </p:nvSpPr>
        <p:spPr>
          <a:xfrm>
            <a:off x="6336792" y="2788920"/>
            <a:ext cx="2414016" cy="3566160"/>
          </a:xfrm>
          <a:prstGeom prst="rect">
            <a:avLst/>
          </a:prstGeom>
          <a:noFill/>
        </p:spPr>
        <p:txBody>
          <a:bodyPr wrap="square" anchor="t" lIns="0" rIns="0" tIns="0" bIns="0">
            <a:spAutoFit/>
          </a:bodyPr>
          <a:lstStyle/>
          <a:p>
            <a:pPr algn="l"/>
            <a:r>
              <a:rPr sz="1300" b="0" i="0">
                <a:solidFill>
                  <a:srgbClr val="3A4456"/>
                </a:solidFill>
                <a:latin typeface="Calibri"/>
              </a:rPr>
              <a:t>• Bozorni bir necha yirik firma bo'lishadi</a:t>
            </a:r>
          </a:p>
          <a:p>
            <a:pPr algn="l"/>
            <a:r>
              <a:rPr sz="1300" b="0" i="0">
                <a:solidFill>
                  <a:srgbClr val="3A4456"/>
                </a:solidFill>
                <a:latin typeface="Calibri"/>
              </a:rPr>
              <a:t>• Firmalar qarorlari o'zaro bog'liq</a:t>
            </a:r>
          </a:p>
          <a:p>
            <a:pPr algn="l"/>
            <a:r>
              <a:rPr sz="1300" b="0" i="0">
                <a:solidFill>
                  <a:srgbClr val="3A4456"/>
                </a:solidFill>
                <a:latin typeface="Calibri"/>
              </a:rPr>
              <a:t>• Kirish to'siqlari yuqori (kapital, texnologiya)</a:t>
            </a:r>
          </a:p>
          <a:p>
            <a:pPr algn="l"/>
            <a:r>
              <a:rPr sz="1300" b="0" i="0">
                <a:solidFill>
                  <a:srgbClr val="3A4456"/>
                </a:solidFill>
                <a:latin typeface="Calibri"/>
              </a:rPr>
              <a:t>• Narx urushlari va kelishuvlar kuzatiladi</a:t>
            </a:r>
          </a:p>
          <a:p>
            <a:pPr algn="l"/>
            <a:r>
              <a:rPr sz="1300" b="0" i="0">
                <a:solidFill>
                  <a:srgbClr val="3A4456"/>
                </a:solidFill>
                <a:latin typeface="Calibri"/>
              </a:rPr>
              <a:t>Misol: mobil aloqa operatorlari, aviatsiya va avtomobil sanoati.</a:t>
            </a:r>
          </a:p>
        </p:txBody>
      </p:sp>
      <p:sp>
        <p:nvSpPr>
          <p:cNvPr id="24" name="Rectangle 23"/>
          <p:cNvSpPr/>
          <p:nvPr/>
        </p:nvSpPr>
        <p:spPr>
          <a:xfrm>
            <a:off x="9098280" y="1920240"/>
            <a:ext cx="274320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280" y="1920240"/>
            <a:ext cx="2743200" cy="109728"/>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35440" y="21762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231136"/>
            <a:ext cx="457200" cy="347472"/>
          </a:xfrm>
          <a:prstGeom prst="rect">
            <a:avLst/>
          </a:prstGeom>
          <a:noFill/>
        </p:spPr>
        <p:txBody>
          <a:bodyPr wrap="square" anchor="t" lIns="0" rIns="0" tIns="0" bIns="0">
            <a:spAutoFit/>
          </a:bodyPr>
          <a:lstStyle/>
          <a:p>
            <a:pPr algn="ctr"/>
            <a:r>
              <a:rPr sz="1600" b="1" i="0">
                <a:solidFill>
                  <a:srgbClr val="FFFFFF"/>
                </a:solidFill>
                <a:latin typeface="Calibri"/>
              </a:rPr>
              <a:t>4</a:t>
            </a:r>
          </a:p>
        </p:txBody>
      </p:sp>
      <p:sp>
        <p:nvSpPr>
          <p:cNvPr id="28" name="TextBox 27"/>
          <p:cNvSpPr txBox="1"/>
          <p:nvPr/>
        </p:nvSpPr>
        <p:spPr>
          <a:xfrm>
            <a:off x="9802368" y="2212848"/>
            <a:ext cx="1920240" cy="411480"/>
          </a:xfrm>
          <a:prstGeom prst="rect">
            <a:avLst/>
          </a:prstGeom>
          <a:noFill/>
        </p:spPr>
        <p:txBody>
          <a:bodyPr wrap="square" anchor="t" lIns="0" rIns="0" tIns="0" bIns="0">
            <a:spAutoFit/>
          </a:bodyPr>
          <a:lstStyle/>
          <a:p>
            <a:pPr algn="l"/>
            <a:r>
              <a:rPr sz="1500" b="1" i="0">
                <a:solidFill>
                  <a:srgbClr val="1B2A4A"/>
                </a:solidFill>
                <a:latin typeface="Calibri"/>
              </a:rPr>
              <a:t>Monopoliya</a:t>
            </a:r>
          </a:p>
        </p:txBody>
      </p:sp>
      <p:sp>
        <p:nvSpPr>
          <p:cNvPr id="29" name="TextBox 28"/>
          <p:cNvSpPr txBox="1"/>
          <p:nvPr/>
        </p:nvSpPr>
        <p:spPr>
          <a:xfrm>
            <a:off x="9262872" y="2788920"/>
            <a:ext cx="2414016" cy="3566160"/>
          </a:xfrm>
          <a:prstGeom prst="rect">
            <a:avLst/>
          </a:prstGeom>
          <a:noFill/>
        </p:spPr>
        <p:txBody>
          <a:bodyPr wrap="square" anchor="t" lIns="0" rIns="0" tIns="0" bIns="0">
            <a:spAutoFit/>
          </a:bodyPr>
          <a:lstStyle/>
          <a:p>
            <a:pPr algn="l"/>
            <a:r>
              <a:rPr sz="1300" b="0" i="0">
                <a:solidFill>
                  <a:srgbClr val="3A4456"/>
                </a:solidFill>
                <a:latin typeface="Calibri"/>
              </a:rPr>
              <a:t>• Yagona sotuvchi, o'rnini bosuvchi mahsulot yo'q</a:t>
            </a:r>
          </a:p>
          <a:p>
            <a:pPr algn="l"/>
            <a:r>
              <a:rPr sz="1300" b="0" i="0">
                <a:solidFill>
                  <a:srgbClr val="3A4456"/>
                </a:solidFill>
                <a:latin typeface="Calibri"/>
              </a:rPr>
              <a:t>• Narxni firma o'zi belgilaydi</a:t>
            </a:r>
          </a:p>
          <a:p>
            <a:pPr algn="l"/>
            <a:r>
              <a:rPr sz="1300" b="0" i="0">
                <a:solidFill>
                  <a:srgbClr val="3A4456"/>
                </a:solidFill>
                <a:latin typeface="Calibri"/>
              </a:rPr>
              <a:t>• Bozorga kirish deyarli yopiq</a:t>
            </a:r>
          </a:p>
          <a:p>
            <a:pPr algn="l"/>
            <a:r>
              <a:rPr sz="1300" b="0" i="0">
                <a:solidFill>
                  <a:srgbClr val="3A4456"/>
                </a:solidFill>
                <a:latin typeface="Calibri"/>
              </a:rPr>
              <a:t>• Davlat tomonidan tartibga solinadi</a:t>
            </a:r>
          </a:p>
          <a:p>
            <a:pPr algn="l"/>
            <a:r>
              <a:rPr sz="1300" b="0" i="0">
                <a:solidFill>
                  <a:srgbClr val="3A4456"/>
                </a:solidFill>
                <a:latin typeface="Calibri"/>
              </a:rPr>
              <a:t>Misol: temir yo'l, elektr va suv ta'minoti kabi tabiiy monopoliyalar.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6400800" cy="640080"/>
          </a:xfrm>
          <a:prstGeom prst="rect">
            <a:avLst/>
          </a:prstGeom>
          <a:noFill/>
        </p:spPr>
        <p:txBody>
          <a:bodyPr wrap="square" anchor="t" lIns="0" rIns="0" tIns="0" bIns="0">
            <a:spAutoFit/>
          </a:bodyPr>
          <a:lstStyle/>
          <a:p>
            <a:pPr algn="l"/>
            <a:r>
              <a:rPr sz="2800" b="1" i="0">
                <a:solidFill>
                  <a:srgbClr val="1B2A4A"/>
                </a:solidFill>
                <a:latin typeface="Calibri"/>
              </a:rPr>
              <a:t>Yalpi ichki mahsulot (YaIM)</a:t>
            </a:r>
          </a:p>
        </p:txBody>
      </p:sp>
      <p:sp>
        <p:nvSpPr>
          <p:cNvPr id="4" name="TextBox 3"/>
          <p:cNvSpPr txBox="1"/>
          <p:nvPr/>
        </p:nvSpPr>
        <p:spPr>
          <a:xfrm>
            <a:off x="457200" y="1051560"/>
            <a:ext cx="5303520" cy="365760"/>
          </a:xfrm>
          <a:prstGeom prst="rect">
            <a:avLst/>
          </a:prstGeom>
          <a:noFill/>
        </p:spPr>
        <p:txBody>
          <a:bodyPr wrap="square" anchor="t" lIns="0" rIns="0" tIns="0" bIns="0">
            <a:spAutoFit/>
          </a:bodyPr>
          <a:lstStyle/>
          <a:p>
            <a:pPr algn="l"/>
            <a:r>
              <a:rPr sz="1300" b="1" i="0">
                <a:solidFill>
                  <a:srgbClr val="E8A020"/>
                </a:solidFill>
                <a:latin typeface="Calibri"/>
              </a:rPr>
              <a:t>Milliy iqtisodiyotning asosiy o'lchovi</a:t>
            </a:r>
          </a:p>
        </p:txBody>
      </p:sp>
      <p:sp>
        <p:nvSpPr>
          <p:cNvPr id="5" name="TextBox 4"/>
          <p:cNvSpPr txBox="1"/>
          <p:nvPr/>
        </p:nvSpPr>
        <p:spPr>
          <a:xfrm>
            <a:off x="457200" y="1508760"/>
            <a:ext cx="5212080" cy="1965960"/>
          </a:xfrm>
          <a:prstGeom prst="rect">
            <a:avLst/>
          </a:prstGeom>
          <a:noFill/>
        </p:spPr>
        <p:txBody>
          <a:bodyPr wrap="square" anchor="t" lIns="0" rIns="0" tIns="0" bIns="0">
            <a:spAutoFit/>
          </a:bodyPr>
          <a:lstStyle/>
          <a:p>
            <a:pPr algn="l"/>
            <a:r>
              <a:rPr sz="1300" b="0" i="0">
                <a:solidFill>
                  <a:srgbClr val="2A3242"/>
                </a:solidFill>
                <a:latin typeface="Calibri"/>
              </a:rPr>
              <a:t>YaIM — mamlakat hududida ma'lum davr (odatda bir yil) ichida ishlab chiqarilgan barcha yakuniy tovar va xizmatlarning bozor qiymati. U uchta usulda hisoblanadi: ishlab chiqarish usuli (qo'shilgan qiymatlar yig'indisi), daromadlar usuli (ish haqi, foyda, renta va foizlar yig'indisi) hamda xarajatlar usuli. Nazariy jihatdan uchala usul bir xil natija beradi, chunki iqtisodiyotda har bir xarajat kimningdir daromadidir.</a:t>
            </a:r>
          </a:p>
        </p:txBody>
      </p:sp>
      <p:sp>
        <p:nvSpPr>
          <p:cNvPr id="6" name="TextBox 5"/>
          <p:cNvSpPr txBox="1"/>
          <p:nvPr/>
        </p:nvSpPr>
        <p:spPr>
          <a:xfrm>
            <a:off x="457200" y="3474720"/>
            <a:ext cx="5212080" cy="2286000"/>
          </a:xfrm>
          <a:prstGeom prst="rect">
            <a:avLst/>
          </a:prstGeom>
          <a:noFill/>
        </p:spPr>
        <p:txBody>
          <a:bodyPr wrap="square" anchor="t" lIns="0" rIns="0" tIns="0" bIns="0">
            <a:spAutoFit/>
          </a:bodyPr>
          <a:lstStyle/>
          <a:p>
            <a:pPr algn="l"/>
            <a:r>
              <a:rPr sz="1300" b="0" i="0">
                <a:solidFill>
                  <a:srgbClr val="2A3242"/>
                </a:solidFill>
                <a:latin typeface="Calibri"/>
              </a:rPr>
              <a:t>Amaliyotda eng ko'p qo'llaniladigan — xarajatlar usuli:</a:t>
            </a:r>
          </a:p>
          <a:p>
            <a:pPr algn="l"/>
            <a:r>
              <a:rPr sz="1300" b="0" i="0">
                <a:solidFill>
                  <a:srgbClr val="2A3242"/>
                </a:solidFill>
                <a:latin typeface="Calibri"/>
              </a:rPr>
              <a:t>• C — uy xo'jaliklarining iste'mol xarajatlari</a:t>
            </a:r>
          </a:p>
          <a:p>
            <a:pPr algn="l"/>
            <a:r>
              <a:rPr sz="1300" b="0" i="0">
                <a:solidFill>
                  <a:srgbClr val="2A3242"/>
                </a:solidFill>
                <a:latin typeface="Calibri"/>
              </a:rPr>
              <a:t>• I — firmalarning investitsiya xarajatlari</a:t>
            </a:r>
          </a:p>
          <a:p>
            <a:pPr algn="l"/>
            <a:r>
              <a:rPr sz="1300" b="0" i="0">
                <a:solidFill>
                  <a:srgbClr val="2A3242"/>
                </a:solidFill>
                <a:latin typeface="Calibri"/>
              </a:rPr>
              <a:t>• G — davlatning tovar va xizmat xaridlari</a:t>
            </a:r>
          </a:p>
          <a:p>
            <a:pPr algn="l"/>
            <a:r>
              <a:rPr sz="1300" b="0" i="0">
                <a:solidFill>
                  <a:srgbClr val="2A3242"/>
                </a:solidFill>
                <a:latin typeface="Calibri"/>
              </a:rPr>
              <a:t>• NX — eksport va import farqi (sof eksport)</a:t>
            </a:r>
          </a:p>
          <a:p>
            <a:pPr algn="l"/>
            <a:r>
              <a:rPr sz="1300" b="0" i="0">
                <a:solidFill>
                  <a:srgbClr val="2A3242"/>
                </a:solidFill>
                <a:latin typeface="Calibri"/>
              </a:rPr>
              <a:t>Formula: YaIM = C + I + G + NX</a:t>
            </a:r>
          </a:p>
        </p:txBody>
      </p:sp>
      <p:sp>
        <p:nvSpPr>
          <p:cNvPr id="7" name="Rounded Rectangle 6"/>
          <p:cNvSpPr/>
          <p:nvPr/>
        </p:nvSpPr>
        <p:spPr>
          <a:xfrm>
            <a:off x="457200" y="5943600"/>
            <a:ext cx="5212080" cy="6400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053328"/>
            <a:ext cx="5029200" cy="411480"/>
          </a:xfrm>
          <a:prstGeom prst="rect">
            <a:avLst/>
          </a:prstGeom>
          <a:noFill/>
        </p:spPr>
        <p:txBody>
          <a:bodyPr wrap="square" anchor="t" lIns="0" rIns="0" tIns="0" bIns="0">
            <a:spAutoFit/>
          </a:bodyPr>
          <a:lstStyle/>
          <a:p>
            <a:pPr algn="ctr"/>
            <a:r>
              <a:rPr sz="1250" b="1" i="0">
                <a:solidFill>
                  <a:srgbClr val="FFFFFF"/>
                </a:solidFill>
                <a:latin typeface="Calibri"/>
              </a:rPr>
              <a:t>2023-yilda jahon YaIM hajmi — taxminan 105 trillion AQSh dollari</a:t>
            </a:r>
          </a:p>
        </p:txBody>
      </p:sp>
      <p:graphicFrame>
        <p:nvGraphicFramePr>
          <p:cNvPr id="9" name="Chart 8"/>
          <p:cNvGraphicFramePr>
            <a:graphicFrameLocks noGrp="1"/>
          </p:cNvGraphicFramePr>
          <p:nvPr/>
        </p:nvGraphicFramePr>
        <p:xfrm>
          <a:off x="5943600" y="1280160"/>
          <a:ext cx="5943600" cy="4754880"/>
        </p:xfrm>
        <a:graphic>
          <a:graphicData uri="http://schemas.openxmlformats.org/drawingml/2006/chart">
            <c:chart xmlns:c="http://schemas.openxmlformats.org/drawingml/2006/chart" r:id="rId2"/>
          </a:graphicData>
        </a:graphic>
      </p:graphicFrame>
      <p:sp>
        <p:nvSpPr>
          <p:cNvPr id="10" name="TextBox 9"/>
          <p:cNvSpPr txBox="1"/>
          <p:nvPr/>
        </p:nvSpPr>
        <p:spPr>
          <a:xfrm>
            <a:off x="5943600" y="6108192"/>
            <a:ext cx="5943600" cy="320040"/>
          </a:xfrm>
          <a:prstGeom prst="rect">
            <a:avLst/>
          </a:prstGeom>
          <a:noFill/>
        </p:spPr>
        <p:txBody>
          <a:bodyPr wrap="square">
            <a:spAutoFit/>
          </a:bodyPr>
          <a:lstStyle/>
          <a:p>
            <a:pPr algn="ctr"/>
            <a:r>
              <a:rPr sz="1100" i="1">
                <a:solidFill>
                  <a:srgbClr val="555555"/>
                </a:solidFill>
                <a:latin typeface="Calibri"/>
              </a:rPr>
              <a:t>📊 Diagrammada YaIMning xarajatlar usuli bo'yicha tarkibiy qismlarining o'rtacha jahon ulushlari ko'rsatilgan: iste'mol xarajatlari eng katta ulushni (58%) tashkil etadi, keyingi o'rinda investitsiyalar (24%), davlat xarajatlari (15%) va sof eksport (3%) turadi.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lIns="0" rIns="0" tIns="0" bIns="0">
            <a:spAutoFit/>
          </a:bodyPr>
          <a:lstStyle/>
          <a:p>
            <a:pPr algn="ctr"/>
            <a:r>
              <a:rPr sz="2700" b="1" i="0">
                <a:solidFill>
                  <a:srgbClr val="1B2A4A"/>
                </a:solidFill>
                <a:latin typeface="Calibri"/>
              </a:rPr>
              <a:t>Fiskal siyosat va Monetar siyosat: farq nimada?</a:t>
            </a:r>
          </a:p>
        </p:txBody>
      </p:sp>
      <p:sp>
        <p:nvSpPr>
          <p:cNvPr id="3" name="TextBox 2"/>
          <p:cNvSpPr txBox="1"/>
          <p:nvPr/>
        </p:nvSpPr>
        <p:spPr>
          <a:xfrm>
            <a:off x="1097280" y="1005840"/>
            <a:ext cx="9966960" cy="457200"/>
          </a:xfrm>
          <a:prstGeom prst="rect">
            <a:avLst/>
          </a:prstGeom>
          <a:noFill/>
        </p:spPr>
        <p:txBody>
          <a:bodyPr wrap="square" anchor="t" lIns="0" rIns="0" tIns="0" bIns="0">
            <a:spAutoFit/>
          </a:bodyPr>
          <a:lstStyle/>
          <a:p>
            <a:pPr algn="ctr"/>
            <a:r>
              <a:rPr sz="1300" b="0" i="0">
                <a:solidFill>
                  <a:srgbClr val="5A6478"/>
                </a:solidFill>
                <a:latin typeface="Calibri"/>
              </a:rPr>
              <a:t>Ikkalasi ham makroiqtisodiy barqarorlik vositasi, lekin ijrochi instituti, vositalari va ta'sir mexanizmi turlicha.</a:t>
            </a:r>
          </a:p>
        </p:txBody>
      </p:sp>
      <p:sp>
        <p:nvSpPr>
          <p:cNvPr id="4" name="Rectangle 3"/>
          <p:cNvSpPr/>
          <p:nvPr/>
        </p:nvSpPr>
        <p:spPr>
          <a:xfrm>
            <a:off x="365760" y="1463040"/>
            <a:ext cx="5532120" cy="5029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4937760" cy="457200"/>
          </a:xfrm>
          <a:prstGeom prst="rect">
            <a:avLst/>
          </a:prstGeom>
          <a:noFill/>
        </p:spPr>
        <p:txBody>
          <a:bodyPr wrap="square" anchor="t" lIns="0" rIns="0" tIns="0" bIns="0">
            <a:spAutoFit/>
          </a:bodyPr>
          <a:lstStyle/>
          <a:p>
            <a:pPr algn="l"/>
            <a:r>
              <a:rPr sz="1800" b="1" i="0">
                <a:solidFill>
                  <a:srgbClr val="FFFFFF"/>
                </a:solidFill>
                <a:latin typeface="Calibri"/>
              </a:rPr>
              <a:t>FISKAL SIYOSAT</a:t>
            </a:r>
          </a:p>
        </p:txBody>
      </p:sp>
      <p:sp>
        <p:nvSpPr>
          <p:cNvPr id="6" name="Rectangle 5"/>
          <p:cNvSpPr/>
          <p:nvPr/>
        </p:nvSpPr>
        <p:spPr>
          <a:xfrm>
            <a:off x="640080" y="2176272"/>
            <a:ext cx="1097280" cy="4572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77440"/>
            <a:ext cx="5029200" cy="3108960"/>
          </a:xfrm>
          <a:prstGeom prst="rect">
            <a:avLst/>
          </a:prstGeom>
          <a:noFill/>
        </p:spPr>
        <p:txBody>
          <a:bodyPr wrap="square" anchor="t" lIns="0" rIns="0" tIns="0" bIns="0">
            <a:spAutoFit/>
          </a:bodyPr>
          <a:lstStyle/>
          <a:p>
            <a:pPr algn="l"/>
            <a:r>
              <a:rPr sz="1300" b="0" i="0">
                <a:solidFill>
                  <a:srgbClr val="E8ECF4"/>
                </a:solidFill>
                <a:latin typeface="Calibri"/>
              </a:rPr>
              <a:t>• Ijrochi: hukumat va parlament (Moliya vazirligi)</a:t>
            </a:r>
          </a:p>
          <a:p>
            <a:pPr algn="l"/>
            <a:r>
              <a:rPr sz="1300" b="0" i="0">
                <a:solidFill>
                  <a:srgbClr val="E8ECF4"/>
                </a:solidFill>
                <a:latin typeface="Calibri"/>
              </a:rPr>
              <a:t>• Vositalar: soliqlar va davlat xarajatlari</a:t>
            </a:r>
          </a:p>
          <a:p>
            <a:pPr algn="l"/>
            <a:r>
              <a:rPr sz="1300" b="0" i="0">
                <a:solidFill>
                  <a:srgbClr val="E8ECF4"/>
                </a:solidFill>
                <a:latin typeface="Calibri"/>
              </a:rPr>
              <a:t>• Maqsad: byudjet orqali agregat talabni boshqarish</a:t>
            </a:r>
          </a:p>
          <a:p>
            <a:pPr algn="l"/>
            <a:r>
              <a:rPr sz="1300" b="0" i="0">
                <a:solidFill>
                  <a:srgbClr val="E8ECF4"/>
                </a:solidFill>
                <a:latin typeface="Calibri"/>
              </a:rPr>
              <a:t>• Kengaytiruvchi: xarajatlar oshadi, soliqlar kamayadi</a:t>
            </a:r>
          </a:p>
          <a:p>
            <a:pPr algn="l"/>
            <a:r>
              <a:rPr sz="1300" b="0" i="0">
                <a:solidFill>
                  <a:srgbClr val="E8ECF4"/>
                </a:solidFill>
                <a:latin typeface="Calibri"/>
              </a:rPr>
              <a:t>• Toraytiruvchi: xarajatlar qisqaradi, soliqlar oshadi</a:t>
            </a:r>
          </a:p>
          <a:p>
            <a:pPr algn="l"/>
            <a:r>
              <a:rPr sz="1300" b="0" i="0">
                <a:solidFill>
                  <a:srgbClr val="E8ECF4"/>
                </a:solidFill>
                <a:latin typeface="Calibri"/>
              </a:rPr>
              <a:t>Misol: yo'l va maktab qurilishi, subsidiyalar, soliq imtiyozlari.</a:t>
            </a:r>
          </a:p>
        </p:txBody>
      </p:sp>
      <p:sp>
        <p:nvSpPr>
          <p:cNvPr id="8" name="Rounded Rectangle 7"/>
          <p:cNvSpPr/>
          <p:nvPr/>
        </p:nvSpPr>
        <p:spPr>
          <a:xfrm>
            <a:off x="640080" y="5623560"/>
            <a:ext cx="4937760" cy="685800"/>
          </a:xfrm>
          <a:prstGeom prst="round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79008"/>
            <a:ext cx="4754880" cy="365760"/>
          </a:xfrm>
          <a:prstGeom prst="rect">
            <a:avLst/>
          </a:prstGeom>
          <a:noFill/>
        </p:spPr>
        <p:txBody>
          <a:bodyPr wrap="square" anchor="t" lIns="0" rIns="0" tIns="0" bIns="0">
            <a:spAutoFit/>
          </a:bodyPr>
          <a:lstStyle/>
          <a:p>
            <a:pPr algn="ctr"/>
            <a:r>
              <a:rPr sz="1250" b="1" i="0">
                <a:solidFill>
                  <a:srgbClr val="1B2A4A"/>
                </a:solidFill>
                <a:latin typeface="Calibri"/>
              </a:rPr>
              <a:t>Ta'sir ko'rsatish muddati: odatda 6–18 oy</a:t>
            </a:r>
          </a:p>
        </p:txBody>
      </p:sp>
      <p:sp>
        <p:nvSpPr>
          <p:cNvPr id="10" name="Rectangle 9"/>
          <p:cNvSpPr/>
          <p:nvPr/>
        </p:nvSpPr>
        <p:spPr>
          <a:xfrm>
            <a:off x="6035040" y="1463040"/>
            <a:ext cx="54864" cy="5029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463040"/>
            <a:ext cx="5532120" cy="5029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691640"/>
            <a:ext cx="4937760" cy="457200"/>
          </a:xfrm>
          <a:prstGeom prst="rect">
            <a:avLst/>
          </a:prstGeom>
          <a:noFill/>
        </p:spPr>
        <p:txBody>
          <a:bodyPr wrap="square" anchor="t" lIns="0" rIns="0" tIns="0" bIns="0">
            <a:spAutoFit/>
          </a:bodyPr>
          <a:lstStyle/>
          <a:p>
            <a:pPr algn="l"/>
            <a:r>
              <a:rPr sz="1800" b="1" i="0">
                <a:solidFill>
                  <a:srgbClr val="1B2A4A"/>
                </a:solidFill>
                <a:latin typeface="Calibri"/>
              </a:rPr>
              <a:t>MONETAR SIYOSAT</a:t>
            </a:r>
          </a:p>
        </p:txBody>
      </p:sp>
      <p:sp>
        <p:nvSpPr>
          <p:cNvPr id="13" name="Rectangle 12"/>
          <p:cNvSpPr/>
          <p:nvPr/>
        </p:nvSpPr>
        <p:spPr>
          <a:xfrm>
            <a:off x="6583680" y="2176272"/>
            <a:ext cx="1097280" cy="4572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377440"/>
            <a:ext cx="5029200" cy="3108960"/>
          </a:xfrm>
          <a:prstGeom prst="rect">
            <a:avLst/>
          </a:prstGeom>
          <a:noFill/>
        </p:spPr>
        <p:txBody>
          <a:bodyPr wrap="square" anchor="t" lIns="0" rIns="0" tIns="0" bIns="0">
            <a:spAutoFit/>
          </a:bodyPr>
          <a:lstStyle/>
          <a:p>
            <a:pPr algn="l"/>
            <a:r>
              <a:rPr sz="1300" b="0" i="0">
                <a:solidFill>
                  <a:srgbClr val="2A3242"/>
                </a:solidFill>
                <a:latin typeface="Calibri"/>
              </a:rPr>
              <a:t>• Ijrochi: Markaziy bank (mustaqil institut)</a:t>
            </a:r>
          </a:p>
          <a:p>
            <a:pPr algn="l"/>
            <a:r>
              <a:rPr sz="1300" b="0" i="0">
                <a:solidFill>
                  <a:srgbClr val="2A3242"/>
                </a:solidFill>
                <a:latin typeface="Calibri"/>
              </a:rPr>
              <a:t>• Vositalar: asosiy foiz stavkasi, ochiq bozor operatsiyalari, majburiy zaxira normalari</a:t>
            </a:r>
          </a:p>
          <a:p>
            <a:pPr algn="l"/>
            <a:r>
              <a:rPr sz="1300" b="0" i="0">
                <a:solidFill>
                  <a:srgbClr val="2A3242"/>
                </a:solidFill>
                <a:latin typeface="Calibri"/>
              </a:rPr>
              <a:t>• Maqsad: pul taklifi orqali inflyatsiyani nishonda ushlab turish</a:t>
            </a:r>
          </a:p>
          <a:p>
            <a:pPr algn="l"/>
            <a:r>
              <a:rPr sz="1300" b="0" i="0">
                <a:solidFill>
                  <a:srgbClr val="2A3242"/>
                </a:solidFill>
                <a:latin typeface="Calibri"/>
              </a:rPr>
              <a:t>• Kengaytiruvchi: stavka pasayadi, kredit arzonlashadi</a:t>
            </a:r>
          </a:p>
          <a:p>
            <a:pPr algn="l"/>
            <a:r>
              <a:rPr sz="1300" b="0" i="0">
                <a:solidFill>
                  <a:srgbClr val="2A3242"/>
                </a:solidFill>
                <a:latin typeface="Calibri"/>
              </a:rPr>
              <a:t>• Toraytiruvchi: stavka ko'tariladi, pul qimmatlashadi</a:t>
            </a:r>
          </a:p>
          <a:p>
            <a:pPr algn="l"/>
            <a:r>
              <a:rPr sz="1300" b="0" i="0">
                <a:solidFill>
                  <a:srgbClr val="2A3242"/>
                </a:solidFill>
                <a:latin typeface="Calibri"/>
              </a:rPr>
              <a:t>Misol: 2022–2023 yillarda Fed va ECB inflyatsiyaga qarshi stavkalarni keskin oshirgani.</a:t>
            </a:r>
          </a:p>
        </p:txBody>
      </p:sp>
      <p:sp>
        <p:nvSpPr>
          <p:cNvPr id="15" name="Rounded Rectangle 14"/>
          <p:cNvSpPr/>
          <p:nvPr/>
        </p:nvSpPr>
        <p:spPr>
          <a:xfrm>
            <a:off x="6583680" y="5623560"/>
            <a:ext cx="4937760" cy="6858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5779008"/>
            <a:ext cx="4754880" cy="365760"/>
          </a:xfrm>
          <a:prstGeom prst="rect">
            <a:avLst/>
          </a:prstGeom>
          <a:noFill/>
        </p:spPr>
        <p:txBody>
          <a:bodyPr wrap="square" anchor="t" lIns="0" rIns="0" tIns="0" bIns="0">
            <a:spAutoFit/>
          </a:bodyPr>
          <a:lstStyle/>
          <a:p>
            <a:pPr algn="ctr"/>
            <a:r>
              <a:rPr sz="1250" b="1" i="0">
                <a:solidFill>
                  <a:srgbClr val="FFFFFF"/>
                </a:solidFill>
                <a:latin typeface="Calibri"/>
              </a:rPr>
              <a:t>Ta'sir ko'rsatish muddati: odatda 3–12 oy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612648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5394960" cy="914400"/>
          </a:xfrm>
          <a:prstGeom prst="rect">
            <a:avLst/>
          </a:prstGeom>
          <a:noFill/>
        </p:spPr>
        <p:txBody>
          <a:bodyPr wrap="square" anchor="t" lIns="0" rIns="0" tIns="0" bIns="0">
            <a:spAutoFit/>
          </a:bodyPr>
          <a:lstStyle/>
          <a:p>
            <a:pPr algn="l"/>
            <a:r>
              <a:rPr sz="2400" b="1" i="0">
                <a:solidFill>
                  <a:srgbClr val="FFFFFF"/>
                </a:solidFill>
                <a:latin typeface="Calibri"/>
              </a:rPr>
              <a:t>Iqtisodiy tahlil: nazariyadan amaliy qarorgacha</a:t>
            </a:r>
          </a:p>
        </p:txBody>
      </p:sp>
      <p:sp>
        <p:nvSpPr>
          <p:cNvPr id="4" name="Rectangle 3"/>
          <p:cNvSpPr/>
          <p:nvPr/>
        </p:nvSpPr>
        <p:spPr>
          <a:xfrm>
            <a:off x="457200" y="1417320"/>
            <a:ext cx="1280160"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5303520" cy="822960"/>
          </a:xfrm>
          <a:prstGeom prst="rect">
            <a:avLst/>
          </a:prstGeom>
          <a:noFill/>
        </p:spPr>
        <p:txBody>
          <a:bodyPr wrap="square" anchor="t" lIns="0" rIns="0" tIns="0" bIns="0">
            <a:spAutoFit/>
          </a:bodyPr>
          <a:lstStyle/>
          <a:p>
            <a:pPr algn="l"/>
            <a:r>
              <a:rPr sz="1300" b="0" i="0">
                <a:solidFill>
                  <a:srgbClr val="C9D2E4"/>
                </a:solidFill>
                <a:latin typeface="Calibri"/>
              </a:rPr>
              <a:t>Iqtisodiyot nazariyasi amaliyotda aniq bosqichma-bosqich jarayon orqali qo'llaniladi — hukumat, Markaziy bank va biznes aynan shu sxema bo'yicha ishlaydi.</a:t>
            </a:r>
          </a:p>
        </p:txBody>
      </p:sp>
      <p:sp>
        <p:nvSpPr>
          <p:cNvPr id="6" name="TextBox 5"/>
          <p:cNvSpPr txBox="1"/>
          <p:nvPr/>
        </p:nvSpPr>
        <p:spPr>
          <a:xfrm>
            <a:off x="457200" y="2560320"/>
            <a:ext cx="5394960" cy="4023360"/>
          </a:xfrm>
          <a:prstGeom prst="rect">
            <a:avLst/>
          </a:prstGeom>
          <a:noFill/>
        </p:spPr>
        <p:txBody>
          <a:bodyPr wrap="square" anchor="t" lIns="0" rIns="0" tIns="0" bIns="0">
            <a:spAutoFit/>
          </a:bodyPr>
          <a:lstStyle/>
          <a:p>
            <a:pPr algn="l"/>
            <a:r>
              <a:rPr sz="1300" b="0" i="0">
                <a:solidFill>
                  <a:srgbClr val="E8ECF4"/>
                </a:solidFill>
                <a:latin typeface="Calibri"/>
              </a:rPr>
              <a:t>1-qadam. Muammoni aniqlash: inflyatsiya, ishsizlik yoki sekinlashuv kabi signalni statistika asosida belgilash.</a:t>
            </a:r>
          </a:p>
          <a:p>
            <a:pPr algn="l"/>
            <a:r>
              <a:rPr sz="1300" b="0" i="0">
                <a:solidFill>
                  <a:srgbClr val="E8ECF4"/>
                </a:solidFill>
                <a:latin typeface="Calibri"/>
              </a:rPr>
              <a:t>2-qadam. Ma'lumot to'plash: YaIM, iste'mol narxlari indeksi (IIN) va bandlik ko'rsatkichlarini tahlil qilish.</a:t>
            </a:r>
          </a:p>
          <a:p>
            <a:pPr algn="l"/>
            <a:r>
              <a:rPr sz="1300" b="0" i="0">
                <a:solidFill>
                  <a:srgbClr val="E8ECF4"/>
                </a:solidFill>
                <a:latin typeface="Calibri"/>
              </a:rPr>
              <a:t>3-qadam. Model tanlash: vaziyatga mos mikro yoki makroiqtisodiy modelni qo'llash.</a:t>
            </a:r>
          </a:p>
          <a:p>
            <a:pPr algn="l"/>
            <a:r>
              <a:rPr sz="1300" b="0" i="0">
                <a:solidFill>
                  <a:srgbClr val="E8ECF4"/>
                </a:solidFill>
                <a:latin typeface="Calibri"/>
              </a:rPr>
              <a:t>4-qadam. Bashorat: turli stsenariylar bo'yicha oqibatlarni oldindan baholash.</a:t>
            </a:r>
          </a:p>
          <a:p>
            <a:pPr algn="l"/>
            <a:r>
              <a:rPr sz="1300" b="0" i="0">
                <a:solidFill>
                  <a:srgbClr val="E8ECF4"/>
                </a:solidFill>
                <a:latin typeface="Calibri"/>
              </a:rPr>
              <a:t>5-qadam. Siyosat va monitoring: chorani joriy etib, natijani muntazam o'lchab borish.</a:t>
            </a:r>
          </a:p>
        </p:txBody>
      </p:sp>
      <p:sp>
        <p:nvSpPr>
          <p:cNvPr id="7" name="TextBox 6"/>
          <p:cNvSpPr txBox="1"/>
          <p:nvPr/>
        </p:nvSpPr>
        <p:spPr>
          <a:xfrm>
            <a:off x="6492240" y="6199632"/>
            <a:ext cx="5303520" cy="457200"/>
          </a:xfrm>
          <a:prstGeom prst="rect">
            <a:avLst/>
          </a:prstGeom>
          <a:noFill/>
        </p:spPr>
        <p:txBody>
          <a:bodyPr wrap="square" anchor="t" lIns="0" rIns="0" tIns="0" bIns="0">
            <a:spAutoFit/>
          </a:bodyPr>
          <a:lstStyle/>
          <a:p>
            <a:pPr algn="ctr"/>
            <a:r>
              <a:rPr sz="1300" b="0" i="0">
                <a:solidFill>
                  <a:srgbClr val="5A6478"/>
                </a:solidFill>
                <a:latin typeface="Calibri"/>
              </a:rPr>
              <a:t>Zamonaviy iqtisodchi katta ma'lumotlar va statistik modellar asosida qaror qabul qiladi.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12191695"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square" anchor="t" lIns="0" rIns="0" tIns="0" bIns="0">
            <a:spAutoFit/>
          </a:bodyPr>
          <a:lstStyle/>
          <a:p>
            <a:pPr algn="l"/>
            <a:r>
              <a:rPr sz="2600" b="1" i="0">
                <a:solidFill>
                  <a:srgbClr val="FFFFFF"/>
                </a:solidFill>
                <a:latin typeface="Calibri"/>
              </a:rPr>
              <a:t>Ishsizlik: turlari va unga qarshi amaliy choralar</a:t>
            </a:r>
          </a:p>
        </p:txBody>
      </p:sp>
      <p:sp>
        <p:nvSpPr>
          <p:cNvPr id="5" name="TextBox 4"/>
          <p:cNvSpPr txBox="1"/>
          <p:nvPr/>
        </p:nvSpPr>
        <p:spPr>
          <a:xfrm>
            <a:off x="457200" y="868680"/>
            <a:ext cx="11247120" cy="457200"/>
          </a:xfrm>
          <a:prstGeom prst="rect">
            <a:avLst/>
          </a:prstGeom>
          <a:noFill/>
        </p:spPr>
        <p:txBody>
          <a:bodyPr wrap="square" anchor="t" lIns="0" rIns="0" tIns="0" bIns="0">
            <a:spAutoFit/>
          </a:bodyPr>
          <a:lstStyle/>
          <a:p>
            <a:pPr algn="l"/>
            <a:r>
              <a:rPr sz="1300" b="0" i="0">
                <a:solidFill>
                  <a:srgbClr val="C9D2E4"/>
                </a:solidFill>
                <a:latin typeface="Calibri"/>
              </a:rPr>
              <a:t>Ishsizlik — mehnatga layoqatli va ish izlayotgan, lekin ishga ega bo'lmagan aholining ulushi. Har bir turga o'ziga xos chora-tadbir kerak.</a:t>
            </a:r>
          </a:p>
        </p:txBody>
      </p:sp>
      <p:graphicFrame>
        <p:nvGraphicFramePr>
          <p:cNvPr id="6" name="Chart 5"/>
          <p:cNvGraphicFramePr>
            <a:graphicFrameLocks noGrp="1"/>
          </p:cNvGraphicFramePr>
          <p:nvPr/>
        </p:nvGraphicFramePr>
        <p:xfrm>
          <a:off x="365760" y="1783080"/>
          <a:ext cx="5669280" cy="4206240"/>
        </p:xfrm>
        <a:graphic>
          <a:graphicData uri="http://schemas.openxmlformats.org/drawingml/2006/chart">
            <c:chart xmlns:c="http://schemas.openxmlformats.org/drawingml/2006/chart" r:id="rId2"/>
          </a:graphicData>
        </a:graphic>
      </p:graphicFrame>
      <p:sp>
        <p:nvSpPr>
          <p:cNvPr id="7" name="TextBox 6"/>
          <p:cNvSpPr txBox="1"/>
          <p:nvPr/>
        </p:nvSpPr>
        <p:spPr>
          <a:xfrm>
            <a:off x="365760" y="6062472"/>
            <a:ext cx="5669280" cy="320040"/>
          </a:xfrm>
          <a:prstGeom prst="rect">
            <a:avLst/>
          </a:prstGeom>
          <a:noFill/>
        </p:spPr>
        <p:txBody>
          <a:bodyPr wrap="square">
            <a:spAutoFit/>
          </a:bodyPr>
          <a:lstStyle/>
          <a:p>
            <a:pPr algn="ctr"/>
            <a:r>
              <a:rPr sz="1100" i="1">
                <a:solidFill>
                  <a:srgbClr val="555555"/>
                </a:solidFill>
                <a:latin typeface="Calibri"/>
              </a:rPr>
              <a:t>📊 Diagrammada ishsizlikning taxminiy strukturaviy tarkibi turlari bo'yicha ko'rsatilgan: friktsion ishsizlik eng katta ulushni (40%) egallaydi, keyin strukturaviy (35%), tsiklik (15%) va mavsumiy (10%) ishsizlik keladi.</a:t>
            </a:r>
          </a:p>
        </p:txBody>
      </p:sp>
      <p:sp>
        <p:nvSpPr>
          <p:cNvPr id="8" name="TextBox 7"/>
          <p:cNvSpPr txBox="1"/>
          <p:nvPr/>
        </p:nvSpPr>
        <p:spPr>
          <a:xfrm>
            <a:off x="6309360" y="1783080"/>
            <a:ext cx="5486400" cy="4206240"/>
          </a:xfrm>
          <a:prstGeom prst="rect">
            <a:avLst/>
          </a:prstGeom>
          <a:noFill/>
        </p:spPr>
        <p:txBody>
          <a:bodyPr wrap="square" anchor="t" lIns="0" rIns="0" tIns="0" bIns="0">
            <a:spAutoFit/>
          </a:bodyPr>
          <a:lstStyle/>
          <a:p>
            <a:pPr algn="l"/>
            <a:r>
              <a:rPr sz="1300" b="0" i="0">
                <a:solidFill>
                  <a:srgbClr val="2A3242"/>
                </a:solidFill>
                <a:latin typeface="Calibri"/>
              </a:rPr>
              <a:t>• Friktsion ishsizlik — ish almashtirish davridagi vaqtinchalik holat. Chora: bandlik markazlari va onlayn ish platformalarini rivojlantirish.</a:t>
            </a:r>
          </a:p>
          <a:p>
            <a:pPr algn="l"/>
            <a:r>
              <a:rPr sz="1300" b="0" i="0">
                <a:solidFill>
                  <a:srgbClr val="2A3242"/>
                </a:solidFill>
                <a:latin typeface="Calibri"/>
              </a:rPr>
              <a:t>• Strukturaviy ishsizlik — ishchi malakasi bozor talabiga mos kelmasligi. Chora: qayta tayyorlash va malaka oshirish kurslari.</a:t>
            </a:r>
          </a:p>
          <a:p>
            <a:pPr algn="l"/>
            <a:r>
              <a:rPr sz="1300" b="0" i="0">
                <a:solidFill>
                  <a:srgbClr val="2A3242"/>
                </a:solidFill>
                <a:latin typeface="Calibri"/>
              </a:rPr>
              <a:t>• Tsiklik ishsizlik — iqtisodiy pasayish davrida yuzaga keladi. Chora: kengaytiruvchi fiskal va monetar siyosat.</a:t>
            </a:r>
          </a:p>
          <a:p>
            <a:pPr algn="l"/>
            <a:r>
              <a:rPr sz="1300" b="0" i="0">
                <a:solidFill>
                  <a:srgbClr val="2A3242"/>
                </a:solidFill>
                <a:latin typeface="Calibri"/>
              </a:rPr>
              <a:t>• Mavsumiy ishsizlik — qishloq xo'jaligi va turizm kabi sohalarda kuzatiladi. Chora: mavsumlararo muqobil ish o'rinlari yaratish.</a:t>
            </a:r>
          </a:p>
        </p:txBody>
      </p:sp>
      <p:sp>
        <p:nvSpPr>
          <p:cNvPr id="9" name="Rounded Rectangle 8"/>
          <p:cNvSpPr/>
          <p:nvPr/>
        </p:nvSpPr>
        <p:spPr>
          <a:xfrm>
            <a:off x="365760" y="6172200"/>
            <a:ext cx="11475720" cy="502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254496"/>
            <a:ext cx="11109960" cy="347472"/>
          </a:xfrm>
          <a:prstGeom prst="rect">
            <a:avLst/>
          </a:prstGeom>
          <a:noFill/>
        </p:spPr>
        <p:txBody>
          <a:bodyPr wrap="square" anchor="t" lIns="0" rIns="0" tIns="0" bIns="0">
            <a:spAutoFit/>
          </a:bodyPr>
          <a:lstStyle/>
          <a:p>
            <a:pPr algn="ctr"/>
            <a:r>
              <a:rPr sz="1250" b="1" i="0">
                <a:solidFill>
                  <a:srgbClr val="FFFFFF"/>
                </a:solidFill>
                <a:latin typeface="Calibri"/>
              </a:rPr>
              <a:t>Tabiiy ishsizlik darajasi odatda 4–6% deb baholanadi — bu iqtisodiyot uchun normal holat.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554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54480"/>
            <a:ext cx="12191695"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11064240" cy="685800"/>
          </a:xfrm>
          <a:prstGeom prst="rect">
            <a:avLst/>
          </a:prstGeom>
          <a:noFill/>
        </p:spPr>
        <p:txBody>
          <a:bodyPr wrap="square" anchor="t" lIns="0" rIns="0" tIns="0" bIns="0">
            <a:spAutoFit/>
          </a:bodyPr>
          <a:lstStyle/>
          <a:p>
            <a:pPr algn="l"/>
            <a:r>
              <a:rPr sz="2900" b="1" i="0">
                <a:solidFill>
                  <a:srgbClr val="FFFFFF"/>
                </a:solidFill>
                <a:latin typeface="Calibri"/>
              </a:rPr>
              <a:t>Inflyatsiya: pul qadrsizlanishining anatomiyasi</a:t>
            </a:r>
          </a:p>
        </p:txBody>
      </p:sp>
      <p:sp>
        <p:nvSpPr>
          <p:cNvPr id="5" name="TextBox 4"/>
          <p:cNvSpPr txBox="1"/>
          <p:nvPr/>
        </p:nvSpPr>
        <p:spPr>
          <a:xfrm>
            <a:off x="548640" y="987552"/>
            <a:ext cx="11064240" cy="411480"/>
          </a:xfrm>
          <a:prstGeom prst="rect">
            <a:avLst/>
          </a:prstGeom>
          <a:noFill/>
        </p:spPr>
        <p:txBody>
          <a:bodyPr wrap="square" anchor="t" lIns="0" rIns="0" tIns="0" bIns="0">
            <a:spAutoFit/>
          </a:bodyPr>
          <a:lstStyle/>
          <a:p>
            <a:pPr algn="l"/>
            <a:r>
              <a:rPr sz="1400" b="0" i="0">
                <a:solidFill>
                  <a:srgbClr val="C9D3E4"/>
                </a:solidFill>
                <a:latin typeface="Calibri"/>
              </a:rPr>
              <a:t>Narxlar umumiy darajasining barqaror o'sishi, uning turlari va o'lchov usuli</a:t>
            </a:r>
          </a:p>
        </p:txBody>
      </p:sp>
      <p:sp>
        <p:nvSpPr>
          <p:cNvPr id="6" name="TextBox 5"/>
          <p:cNvSpPr txBox="1"/>
          <p:nvPr/>
        </p:nvSpPr>
        <p:spPr>
          <a:xfrm>
            <a:off x="548640" y="1828800"/>
            <a:ext cx="5440680" cy="1234440"/>
          </a:xfrm>
          <a:prstGeom prst="rect">
            <a:avLst/>
          </a:prstGeom>
          <a:noFill/>
        </p:spPr>
        <p:txBody>
          <a:bodyPr wrap="square" anchor="t" lIns="0" rIns="0" tIns="0" bIns="0">
            <a:spAutoFit/>
          </a:bodyPr>
          <a:lstStyle/>
          <a:p>
            <a:pPr algn="l"/>
            <a:r>
              <a:rPr sz="1300" b="0" i="0">
                <a:solidFill>
                  <a:srgbClr val="2A3242"/>
                </a:solidFill>
                <a:latin typeface="Calibri"/>
              </a:rPr>
              <a:t>Inflyatsiya — tovar va xizmatlarning umumiy narx darajasi uzoq vaqt davomida oshib borishi bo'lib, natijada pul birligining xarid qobiliyati pasayadi. U iste'mol narxlari indeksi (INI) orqali o'lchanadi: statistika idoralari 'iste'mol savati' narxining o'zgarishini muntazam kuzatib boradi.</a:t>
            </a:r>
          </a:p>
        </p:txBody>
      </p:sp>
      <p:sp>
        <p:nvSpPr>
          <p:cNvPr id="7" name="Rounded Rectangle 6"/>
          <p:cNvSpPr/>
          <p:nvPr/>
        </p:nvSpPr>
        <p:spPr>
          <a:xfrm>
            <a:off x="548640" y="3200400"/>
            <a:ext cx="5440680" cy="914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64008" cy="91440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273552"/>
            <a:ext cx="5029200" cy="292608"/>
          </a:xfrm>
          <a:prstGeom prst="rect">
            <a:avLst/>
          </a:prstGeom>
          <a:noFill/>
        </p:spPr>
        <p:txBody>
          <a:bodyPr wrap="square" anchor="t" lIns="0" rIns="0" tIns="0" bIns="0">
            <a:spAutoFit/>
          </a:bodyPr>
          <a:lstStyle/>
          <a:p>
            <a:pPr algn="l"/>
            <a:r>
              <a:rPr sz="1350" b="1" i="0">
                <a:solidFill>
                  <a:srgbClr val="1B2A4A"/>
                </a:solidFill>
                <a:latin typeface="Calibri"/>
              </a:rPr>
              <a:t>Mo'tadil inflyatsiya — yiliga 3–5%</a:t>
            </a:r>
          </a:p>
        </p:txBody>
      </p:sp>
      <p:sp>
        <p:nvSpPr>
          <p:cNvPr id="10" name="TextBox 9"/>
          <p:cNvSpPr txBox="1"/>
          <p:nvPr/>
        </p:nvSpPr>
        <p:spPr>
          <a:xfrm>
            <a:off x="777240" y="3566160"/>
            <a:ext cx="5074920" cy="512064"/>
          </a:xfrm>
          <a:prstGeom prst="rect">
            <a:avLst/>
          </a:prstGeom>
          <a:noFill/>
        </p:spPr>
        <p:txBody>
          <a:bodyPr wrap="square" anchor="t" lIns="0" rIns="0" tIns="0" bIns="0">
            <a:spAutoFit/>
          </a:bodyPr>
          <a:lstStyle/>
          <a:p>
            <a:pPr algn="l"/>
            <a:r>
              <a:rPr sz="1300" b="0" i="0">
                <a:solidFill>
                  <a:srgbClr val="4A5265"/>
                </a:solidFill>
                <a:latin typeface="Calibri"/>
              </a:rPr>
              <a:t>Narxlar sekin va bashorat qilinadigan darajada o'sadi; iste'mol va investitsiyani rag'batlantiradi — iqtisodiyot uchun tabiiy holat.</a:t>
            </a:r>
          </a:p>
        </p:txBody>
      </p:sp>
      <p:sp>
        <p:nvSpPr>
          <p:cNvPr id="11" name="Rounded Rectangle 10"/>
          <p:cNvSpPr/>
          <p:nvPr/>
        </p:nvSpPr>
        <p:spPr>
          <a:xfrm>
            <a:off x="548640" y="4206240"/>
            <a:ext cx="5440680" cy="914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206240"/>
            <a:ext cx="64008" cy="91440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79392"/>
            <a:ext cx="5029200" cy="292608"/>
          </a:xfrm>
          <a:prstGeom prst="rect">
            <a:avLst/>
          </a:prstGeom>
          <a:noFill/>
        </p:spPr>
        <p:txBody>
          <a:bodyPr wrap="square" anchor="t" lIns="0" rIns="0" tIns="0" bIns="0">
            <a:spAutoFit/>
          </a:bodyPr>
          <a:lstStyle/>
          <a:p>
            <a:pPr algn="l"/>
            <a:r>
              <a:rPr sz="1350" b="1" i="0">
                <a:solidFill>
                  <a:srgbClr val="1B2A4A"/>
                </a:solidFill>
                <a:latin typeface="Calibri"/>
              </a:rPr>
              <a:t>Galopiruvchi inflyatsiya — yiliga 20–200%</a:t>
            </a:r>
          </a:p>
        </p:txBody>
      </p:sp>
      <p:sp>
        <p:nvSpPr>
          <p:cNvPr id="14" name="TextBox 13"/>
          <p:cNvSpPr txBox="1"/>
          <p:nvPr/>
        </p:nvSpPr>
        <p:spPr>
          <a:xfrm>
            <a:off x="777240" y="4572000"/>
            <a:ext cx="5074920" cy="512064"/>
          </a:xfrm>
          <a:prstGeom prst="rect">
            <a:avLst/>
          </a:prstGeom>
          <a:noFill/>
        </p:spPr>
        <p:txBody>
          <a:bodyPr wrap="square" anchor="t" lIns="0" rIns="0" tIns="0" bIns="0">
            <a:spAutoFit/>
          </a:bodyPr>
          <a:lstStyle/>
          <a:p>
            <a:pPr algn="l"/>
            <a:r>
              <a:rPr sz="1300" b="0" i="0">
                <a:solidFill>
                  <a:srgbClr val="4A5265"/>
                </a:solidFill>
                <a:latin typeface="Calibri"/>
              </a:rPr>
              <a:t>Narxlar tez va nazoratsiz ko'tariladi; aholi jamg'armalarni tovar va valyutaga aylantiradi, pulga bo'lgan ishonch yo'qoladi.</a:t>
            </a:r>
          </a:p>
        </p:txBody>
      </p:sp>
      <p:sp>
        <p:nvSpPr>
          <p:cNvPr id="15" name="Rounded Rectangle 14"/>
          <p:cNvSpPr/>
          <p:nvPr/>
        </p:nvSpPr>
        <p:spPr>
          <a:xfrm>
            <a:off x="548640" y="5212080"/>
            <a:ext cx="5440680" cy="914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212080"/>
            <a:ext cx="64008" cy="91440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285232"/>
            <a:ext cx="5029200" cy="292608"/>
          </a:xfrm>
          <a:prstGeom prst="rect">
            <a:avLst/>
          </a:prstGeom>
          <a:noFill/>
        </p:spPr>
        <p:txBody>
          <a:bodyPr wrap="square" anchor="t" lIns="0" rIns="0" tIns="0" bIns="0">
            <a:spAutoFit/>
          </a:bodyPr>
          <a:lstStyle/>
          <a:p>
            <a:pPr algn="l"/>
            <a:r>
              <a:rPr sz="1350" b="1" i="0">
                <a:solidFill>
                  <a:srgbClr val="1B2A4A"/>
                </a:solidFill>
                <a:latin typeface="Calibri"/>
              </a:rPr>
              <a:t>Giperinflyatsiya — oyiga 50% va undan ortiq</a:t>
            </a:r>
          </a:p>
        </p:txBody>
      </p:sp>
      <p:sp>
        <p:nvSpPr>
          <p:cNvPr id="18" name="TextBox 17"/>
          <p:cNvSpPr txBox="1"/>
          <p:nvPr/>
        </p:nvSpPr>
        <p:spPr>
          <a:xfrm>
            <a:off x="777240" y="5669280"/>
            <a:ext cx="5074920" cy="512064"/>
          </a:xfrm>
          <a:prstGeom prst="rect">
            <a:avLst/>
          </a:prstGeom>
          <a:noFill/>
        </p:spPr>
        <p:txBody>
          <a:bodyPr wrap="square" anchor="t" lIns="0" rIns="0" tIns="0" bIns="0">
            <a:spAutoFit/>
          </a:bodyPr>
          <a:lstStyle/>
          <a:p>
            <a:pPr algn="l"/>
            <a:r>
              <a:rPr sz="1300" b="0" i="0">
                <a:solidFill>
                  <a:srgbClr val="4A5265"/>
                </a:solidFill>
                <a:latin typeface="Calibri"/>
              </a:rPr>
              <a:t>Pul tizimi ishdan chiqadi, barter savdoga qaytish kuzatiladi. Tarixiy misollar: 1923-yil Germaniya, 2008-yil Zimbabve.</a:t>
            </a:r>
          </a:p>
        </p:txBody>
      </p:sp>
      <p:sp>
        <p:nvSpPr>
          <p:cNvPr id="19" name="TextBox 18"/>
          <p:cNvSpPr txBox="1"/>
          <p:nvPr/>
        </p:nvSpPr>
        <p:spPr>
          <a:xfrm>
            <a:off x="548640" y="6263640"/>
            <a:ext cx="5440680" cy="411480"/>
          </a:xfrm>
          <a:prstGeom prst="rect">
            <a:avLst/>
          </a:prstGeom>
          <a:noFill/>
        </p:spPr>
        <p:txBody>
          <a:bodyPr wrap="square" anchor="t" lIns="0" rIns="0" tIns="0" bIns="0">
            <a:spAutoFit/>
          </a:bodyPr>
          <a:lstStyle/>
          <a:p>
            <a:pPr algn="l"/>
            <a:r>
              <a:rPr sz="1300" b="0" i="0">
                <a:solidFill>
                  <a:srgbClr val="6A7385"/>
                </a:solidFill>
                <a:latin typeface="Calibri"/>
              </a:rPr>
              <a:t>Eslatma: ishsizlik va inflyatsiya o'rtasidagi teskari bog'liqlik Fillips egri chizig'ida ifodalanadi — oldingi mavzuning mantiqiy davomi.</a:t>
            </a:r>
          </a:p>
        </p:txBody>
      </p:sp>
      <p:graphicFrame>
        <p:nvGraphicFramePr>
          <p:cNvPr id="20" name="Chart 19"/>
          <p:cNvGraphicFramePr>
            <a:graphicFrameLocks noGrp="1"/>
          </p:cNvGraphicFramePr>
          <p:nvPr/>
        </p:nvGraphicFramePr>
        <p:xfrm>
          <a:off x="6263640" y="1783080"/>
          <a:ext cx="5440680" cy="4434840"/>
        </p:xfrm>
        <a:graphic>
          <a:graphicData uri="http://schemas.openxmlformats.org/drawingml/2006/chart">
            <c:chart xmlns:c="http://schemas.openxmlformats.org/drawingml/2006/chart" r:id="rId2"/>
          </a:graphicData>
        </a:graphic>
      </p:graphicFrame>
      <p:sp>
        <p:nvSpPr>
          <p:cNvPr id="21" name="TextBox 20"/>
          <p:cNvSpPr txBox="1"/>
          <p:nvPr/>
        </p:nvSpPr>
        <p:spPr>
          <a:xfrm>
            <a:off x="6263640" y="6291072"/>
            <a:ext cx="5440680" cy="320040"/>
          </a:xfrm>
          <a:prstGeom prst="rect">
            <a:avLst/>
          </a:prstGeom>
          <a:noFill/>
        </p:spPr>
        <p:txBody>
          <a:bodyPr wrap="square">
            <a:spAutoFit/>
          </a:bodyPr>
          <a:lstStyle/>
          <a:p>
            <a:pPr algn="ctr"/>
            <a:r>
              <a:rPr sz="1100" i="1">
                <a:solidFill>
                  <a:srgbClr val="555555"/>
                </a:solidFill>
                <a:latin typeface="Calibri"/>
              </a:rPr>
              <a:t>📊 Diagrammada iste'mol narxlari indeksini hisoblashda ishlatiladigan iste'mol savatining asosiy guruhlari ulushi ko'rsatilgan: eng katta vazn oziq-ovqat mahsulotlariga to'g'ri keladi.</a:t>
            </a:r>
          </a:p>
        </p:txBody>
      </p:sp>
      <p:sp>
        <p:nvSpPr>
          <p:cNvPr id="22" name="TextBox 21"/>
          <p:cNvSpPr txBox="1"/>
          <p:nvPr/>
        </p:nvSpPr>
        <p:spPr>
          <a:xfrm>
            <a:off x="6263640" y="6263640"/>
            <a:ext cx="5394960" cy="365760"/>
          </a:xfrm>
          <a:prstGeom prst="rect">
            <a:avLst/>
          </a:prstGeom>
          <a:noFill/>
        </p:spPr>
        <p:txBody>
          <a:bodyPr wrap="square" anchor="t" lIns="0" rIns="0" tIns="0" bIns="0">
            <a:spAutoFit/>
          </a:bodyPr>
          <a:lstStyle/>
          <a:p>
            <a:pPr algn="l"/>
            <a:r>
              <a:rPr sz="1300" b="0" i="0">
                <a:solidFill>
                  <a:srgbClr val="6A7385"/>
                </a:solidFill>
                <a:latin typeface="Calibri"/>
              </a:rPr>
              <a:t>Manba: davlat statistika idoralari amaliyotiga yaqin taxminiy vaznlar.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3504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5212080" cy="1051560"/>
          </a:xfrm>
          <a:prstGeom prst="rect">
            <a:avLst/>
          </a:prstGeom>
          <a:noFill/>
        </p:spPr>
        <p:txBody>
          <a:bodyPr wrap="square" anchor="t" lIns="0" rIns="0" tIns="0" bIns="0">
            <a:spAutoFit/>
          </a:bodyPr>
          <a:lstStyle/>
          <a:p>
            <a:pPr algn="l"/>
            <a:r>
              <a:rPr sz="2600" b="1" i="0">
                <a:solidFill>
                  <a:srgbClr val="FFFFFF"/>
                </a:solidFill>
                <a:latin typeface="Calibri"/>
              </a:rPr>
              <a:t>Narx qanday shakllanadi: talab va taklif qonuni</a:t>
            </a:r>
          </a:p>
        </p:txBody>
      </p:sp>
      <p:sp>
        <p:nvSpPr>
          <p:cNvPr id="4" name="Rectangle 3"/>
          <p:cNvSpPr/>
          <p:nvPr/>
        </p:nvSpPr>
        <p:spPr>
          <a:xfrm>
            <a:off x="457200" y="1572768"/>
            <a:ext cx="822960" cy="5486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83080"/>
            <a:ext cx="5166360" cy="2286000"/>
          </a:xfrm>
          <a:prstGeom prst="rect">
            <a:avLst/>
          </a:prstGeom>
          <a:noFill/>
        </p:spPr>
        <p:txBody>
          <a:bodyPr wrap="square" anchor="t" lIns="0" rIns="0" tIns="0" bIns="0">
            <a:spAutoFit/>
          </a:bodyPr>
          <a:lstStyle/>
          <a:p>
            <a:pPr algn="l"/>
            <a:r>
              <a:rPr sz="1300" b="0" i="0">
                <a:solidFill>
                  <a:srgbClr val="E4E9F2"/>
                </a:solidFill>
                <a:latin typeface="Calibri"/>
              </a:rPr>
              <a:t>Talab qonuni: narx ko'tarilsa, xaridorlar sotib oladigan miqdor kamayadi. Taklif qonuni aksincha ishlaydi: narx oshsa, ishlab chiqaruvchilar ko'proq mahsulot taklif qiladi. Bu ikki kuchning kesishma nuqtasi — bozor muvozanati: bu yerda muvozanat narxi va muvozanat miqdori shakllanadi. Narx muvozanatdan yuqori bo'lsa, ortiqcha taklif yuzaga kelib, uni pastga itaradi; past bo'lsa — tanqislik narxni yana yuqoriga ko'taradi.</a:t>
            </a:r>
          </a:p>
        </p:txBody>
      </p:sp>
      <p:sp>
        <p:nvSpPr>
          <p:cNvPr id="6" name="TextBox 5"/>
          <p:cNvSpPr txBox="1"/>
          <p:nvPr/>
        </p:nvSpPr>
        <p:spPr>
          <a:xfrm>
            <a:off x="457200" y="4160520"/>
            <a:ext cx="5120640" cy="365760"/>
          </a:xfrm>
          <a:prstGeom prst="rect">
            <a:avLst/>
          </a:prstGeom>
          <a:noFill/>
        </p:spPr>
        <p:txBody>
          <a:bodyPr wrap="square" anchor="t" lIns="0" rIns="0" tIns="0" bIns="0">
            <a:spAutoFit/>
          </a:bodyPr>
          <a:lstStyle/>
          <a:p>
            <a:pPr algn="l"/>
            <a:r>
              <a:rPr sz="1600" b="1" i="0">
                <a:solidFill>
                  <a:srgbClr val="E8A020"/>
                </a:solidFill>
                <a:latin typeface="Calibri"/>
              </a:rPr>
              <a:t>Narx elastikligi — sezgirlik o'lchovi</a:t>
            </a:r>
          </a:p>
        </p:txBody>
      </p:sp>
      <p:sp>
        <p:nvSpPr>
          <p:cNvPr id="7" name="TextBox 6"/>
          <p:cNvSpPr txBox="1"/>
          <p:nvPr/>
        </p:nvSpPr>
        <p:spPr>
          <a:xfrm>
            <a:off x="457200" y="4572000"/>
            <a:ext cx="5166360" cy="2103120"/>
          </a:xfrm>
          <a:prstGeom prst="rect">
            <a:avLst/>
          </a:prstGeom>
          <a:noFill/>
        </p:spPr>
        <p:txBody>
          <a:bodyPr wrap="square" anchor="t" lIns="0" rIns="0" tIns="0" bIns="0">
            <a:spAutoFit/>
          </a:bodyPr>
          <a:lstStyle/>
          <a:p>
            <a:pPr algn="l"/>
            <a:r>
              <a:rPr sz="1300" b="0" i="0">
                <a:solidFill>
                  <a:srgbClr val="D5DCE8"/>
                </a:solidFill>
                <a:latin typeface="Calibri"/>
              </a:rPr>
              <a:t>Elastiklik koeffitsienti talab miqdori narx o'zgarishiga qancha keskin javob berishini ko'rsatadi. Misollar: tuz — 0,1 (deyarli sezgir emas), benzin — 0,5 (qattiq talab), restoran xizmatlari — 1,2, aviachiptalar — 2,4 (yuqori sezgirlik). Amaliy xulosa: elastiklik past bo'lsa, narxni ko'tarish tushumni oshiradi; yuqori bo'lsa, aksincha — sotuv hajmi keskin qisqarib, tushum kamayadi.</a:t>
            </a:r>
          </a:p>
        </p:txBody>
      </p:sp>
      <p:sp>
        <p:nvSpPr>
          <p:cNvPr id="8" name="TextBox 7"/>
          <p:cNvSpPr txBox="1"/>
          <p:nvPr/>
        </p:nvSpPr>
        <p:spPr>
          <a:xfrm>
            <a:off x="6355080" y="6263640"/>
            <a:ext cx="5349240" cy="320040"/>
          </a:xfrm>
          <a:prstGeom prst="rect">
            <a:avLst/>
          </a:prstGeom>
          <a:noFill/>
        </p:spPr>
        <p:txBody>
          <a:bodyPr wrap="square" anchor="t" lIns="0" rIns="0" tIns="0" bIns="0">
            <a:spAutoFit/>
          </a:bodyPr>
          <a:lstStyle/>
          <a:p>
            <a:pPr algn="l"/>
            <a:r>
              <a:rPr sz="1300" b="0" i="0">
                <a:solidFill>
                  <a:srgbClr val="6A7385"/>
                </a:solidFill>
                <a:latin typeface="Calibri"/>
              </a:rPr>
              <a:t>Bozor — narx shakllanishining tabiiy maydoni: talab va taklif bevosita uchrashadigan joy.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645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0" rIns="0" tIns="0" bIns="0">
            <a:spAutoFit/>
          </a:bodyPr>
          <a:lstStyle/>
          <a:p>
            <a:pPr algn="l"/>
            <a:r>
              <a:rPr sz="3200" b="1" i="0">
                <a:solidFill>
                  <a:srgbClr val="FFFFFF"/>
                </a:solidFill>
                <a:latin typeface="Calibri"/>
              </a:rPr>
              <a:t>Makroiqtisodiy ko'rsatkichlar tizimi</a:t>
            </a:r>
          </a:p>
        </p:txBody>
      </p:sp>
      <p:sp>
        <p:nvSpPr>
          <p:cNvPr id="4" name="TextBox 3"/>
          <p:cNvSpPr txBox="1"/>
          <p:nvPr/>
        </p:nvSpPr>
        <p:spPr>
          <a:xfrm>
            <a:off x="548640" y="1234440"/>
            <a:ext cx="10972800" cy="457200"/>
          </a:xfrm>
          <a:prstGeom prst="rect">
            <a:avLst/>
          </a:prstGeom>
          <a:noFill/>
        </p:spPr>
        <p:txBody>
          <a:bodyPr wrap="square" anchor="t" lIns="0" rIns="0" tIns="0" bIns="0">
            <a:spAutoFit/>
          </a:bodyPr>
          <a:lstStyle/>
          <a:p>
            <a:pPr algn="l"/>
            <a:r>
              <a:rPr sz="1600" b="0" i="0">
                <a:solidFill>
                  <a:srgbClr val="E8A020"/>
                </a:solidFill>
                <a:latin typeface="Calibri"/>
              </a:rPr>
              <a:t>Milliy iqtisodiyot holatini baholashning asosiy vositalari</a:t>
            </a:r>
          </a:p>
        </p:txBody>
      </p:sp>
      <p:sp>
        <p:nvSpPr>
          <p:cNvPr id="5" name="Rounded Rectangle 4"/>
          <p:cNvSpPr/>
          <p:nvPr/>
        </p:nvSpPr>
        <p:spPr>
          <a:xfrm>
            <a:off x="457200" y="2011680"/>
            <a:ext cx="365760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3108960" cy="548640"/>
          </a:xfrm>
          <a:prstGeom prst="rect">
            <a:avLst/>
          </a:prstGeom>
          <a:noFill/>
        </p:spPr>
        <p:txBody>
          <a:bodyPr wrap="square" anchor="t" lIns="0" rIns="0" tIns="0" bIns="0">
            <a:spAutoFit/>
          </a:bodyPr>
          <a:lstStyle/>
          <a:p>
            <a:pPr algn="l"/>
            <a:r>
              <a:rPr sz="1800" b="1" i="0">
                <a:solidFill>
                  <a:srgbClr val="1B2A4A"/>
                </a:solidFill>
                <a:latin typeface="Calibri"/>
              </a:rPr>
              <a:t>Yalpi ichki mahsulot</a:t>
            </a:r>
          </a:p>
        </p:txBody>
      </p:sp>
      <p:sp>
        <p:nvSpPr>
          <p:cNvPr id="7" name="TextBox 6"/>
          <p:cNvSpPr txBox="1"/>
          <p:nvPr/>
        </p:nvSpPr>
        <p:spPr>
          <a:xfrm>
            <a:off x="731520" y="2880360"/>
            <a:ext cx="3108960" cy="3017520"/>
          </a:xfrm>
          <a:prstGeom prst="rect">
            <a:avLst/>
          </a:prstGeom>
          <a:noFill/>
        </p:spPr>
        <p:txBody>
          <a:bodyPr wrap="square" anchor="t" lIns="0" rIns="0" tIns="0" bIns="0">
            <a:spAutoFit/>
          </a:bodyPr>
          <a:lstStyle/>
          <a:p>
            <a:pPr algn="l"/>
            <a:r>
              <a:rPr sz="1300" b="0" i="0">
                <a:solidFill>
                  <a:srgbClr val="3A3A4A"/>
                </a:solidFill>
                <a:latin typeface="Calibri"/>
              </a:rPr>
              <a:t>YaIM — mamlakat hududida bir yil davomida ishlab chiqarilgan barcha yakuniy tovar va xizmatlarning bozor qiymati.</a:t>
            </a:r>
          </a:p>
          <a:p>
            <a:pPr algn="l"/>
            <a:r>
              <a:rPr sz="1300" b="0" i="0">
                <a:solidFill>
                  <a:srgbClr val="3A3A4A"/>
                </a:solidFill>
                <a:latin typeface="Calibri"/>
              </a:rPr>
              <a:t/>
            </a:r>
          </a:p>
          <a:p>
            <a:pPr algn="l"/>
            <a:r>
              <a:rPr sz="1300" b="0" i="0">
                <a:solidFill>
                  <a:srgbClr val="3A3A4A"/>
                </a:solidFill>
                <a:latin typeface="Calibri"/>
              </a:rPr>
              <a:t>Nominal YaIM joriy narxlarda, real YaIM esa doimiy narxlarda hisoblanadi. Aholi jon boshiga YaIM — turmush darajasining asosiy mezoni.</a:t>
            </a:r>
          </a:p>
        </p:txBody>
      </p:sp>
      <p:sp>
        <p:nvSpPr>
          <p:cNvPr id="8" name="Rounded Rectangle 7"/>
          <p:cNvSpPr/>
          <p:nvPr/>
        </p:nvSpPr>
        <p:spPr>
          <a:xfrm>
            <a:off x="4389120" y="2011680"/>
            <a:ext cx="365760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286000"/>
            <a:ext cx="3108960" cy="548640"/>
          </a:xfrm>
          <a:prstGeom prst="rect">
            <a:avLst/>
          </a:prstGeom>
          <a:noFill/>
        </p:spPr>
        <p:txBody>
          <a:bodyPr wrap="square" anchor="t" lIns="0" rIns="0" tIns="0" bIns="0">
            <a:spAutoFit/>
          </a:bodyPr>
          <a:lstStyle/>
          <a:p>
            <a:pPr algn="l"/>
            <a:r>
              <a:rPr sz="1800" b="1" i="0">
                <a:solidFill>
                  <a:srgbClr val="1B2A4A"/>
                </a:solidFill>
                <a:latin typeface="Calibri"/>
              </a:rPr>
              <a:t>Ishsizlik darajasi</a:t>
            </a:r>
          </a:p>
        </p:txBody>
      </p:sp>
      <p:sp>
        <p:nvSpPr>
          <p:cNvPr id="10" name="TextBox 9"/>
          <p:cNvSpPr txBox="1"/>
          <p:nvPr/>
        </p:nvSpPr>
        <p:spPr>
          <a:xfrm>
            <a:off x="4663440" y="2880360"/>
            <a:ext cx="3108960" cy="3017520"/>
          </a:xfrm>
          <a:prstGeom prst="rect">
            <a:avLst/>
          </a:prstGeom>
          <a:noFill/>
        </p:spPr>
        <p:txBody>
          <a:bodyPr wrap="square" anchor="t" lIns="0" rIns="0" tIns="0" bIns="0">
            <a:spAutoFit/>
          </a:bodyPr>
          <a:lstStyle/>
          <a:p>
            <a:pPr algn="l"/>
            <a:r>
              <a:rPr sz="1300" b="0" i="0">
                <a:solidFill>
                  <a:srgbClr val="3A3A4A"/>
                </a:solidFill>
                <a:latin typeface="Calibri"/>
              </a:rPr>
              <a:t>Ishsizlik — mehnatga layoqatli aholi orasida ishga ega bo'lmagan, lekin ish qidirayotganlarning ulushi.</a:t>
            </a:r>
          </a:p>
          <a:p>
            <a:pPr algn="l"/>
            <a:r>
              <a:rPr sz="1300" b="0" i="0">
                <a:solidFill>
                  <a:srgbClr val="3A3A4A"/>
                </a:solidFill>
                <a:latin typeface="Calibri"/>
              </a:rPr>
              <a:t/>
            </a:r>
          </a:p>
          <a:p>
            <a:pPr algn="l"/>
            <a:r>
              <a:rPr sz="1300" b="0" i="0">
                <a:solidFill>
                  <a:srgbClr val="3A3A4A"/>
                </a:solidFill>
                <a:latin typeface="Calibri"/>
              </a:rPr>
              <a:t>Friktsion, strukturaviy va tsiklik ishsizlik turlari mavjud. Tabiiy ishsizlik darajasi odatda 4–6% atrofida deb baholanadi.</a:t>
            </a:r>
          </a:p>
        </p:txBody>
      </p:sp>
      <p:sp>
        <p:nvSpPr>
          <p:cNvPr id="11" name="Rounded Rectangle 10"/>
          <p:cNvSpPr/>
          <p:nvPr/>
        </p:nvSpPr>
        <p:spPr>
          <a:xfrm>
            <a:off x="8321040" y="2011680"/>
            <a:ext cx="347472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286000"/>
            <a:ext cx="2926080" cy="548640"/>
          </a:xfrm>
          <a:prstGeom prst="rect">
            <a:avLst/>
          </a:prstGeom>
          <a:noFill/>
        </p:spPr>
        <p:txBody>
          <a:bodyPr wrap="square" anchor="t" lIns="0" rIns="0" tIns="0" bIns="0">
            <a:spAutoFit/>
          </a:bodyPr>
          <a:lstStyle/>
          <a:p>
            <a:pPr algn="l"/>
            <a:r>
              <a:rPr sz="1800" b="1" i="0">
                <a:solidFill>
                  <a:srgbClr val="1B2A4A"/>
                </a:solidFill>
                <a:latin typeface="Calibri"/>
              </a:rPr>
              <a:t>Inflyatsiya darajasi</a:t>
            </a:r>
          </a:p>
        </p:txBody>
      </p:sp>
      <p:sp>
        <p:nvSpPr>
          <p:cNvPr id="13" name="TextBox 12"/>
          <p:cNvSpPr txBox="1"/>
          <p:nvPr/>
        </p:nvSpPr>
        <p:spPr>
          <a:xfrm>
            <a:off x="8595360" y="2880360"/>
            <a:ext cx="2926080" cy="3017520"/>
          </a:xfrm>
          <a:prstGeom prst="rect">
            <a:avLst/>
          </a:prstGeom>
          <a:noFill/>
        </p:spPr>
        <p:txBody>
          <a:bodyPr wrap="square" anchor="t" lIns="0" rIns="0" tIns="0" bIns="0">
            <a:spAutoFit/>
          </a:bodyPr>
          <a:lstStyle/>
          <a:p>
            <a:pPr algn="l"/>
            <a:r>
              <a:rPr sz="1300" b="0" i="0">
                <a:solidFill>
                  <a:srgbClr val="3A3A4A"/>
                </a:solidFill>
                <a:latin typeface="Calibri"/>
              </a:rPr>
              <a:t>Inflyatsiya iste'mol narxlari indeksi (INI) orqali o'lchanadi va pulning xarid qobiliyati pasayishini ko'rsatadi.</a:t>
            </a:r>
          </a:p>
          <a:p>
            <a:pPr algn="l"/>
            <a:r>
              <a:rPr sz="1300" b="0" i="0">
                <a:solidFill>
                  <a:srgbClr val="3A3A4A"/>
                </a:solidFill>
                <a:latin typeface="Calibri"/>
              </a:rPr>
              <a:t/>
            </a:r>
          </a:p>
          <a:p>
            <a:pPr algn="l"/>
            <a:r>
              <a:rPr sz="1300" b="0" i="0">
                <a:solidFill>
                  <a:srgbClr val="3A3A4A"/>
                </a:solidFill>
                <a:latin typeface="Calibri"/>
              </a:rPr>
              <a:t>Mo'tadil inflyatsiya (2–4%) iqtisodiy o'sishga xizmat qiladi, yuqori inflyatsiya esa jamiyatda beqarorlik keltirib chiqaradi.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3108960" cy="1645920"/>
          </a:xfrm>
          <a:prstGeom prst="rect">
            <a:avLst/>
          </a:prstGeom>
          <a:noFill/>
        </p:spPr>
        <p:txBody>
          <a:bodyPr wrap="square" anchor="t" lIns="0" rIns="0" tIns="0" bIns="0">
            <a:spAutoFit/>
          </a:bodyPr>
          <a:lstStyle/>
          <a:p>
            <a:pPr algn="l"/>
            <a:r>
              <a:rPr sz="3000" b="1" i="0">
                <a:solidFill>
                  <a:srgbClr val="FFFFFF"/>
                </a:solidFill>
                <a:latin typeface="Calibri"/>
              </a:rPr>
              <a:t>Iqtisodiy o'sish</a:t>
            </a:r>
          </a:p>
          <a:p>
            <a:pPr algn="l"/>
            <a:r>
              <a:rPr sz="3000" b="1" i="0">
                <a:solidFill>
                  <a:srgbClr val="FFFFFF"/>
                </a:solidFill>
                <a:latin typeface="Calibri"/>
              </a:rPr>
              <a:t>omillari</a:t>
            </a:r>
          </a:p>
        </p:txBody>
      </p:sp>
      <p:sp>
        <p:nvSpPr>
          <p:cNvPr id="4" name="TextBox 3"/>
          <p:cNvSpPr txBox="1"/>
          <p:nvPr/>
        </p:nvSpPr>
        <p:spPr>
          <a:xfrm>
            <a:off x="548640" y="2468880"/>
            <a:ext cx="3108960" cy="3200400"/>
          </a:xfrm>
          <a:prstGeom prst="rect">
            <a:avLst/>
          </a:prstGeom>
          <a:noFill/>
        </p:spPr>
        <p:txBody>
          <a:bodyPr wrap="square" anchor="t" lIns="0" rIns="0" tIns="0" bIns="0">
            <a:spAutoFit/>
          </a:bodyPr>
          <a:lstStyle/>
          <a:p>
            <a:pPr algn="l"/>
            <a:r>
              <a:rPr sz="1400" b="0" i="0">
                <a:solidFill>
                  <a:srgbClr val="D0D5E0"/>
                </a:solidFill>
                <a:latin typeface="Calibri"/>
              </a:rPr>
              <a:t>Iqtisodiy o'sish — real YaIMning uzoq muddatli ortishi bo'lib, u mamlakatning moddiy farovonligi va aholi turmush sifatining yaxshilanishini anglatadi.</a:t>
            </a:r>
          </a:p>
          <a:p>
            <a:pPr algn="l"/>
            <a:r>
              <a:rPr sz="1400" b="0" i="0">
                <a:solidFill>
                  <a:srgbClr val="D0D5E0"/>
                </a:solidFill>
                <a:latin typeface="Calibri"/>
              </a:rPr>
              <a:t/>
            </a:r>
          </a:p>
          <a:p>
            <a:pPr algn="l"/>
            <a:r>
              <a:rPr sz="1400" b="0" i="0">
                <a:solidFill>
                  <a:srgbClr val="D0D5E0"/>
                </a:solidFill>
                <a:latin typeface="Calibri"/>
              </a:rPr>
              <a:t>O'sish sur'ati yillik foizda o'lchanadi va iqtisodiy siyosatning asosiy maqsadlaridan biri hisoblanadi.</a:t>
            </a:r>
          </a:p>
        </p:txBody>
      </p:sp>
      <p:sp>
        <p:nvSpPr>
          <p:cNvPr id="5" name="Rounded Rectangle 4"/>
          <p:cNvSpPr/>
          <p:nvPr/>
        </p:nvSpPr>
        <p:spPr>
          <a:xfrm>
            <a:off x="4572000" y="548640"/>
            <a:ext cx="7132320" cy="274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777240"/>
            <a:ext cx="6400800" cy="457200"/>
          </a:xfrm>
          <a:prstGeom prst="rect">
            <a:avLst/>
          </a:prstGeom>
          <a:noFill/>
        </p:spPr>
        <p:txBody>
          <a:bodyPr wrap="square" anchor="t" lIns="0" rIns="0" tIns="0" bIns="0">
            <a:spAutoFit/>
          </a:bodyPr>
          <a:lstStyle/>
          <a:p>
            <a:pPr algn="l"/>
            <a:r>
              <a:rPr sz="1700" b="1" i="0">
                <a:solidFill>
                  <a:srgbClr val="1B2A4A"/>
                </a:solidFill>
                <a:latin typeface="Calibri"/>
              </a:rPr>
              <a:t>O'sishning to'rt asosiy omili</a:t>
            </a:r>
          </a:p>
        </p:txBody>
      </p:sp>
      <p:sp>
        <p:nvSpPr>
          <p:cNvPr id="7" name="TextBox 6"/>
          <p:cNvSpPr txBox="1"/>
          <p:nvPr/>
        </p:nvSpPr>
        <p:spPr>
          <a:xfrm>
            <a:off x="4937760" y="1280160"/>
            <a:ext cx="6400800" cy="1828800"/>
          </a:xfrm>
          <a:prstGeom prst="rect">
            <a:avLst/>
          </a:prstGeom>
          <a:noFill/>
        </p:spPr>
        <p:txBody>
          <a:bodyPr wrap="square" anchor="t" lIns="0" rIns="0" tIns="0" bIns="0">
            <a:spAutoFit/>
          </a:bodyPr>
          <a:lstStyle/>
          <a:p>
            <a:pPr algn="l"/>
            <a:r>
              <a:rPr sz="1300" b="0" i="0">
                <a:solidFill>
                  <a:srgbClr val="3A3A4A"/>
                </a:solidFill>
                <a:latin typeface="Calibri"/>
              </a:rPr>
              <a:t>• Mehnat resurslari — aholining soni, malakasi va mehnat unumdorligi</a:t>
            </a:r>
          </a:p>
          <a:p>
            <a:pPr algn="l"/>
            <a:r>
              <a:rPr sz="1300" b="0" i="0">
                <a:solidFill>
                  <a:srgbClr val="3A3A4A"/>
                </a:solidFill>
                <a:latin typeface="Calibri"/>
              </a:rPr>
              <a:t>• Kapital — ishlab chiqarish uskunalari, infratuzilma va investitsiyalar</a:t>
            </a:r>
          </a:p>
          <a:p>
            <a:pPr algn="l"/>
            <a:r>
              <a:rPr sz="1300" b="0" i="0">
                <a:solidFill>
                  <a:srgbClr val="3A3A4A"/>
                </a:solidFill>
                <a:latin typeface="Calibri"/>
              </a:rPr>
              <a:t>• Tabiiy resurslar — yer, suv, foydali qazilmalar va iqlim sharoiti</a:t>
            </a:r>
          </a:p>
          <a:p>
            <a:pPr algn="l"/>
            <a:r>
              <a:rPr sz="1300" b="0" i="0">
                <a:solidFill>
                  <a:srgbClr val="3A3A4A"/>
                </a:solidFill>
                <a:latin typeface="Calibri"/>
              </a:rPr>
              <a:t>• Texnologiya — ilmiy-texnikaviy taraqqiyot va innovatsion faoliyat</a:t>
            </a:r>
          </a:p>
        </p:txBody>
      </p:sp>
      <p:graphicFrame>
        <p:nvGraphicFramePr>
          <p:cNvPr id="8" name="Chart 7"/>
          <p:cNvGraphicFramePr>
            <a:graphicFrameLocks noGrp="1"/>
          </p:cNvGraphicFramePr>
          <p:nvPr/>
        </p:nvGraphicFramePr>
        <p:xfrm>
          <a:off x="4572000" y="3566160"/>
          <a:ext cx="7132320" cy="301752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0" rIns="0" tIns="0" bIns="0">
            <a:spAutoFit/>
          </a:bodyPr>
          <a:lstStyle/>
          <a:p>
            <a:pPr algn="l"/>
            <a:r>
              <a:rPr sz="3000" b="1" i="0">
                <a:solidFill>
                  <a:srgbClr val="1B2A4A"/>
                </a:solidFill>
                <a:latin typeface="Calibri"/>
              </a:rPr>
              <a:t>Fiskal va monetar siyosat: taqqosiy tahlil</a:t>
            </a:r>
          </a:p>
        </p:txBody>
      </p:sp>
      <p:sp>
        <p:nvSpPr>
          <p:cNvPr id="3" name="Rounded Rectangle 2"/>
          <p:cNvSpPr/>
          <p:nvPr/>
        </p:nvSpPr>
        <p:spPr>
          <a:xfrm>
            <a:off x="457200" y="1280160"/>
            <a:ext cx="5577840" cy="51206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4846320" cy="548640"/>
          </a:xfrm>
          <a:prstGeom prst="rect">
            <a:avLst/>
          </a:prstGeom>
          <a:noFill/>
        </p:spPr>
        <p:txBody>
          <a:bodyPr wrap="square" anchor="t" lIns="0" rIns="0" tIns="0" bIns="0">
            <a:spAutoFit/>
          </a:bodyPr>
          <a:lstStyle/>
          <a:p>
            <a:pPr algn="l"/>
            <a:r>
              <a:rPr sz="2000" b="1" i="0">
                <a:solidFill>
                  <a:srgbClr val="E8A020"/>
                </a:solidFill>
                <a:latin typeface="Calibri"/>
              </a:rPr>
              <a:t>Fiskal siyosat</a:t>
            </a:r>
          </a:p>
        </p:txBody>
      </p:sp>
      <p:sp>
        <p:nvSpPr>
          <p:cNvPr id="5" name="TextBox 4"/>
          <p:cNvSpPr txBox="1"/>
          <p:nvPr/>
        </p:nvSpPr>
        <p:spPr>
          <a:xfrm>
            <a:off x="822960" y="2148840"/>
            <a:ext cx="4846320" cy="3931920"/>
          </a:xfrm>
          <a:prstGeom prst="rect">
            <a:avLst/>
          </a:prstGeom>
          <a:noFill/>
        </p:spPr>
        <p:txBody>
          <a:bodyPr wrap="square" anchor="t" lIns="0" rIns="0" tIns="0" bIns="0">
            <a:spAutoFit/>
          </a:bodyPr>
          <a:lstStyle/>
          <a:p>
            <a:pPr algn="l"/>
            <a:r>
              <a:rPr sz="1300" b="0" i="0">
                <a:solidFill>
                  <a:srgbClr val="D0D5E0"/>
                </a:solidFill>
                <a:latin typeface="Calibri"/>
              </a:rPr>
              <a:t>Fiskal siyosat — hukumatning soliq va xarajatlar siyosati bo'lib, davlat byudjeti orqali iqtisodiyotga ta'sir ko'rsatadi.</a:t>
            </a:r>
          </a:p>
          <a:p>
            <a:pPr algn="l"/>
            <a:r>
              <a:rPr sz="1300" b="0" i="0">
                <a:solidFill>
                  <a:srgbClr val="D0D5E0"/>
                </a:solidFill>
                <a:latin typeface="Calibri"/>
              </a:rPr>
              <a:t/>
            </a:r>
          </a:p>
          <a:p>
            <a:pPr algn="l"/>
            <a:r>
              <a:rPr sz="1300" b="0" i="0">
                <a:solidFill>
                  <a:srgbClr val="D0D5E0"/>
                </a:solidFill>
                <a:latin typeface="Calibri"/>
              </a:rPr>
              <a:t>• Kengaytiruvchi siyosat: xarajatlarni oshirish, soliqlarni kamaytirish — taqchillik ortadi</a:t>
            </a:r>
          </a:p>
          <a:p>
            <a:pPr algn="l"/>
            <a:r>
              <a:rPr sz="1300" b="0" i="0">
                <a:solidFill>
                  <a:srgbClr val="D0D5E0"/>
                </a:solidFill>
                <a:latin typeface="Calibri"/>
              </a:rPr>
              <a:t>• Toraytiruvchi siyosat: xarajatlarni qisqartirish, soliqlarni oshirish — byudjet profisiti</a:t>
            </a:r>
          </a:p>
          <a:p>
            <a:pPr algn="l"/>
            <a:r>
              <a:rPr sz="1300" b="0" i="0">
                <a:solidFill>
                  <a:srgbClr val="D0D5E0"/>
                </a:solidFill>
                <a:latin typeface="Calibri"/>
              </a:rPr>
              <a:t/>
            </a:r>
          </a:p>
          <a:p>
            <a:pPr algn="l"/>
            <a:r>
              <a:rPr sz="1300" b="0" i="0">
                <a:solidFill>
                  <a:srgbClr val="D0D5E0"/>
                </a:solidFill>
                <a:latin typeface="Calibri"/>
              </a:rPr>
              <a:t>Ta'sir tezligi: sekin (qonunchilik jarayoni talab qiladi), lekin uzoq muddatli samara kuchli.</a:t>
            </a:r>
          </a:p>
        </p:txBody>
      </p:sp>
      <p:sp>
        <p:nvSpPr>
          <p:cNvPr id="6" name="Rectangle 5"/>
          <p:cNvSpPr/>
          <p:nvPr/>
        </p:nvSpPr>
        <p:spPr>
          <a:xfrm>
            <a:off x="6126480" y="1280160"/>
            <a:ext cx="45720" cy="512064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0" y="1280160"/>
            <a:ext cx="5486400" cy="51206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754880" cy="548640"/>
          </a:xfrm>
          <a:prstGeom prst="rect">
            <a:avLst/>
          </a:prstGeom>
          <a:noFill/>
        </p:spPr>
        <p:txBody>
          <a:bodyPr wrap="square" anchor="t" lIns="0" rIns="0" tIns="0" bIns="0">
            <a:spAutoFit/>
          </a:bodyPr>
          <a:lstStyle/>
          <a:p>
            <a:pPr algn="l"/>
            <a:r>
              <a:rPr sz="2000" b="1" i="0">
                <a:solidFill>
                  <a:srgbClr val="1B2A4A"/>
                </a:solidFill>
                <a:latin typeface="Calibri"/>
              </a:rPr>
              <a:t>Monetar siyosat</a:t>
            </a:r>
          </a:p>
        </p:txBody>
      </p:sp>
      <p:sp>
        <p:nvSpPr>
          <p:cNvPr id="9" name="TextBox 8"/>
          <p:cNvSpPr txBox="1"/>
          <p:nvPr/>
        </p:nvSpPr>
        <p:spPr>
          <a:xfrm>
            <a:off x="6675120" y="2148840"/>
            <a:ext cx="4754880" cy="3931920"/>
          </a:xfrm>
          <a:prstGeom prst="rect">
            <a:avLst/>
          </a:prstGeom>
          <a:noFill/>
        </p:spPr>
        <p:txBody>
          <a:bodyPr wrap="square" anchor="t" lIns="0" rIns="0" tIns="0" bIns="0">
            <a:spAutoFit/>
          </a:bodyPr>
          <a:lstStyle/>
          <a:p>
            <a:pPr algn="l"/>
            <a:r>
              <a:rPr sz="1300" b="0" i="0">
                <a:solidFill>
                  <a:srgbClr val="3A3A4A"/>
                </a:solidFill>
                <a:latin typeface="Calibri"/>
              </a:rPr>
              <a:t>Monetar siyosat — markaziy bankning pul-kredit siyosati bo'lib, foiz stavkalari va pul massasi orqali iqtisodiyotni boshqaradi.</a:t>
            </a:r>
          </a:p>
          <a:p>
            <a:pPr algn="l"/>
            <a:r>
              <a:rPr sz="1300" b="0" i="0">
                <a:solidFill>
                  <a:srgbClr val="3A3A4A"/>
                </a:solidFill>
                <a:latin typeface="Calibri"/>
              </a:rPr>
              <a:t/>
            </a:r>
          </a:p>
          <a:p>
            <a:pPr algn="l"/>
            <a:r>
              <a:rPr sz="1300" b="0" i="0">
                <a:solidFill>
                  <a:srgbClr val="3A3A4A"/>
                </a:solidFill>
                <a:latin typeface="Calibri"/>
              </a:rPr>
              <a:t>• Kengaytiruvchi siyosat: foiz stavkasini pasaytirish, pul massasini oshirish</a:t>
            </a:r>
          </a:p>
          <a:p>
            <a:pPr algn="l"/>
            <a:r>
              <a:rPr sz="1300" b="0" i="0">
                <a:solidFill>
                  <a:srgbClr val="3A3A4A"/>
                </a:solidFill>
                <a:latin typeface="Calibri"/>
              </a:rPr>
              <a:t>• Toraytiruvchi siyosat: foiz stavkasini oshirish, likvidlikni qisqartirish</a:t>
            </a:r>
          </a:p>
          <a:p>
            <a:pPr algn="l"/>
            <a:r>
              <a:rPr sz="1300" b="0" i="0">
                <a:solidFill>
                  <a:srgbClr val="3A3A4A"/>
                </a:solidFill>
                <a:latin typeface="Calibri"/>
              </a:rPr>
              <a:t/>
            </a:r>
          </a:p>
          <a:p>
            <a:pPr algn="l"/>
            <a:r>
              <a:rPr sz="1300" b="0" i="0">
                <a:solidFill>
                  <a:srgbClr val="3A3A4A"/>
                </a:solidFill>
                <a:latin typeface="Calibri"/>
              </a:rPr>
              <a:t>Ta'sir tezligi: tezkor (markaziy bank mustaqil qaror qabul qiladi), lekin samarasi kechikish bilan namoyon bo'ladi.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554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731520"/>
          </a:xfrm>
          <a:prstGeom prst="rect">
            <a:avLst/>
          </a:prstGeom>
          <a:noFill/>
        </p:spPr>
        <p:txBody>
          <a:bodyPr wrap="square" anchor="t" lIns="0" rIns="0" tIns="0" bIns="0">
            <a:spAutoFit/>
          </a:bodyPr>
          <a:lstStyle/>
          <a:p>
            <a:pPr algn="l"/>
            <a:r>
              <a:rPr sz="3000" b="1" i="0">
                <a:solidFill>
                  <a:srgbClr val="FFFFFF"/>
                </a:solidFill>
                <a:latin typeface="Calibri"/>
              </a:rPr>
              <a:t>Iqtisodiy tsikl: bosqichlar va amaliy ahamiyati</a:t>
            </a:r>
          </a:p>
        </p:txBody>
      </p:sp>
      <p:sp>
        <p:nvSpPr>
          <p:cNvPr id="4" name="TextBox 3"/>
          <p:cNvSpPr txBox="1"/>
          <p:nvPr/>
        </p:nvSpPr>
        <p:spPr>
          <a:xfrm>
            <a:off x="548640" y="1097280"/>
            <a:ext cx="10972800" cy="457200"/>
          </a:xfrm>
          <a:prstGeom prst="rect">
            <a:avLst/>
          </a:prstGeom>
          <a:noFill/>
        </p:spPr>
        <p:txBody>
          <a:bodyPr wrap="square" anchor="t" lIns="0" rIns="0" tIns="0" bIns="0">
            <a:spAutoFit/>
          </a:bodyPr>
          <a:lstStyle/>
          <a:p>
            <a:pPr algn="l"/>
            <a:r>
              <a:rPr sz="1500" b="0" i="0">
                <a:solidFill>
                  <a:srgbClr val="E8A020"/>
                </a:solidFill>
                <a:latin typeface="Calibri"/>
              </a:rPr>
              <a:t>Iqtisodiy faollikning davriy tebranishlari va ularning bashorat qilish imkoniyatlari</a:t>
            </a:r>
          </a:p>
        </p:txBody>
      </p:sp>
      <p:sp>
        <p:nvSpPr>
          <p:cNvPr id="5" name="Rounded Rectangle 4"/>
          <p:cNvSpPr/>
          <p:nvPr/>
        </p:nvSpPr>
        <p:spPr>
          <a:xfrm>
            <a:off x="457200" y="1828800"/>
            <a:ext cx="2743200" cy="4480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63040" y="2103120"/>
            <a:ext cx="731520" cy="7315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2212848"/>
            <a:ext cx="731520" cy="548640"/>
          </a:xfrm>
          <a:prstGeom prst="rect">
            <a:avLst/>
          </a:prstGeom>
          <a:noFill/>
        </p:spPr>
        <p:txBody>
          <a:bodyPr wrap="square" anchor="t" lIns="0" rIns="0" tIns="0" bIns="0">
            <a:spAutoFit/>
          </a:bodyPr>
          <a:lstStyle/>
          <a:p>
            <a:pPr algn="ctr"/>
            <a:r>
              <a:rPr sz="2200" b="1" i="0">
                <a:solidFill>
                  <a:srgbClr val="FFFFFF"/>
                </a:solidFill>
                <a:latin typeface="Calibri"/>
              </a:rPr>
              <a:t>1</a:t>
            </a:r>
          </a:p>
        </p:txBody>
      </p:sp>
      <p:sp>
        <p:nvSpPr>
          <p:cNvPr id="8" name="TextBox 7"/>
          <p:cNvSpPr txBox="1"/>
          <p:nvPr/>
        </p:nvSpPr>
        <p:spPr>
          <a:xfrm>
            <a:off x="731520" y="3017520"/>
            <a:ext cx="2194560" cy="457200"/>
          </a:xfrm>
          <a:prstGeom prst="rect">
            <a:avLst/>
          </a:prstGeom>
          <a:noFill/>
        </p:spPr>
        <p:txBody>
          <a:bodyPr wrap="square" anchor="t" lIns="0" rIns="0" tIns="0" bIns="0">
            <a:spAutoFit/>
          </a:bodyPr>
          <a:lstStyle/>
          <a:p>
            <a:pPr algn="ctr"/>
            <a:r>
              <a:rPr sz="1700" b="1" i="0">
                <a:solidFill>
                  <a:srgbClr val="1B2A4A"/>
                </a:solidFill>
                <a:latin typeface="Calibri"/>
              </a:rPr>
              <a:t>Yuksalish</a:t>
            </a:r>
          </a:p>
        </p:txBody>
      </p:sp>
      <p:sp>
        <p:nvSpPr>
          <p:cNvPr id="9" name="TextBox 8"/>
          <p:cNvSpPr txBox="1"/>
          <p:nvPr/>
        </p:nvSpPr>
        <p:spPr>
          <a:xfrm>
            <a:off x="685800" y="3520440"/>
            <a:ext cx="2286000" cy="2560320"/>
          </a:xfrm>
          <a:prstGeom prst="rect">
            <a:avLst/>
          </a:prstGeom>
          <a:noFill/>
        </p:spPr>
        <p:txBody>
          <a:bodyPr wrap="square" anchor="t" lIns="0" rIns="0" tIns="0" bIns="0">
            <a:spAutoFit/>
          </a:bodyPr>
          <a:lstStyle/>
          <a:p>
            <a:pPr algn="l"/>
            <a:r>
              <a:rPr sz="1300" b="0" i="0">
                <a:solidFill>
                  <a:srgbClr val="3A3A4A"/>
                </a:solidFill>
                <a:latin typeface="Calibri"/>
              </a:rPr>
              <a:t>Ishlab chiqarish o'sadi, bandlik ko'tariladi, iste'mol talabi kuchayadi. Investitsiyalar faollashadi, korxonalar foydasi ortadi. Inflyatsiya bosimi asta-sekin kuchayadi.</a:t>
            </a:r>
          </a:p>
        </p:txBody>
      </p:sp>
      <p:sp>
        <p:nvSpPr>
          <p:cNvPr id="10" name="Rounded Rectangle 9"/>
          <p:cNvSpPr/>
          <p:nvPr/>
        </p:nvSpPr>
        <p:spPr>
          <a:xfrm>
            <a:off x="3383280" y="1828800"/>
            <a:ext cx="2743200" cy="4480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89120" y="2103120"/>
            <a:ext cx="731520" cy="7315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212848"/>
            <a:ext cx="731520" cy="548640"/>
          </a:xfrm>
          <a:prstGeom prst="rect">
            <a:avLst/>
          </a:prstGeom>
          <a:noFill/>
        </p:spPr>
        <p:txBody>
          <a:bodyPr wrap="square" anchor="t" lIns="0" rIns="0" tIns="0" bIns="0">
            <a:spAutoFit/>
          </a:bodyPr>
          <a:lstStyle/>
          <a:p>
            <a:pPr algn="ctr"/>
            <a:r>
              <a:rPr sz="2200" b="1" i="0">
                <a:solidFill>
                  <a:srgbClr val="FFFFFF"/>
                </a:solidFill>
                <a:latin typeface="Calibri"/>
              </a:rPr>
              <a:t>2</a:t>
            </a:r>
          </a:p>
        </p:txBody>
      </p:sp>
      <p:sp>
        <p:nvSpPr>
          <p:cNvPr id="13" name="TextBox 12"/>
          <p:cNvSpPr txBox="1"/>
          <p:nvPr/>
        </p:nvSpPr>
        <p:spPr>
          <a:xfrm>
            <a:off x="3657600" y="3017520"/>
            <a:ext cx="2194560" cy="457200"/>
          </a:xfrm>
          <a:prstGeom prst="rect">
            <a:avLst/>
          </a:prstGeom>
          <a:noFill/>
        </p:spPr>
        <p:txBody>
          <a:bodyPr wrap="square" anchor="t" lIns="0" rIns="0" tIns="0" bIns="0">
            <a:spAutoFit/>
          </a:bodyPr>
          <a:lstStyle/>
          <a:p>
            <a:pPr algn="ctr"/>
            <a:r>
              <a:rPr sz="1700" b="1" i="0">
                <a:solidFill>
                  <a:srgbClr val="1B2A4A"/>
                </a:solidFill>
                <a:latin typeface="Calibri"/>
              </a:rPr>
              <a:t>Cho'qqi</a:t>
            </a:r>
          </a:p>
        </p:txBody>
      </p:sp>
      <p:sp>
        <p:nvSpPr>
          <p:cNvPr id="14" name="TextBox 13"/>
          <p:cNvSpPr txBox="1"/>
          <p:nvPr/>
        </p:nvSpPr>
        <p:spPr>
          <a:xfrm>
            <a:off x="3611880" y="3520440"/>
            <a:ext cx="2286000" cy="2560320"/>
          </a:xfrm>
          <a:prstGeom prst="rect">
            <a:avLst/>
          </a:prstGeom>
          <a:noFill/>
        </p:spPr>
        <p:txBody>
          <a:bodyPr wrap="square" anchor="t" lIns="0" rIns="0" tIns="0" bIns="0">
            <a:spAutoFit/>
          </a:bodyPr>
          <a:lstStyle/>
          <a:p>
            <a:pPr algn="l"/>
            <a:r>
              <a:rPr sz="1300" b="0" i="0">
                <a:solidFill>
                  <a:srgbClr val="3A3A4A"/>
                </a:solidFill>
                <a:latin typeface="Calibri"/>
              </a:rPr>
              <a:t>Iqtisodiyot maksimal faollik nuqtasiga yetadi. To'liq bandlik yaratiladi, lekin ishlab chiqarish quvvatlari chegaralanadi. Inflyatsiya eng yuqori darajaga ko'tariladi.</a:t>
            </a:r>
          </a:p>
        </p:txBody>
      </p:sp>
      <p:sp>
        <p:nvSpPr>
          <p:cNvPr id="15" name="Rounded Rectangle 14"/>
          <p:cNvSpPr/>
          <p:nvPr/>
        </p:nvSpPr>
        <p:spPr>
          <a:xfrm>
            <a:off x="6309360" y="1828800"/>
            <a:ext cx="2743200" cy="4480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0" y="2103120"/>
            <a:ext cx="731520" cy="7315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212848"/>
            <a:ext cx="731520" cy="548640"/>
          </a:xfrm>
          <a:prstGeom prst="rect">
            <a:avLst/>
          </a:prstGeom>
          <a:noFill/>
        </p:spPr>
        <p:txBody>
          <a:bodyPr wrap="square" anchor="t" lIns="0" rIns="0" tIns="0" bIns="0">
            <a:spAutoFit/>
          </a:bodyPr>
          <a:lstStyle/>
          <a:p>
            <a:pPr algn="ctr"/>
            <a:r>
              <a:rPr sz="2200" b="1" i="0">
                <a:solidFill>
                  <a:srgbClr val="FFFFFF"/>
                </a:solidFill>
                <a:latin typeface="Calibri"/>
              </a:rPr>
              <a:t>3</a:t>
            </a:r>
          </a:p>
        </p:txBody>
      </p:sp>
      <p:sp>
        <p:nvSpPr>
          <p:cNvPr id="18" name="TextBox 17"/>
          <p:cNvSpPr txBox="1"/>
          <p:nvPr/>
        </p:nvSpPr>
        <p:spPr>
          <a:xfrm>
            <a:off x="6583680" y="3017520"/>
            <a:ext cx="2194560" cy="457200"/>
          </a:xfrm>
          <a:prstGeom prst="rect">
            <a:avLst/>
          </a:prstGeom>
          <a:noFill/>
        </p:spPr>
        <p:txBody>
          <a:bodyPr wrap="square" anchor="t" lIns="0" rIns="0" tIns="0" bIns="0">
            <a:spAutoFit/>
          </a:bodyPr>
          <a:lstStyle/>
          <a:p>
            <a:pPr algn="ctr"/>
            <a:r>
              <a:rPr sz="1700" b="1" i="0">
                <a:solidFill>
                  <a:srgbClr val="1B2A4A"/>
                </a:solidFill>
                <a:latin typeface="Calibri"/>
              </a:rPr>
              <a:t>Pasayish</a:t>
            </a:r>
          </a:p>
        </p:txBody>
      </p:sp>
      <p:sp>
        <p:nvSpPr>
          <p:cNvPr id="19" name="TextBox 18"/>
          <p:cNvSpPr txBox="1"/>
          <p:nvPr/>
        </p:nvSpPr>
        <p:spPr>
          <a:xfrm>
            <a:off x="6537960" y="3520440"/>
            <a:ext cx="2286000" cy="2560320"/>
          </a:xfrm>
          <a:prstGeom prst="rect">
            <a:avLst/>
          </a:prstGeom>
          <a:noFill/>
        </p:spPr>
        <p:txBody>
          <a:bodyPr wrap="square" anchor="t" lIns="0" rIns="0" tIns="0" bIns="0">
            <a:spAutoFit/>
          </a:bodyPr>
          <a:lstStyle/>
          <a:p>
            <a:pPr algn="l"/>
            <a:r>
              <a:rPr sz="1300" b="0" i="0">
                <a:solidFill>
                  <a:srgbClr val="3A3A4A"/>
                </a:solidFill>
                <a:latin typeface="Calibri"/>
              </a:rPr>
              <a:t>Ishlab chiqarish qisqaradi, ishsizlik o'sadi, iste'mol talabi kamayadi. Korxonalar foydasi tushadi, investitsiyalar qisqaradi. Retssessiya xavfi paydo bo'ladi.</a:t>
            </a:r>
          </a:p>
        </p:txBody>
      </p:sp>
      <p:sp>
        <p:nvSpPr>
          <p:cNvPr id="20" name="Rounded Rectangle 19"/>
          <p:cNvSpPr/>
          <p:nvPr/>
        </p:nvSpPr>
        <p:spPr>
          <a:xfrm>
            <a:off x="9235440" y="1828800"/>
            <a:ext cx="2651760" cy="4480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95560" y="2103120"/>
            <a:ext cx="731520" cy="73152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95560" y="2212848"/>
            <a:ext cx="731520" cy="548640"/>
          </a:xfrm>
          <a:prstGeom prst="rect">
            <a:avLst/>
          </a:prstGeom>
          <a:noFill/>
        </p:spPr>
        <p:txBody>
          <a:bodyPr wrap="square" anchor="t" lIns="0" rIns="0" tIns="0" bIns="0">
            <a:spAutoFit/>
          </a:bodyPr>
          <a:lstStyle/>
          <a:p>
            <a:pPr algn="ctr"/>
            <a:r>
              <a:rPr sz="2200" b="1" i="0">
                <a:solidFill>
                  <a:srgbClr val="FFFFFF"/>
                </a:solidFill>
                <a:latin typeface="Calibri"/>
              </a:rPr>
              <a:t>4</a:t>
            </a:r>
          </a:p>
        </p:txBody>
      </p:sp>
      <p:sp>
        <p:nvSpPr>
          <p:cNvPr id="23" name="TextBox 22"/>
          <p:cNvSpPr txBox="1"/>
          <p:nvPr/>
        </p:nvSpPr>
        <p:spPr>
          <a:xfrm>
            <a:off x="9464040" y="3017520"/>
            <a:ext cx="2194560" cy="457200"/>
          </a:xfrm>
          <a:prstGeom prst="rect">
            <a:avLst/>
          </a:prstGeom>
          <a:noFill/>
        </p:spPr>
        <p:txBody>
          <a:bodyPr wrap="square" anchor="t" lIns="0" rIns="0" tIns="0" bIns="0">
            <a:spAutoFit/>
          </a:bodyPr>
          <a:lstStyle/>
          <a:p>
            <a:pPr algn="ctr"/>
            <a:r>
              <a:rPr sz="1700" b="1" i="0">
                <a:solidFill>
                  <a:srgbClr val="1B2A4A"/>
                </a:solidFill>
                <a:latin typeface="Calibri"/>
              </a:rPr>
              <a:t>Tub nuqta</a:t>
            </a:r>
          </a:p>
        </p:txBody>
      </p:sp>
      <p:sp>
        <p:nvSpPr>
          <p:cNvPr id="24" name="TextBox 23"/>
          <p:cNvSpPr txBox="1"/>
          <p:nvPr/>
        </p:nvSpPr>
        <p:spPr>
          <a:xfrm>
            <a:off x="9464040" y="3520440"/>
            <a:ext cx="2194560" cy="2560320"/>
          </a:xfrm>
          <a:prstGeom prst="rect">
            <a:avLst/>
          </a:prstGeom>
          <a:noFill/>
        </p:spPr>
        <p:txBody>
          <a:bodyPr wrap="square" anchor="t" lIns="0" rIns="0" tIns="0" bIns="0">
            <a:spAutoFit/>
          </a:bodyPr>
          <a:lstStyle/>
          <a:p>
            <a:pPr algn="l"/>
            <a:r>
              <a:rPr sz="1300" b="0" i="0">
                <a:solidFill>
                  <a:srgbClr val="3A3A4A"/>
                </a:solidFill>
                <a:latin typeface="Calibri"/>
              </a:rPr>
              <a:t>Iqtisodiy faollik eng past darajaga tushadi. Ishsizlik maksimal, ishlab chiqarish minimal. Shu nuqtadan tiklanish jarayoni boshlanadi.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645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nchor="t" lIns="0" rIns="0" tIns="0" bIns="0">
            <a:spAutoFit/>
          </a:bodyPr>
          <a:lstStyle/>
          <a:p>
            <a:pPr algn="l"/>
            <a:r>
              <a:rPr sz="3000" b="1" i="0">
                <a:solidFill>
                  <a:srgbClr val="FFFFFF"/>
                </a:solidFill>
                <a:latin typeface="Calibri"/>
              </a:rPr>
              <a:t>Xulosa: iqtisodiyot nazariyasining asosiy tamoyillari</a:t>
            </a:r>
          </a:p>
        </p:txBody>
      </p:sp>
      <p:sp>
        <p:nvSpPr>
          <p:cNvPr id="4" name="TextBox 3"/>
          <p:cNvSpPr txBox="1"/>
          <p:nvPr/>
        </p:nvSpPr>
        <p:spPr>
          <a:xfrm>
            <a:off x="548640" y="1188720"/>
            <a:ext cx="10972800" cy="457200"/>
          </a:xfrm>
          <a:prstGeom prst="rect">
            <a:avLst/>
          </a:prstGeom>
          <a:noFill/>
        </p:spPr>
        <p:txBody>
          <a:bodyPr wrap="square" anchor="t" lIns="0" rIns="0" tIns="0" bIns="0">
            <a:spAutoFit/>
          </a:bodyPr>
          <a:lstStyle/>
          <a:p>
            <a:pPr algn="l"/>
            <a:r>
              <a:rPr sz="1500" b="0" i="0">
                <a:solidFill>
                  <a:srgbClr val="E8A020"/>
                </a:solidFill>
                <a:latin typeface="Calibri"/>
              </a:rPr>
              <a:t>O'rganilgan asosiy tushunchalar va ularning o'zaro bog'liqligi</a:t>
            </a:r>
          </a:p>
        </p:txBody>
      </p:sp>
      <p:sp>
        <p:nvSpPr>
          <p:cNvPr id="5" name="Rounded Rectangle 4"/>
          <p:cNvSpPr/>
          <p:nvPr/>
        </p:nvSpPr>
        <p:spPr>
          <a:xfrm>
            <a:off x="457200" y="1920240"/>
            <a:ext cx="5577840" cy="2011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4846320" cy="457200"/>
          </a:xfrm>
          <a:prstGeom prst="rect">
            <a:avLst/>
          </a:prstGeom>
          <a:noFill/>
        </p:spPr>
        <p:txBody>
          <a:bodyPr wrap="square" anchor="t" lIns="0" rIns="0" tIns="0" bIns="0">
            <a:spAutoFit/>
          </a:bodyPr>
          <a:lstStyle/>
          <a:p>
            <a:pPr algn="l"/>
            <a:r>
              <a:rPr sz="1600" b="1" i="0">
                <a:solidFill>
                  <a:srgbClr val="1B2A4A"/>
                </a:solidFill>
                <a:latin typeface="Calibri"/>
              </a:rPr>
              <a:t>1. Bozor mexanizmi</a:t>
            </a:r>
          </a:p>
        </p:txBody>
      </p:sp>
      <p:sp>
        <p:nvSpPr>
          <p:cNvPr id="7" name="TextBox 6"/>
          <p:cNvSpPr txBox="1"/>
          <p:nvPr/>
        </p:nvSpPr>
        <p:spPr>
          <a:xfrm>
            <a:off x="822960" y="2651760"/>
            <a:ext cx="4846320" cy="1188720"/>
          </a:xfrm>
          <a:prstGeom prst="rect">
            <a:avLst/>
          </a:prstGeom>
          <a:noFill/>
        </p:spPr>
        <p:txBody>
          <a:bodyPr wrap="square" anchor="t" lIns="0" rIns="0" tIns="0" bIns="0">
            <a:spAutoFit/>
          </a:bodyPr>
          <a:lstStyle/>
          <a:p>
            <a:pPr algn="l"/>
            <a:r>
              <a:rPr sz="1300" b="0" i="0">
                <a:solidFill>
                  <a:srgbClr val="3A3A4A"/>
                </a:solidFill>
                <a:latin typeface="Calibri"/>
              </a:rPr>
              <a:t>Talab va taklif kesishmasida muvozanat narxi shakllanadi. Narx signali resurslarni samarali taqsimlaydi va bozor ishtirokchilarining qarorlarini yo'naltiradi.</a:t>
            </a:r>
          </a:p>
        </p:txBody>
      </p:sp>
      <p:sp>
        <p:nvSpPr>
          <p:cNvPr id="8" name="Rounded Rectangle 7"/>
          <p:cNvSpPr/>
          <p:nvPr/>
        </p:nvSpPr>
        <p:spPr>
          <a:xfrm>
            <a:off x="6309360" y="1920240"/>
            <a:ext cx="5486400" cy="2011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148840"/>
            <a:ext cx="4754880" cy="457200"/>
          </a:xfrm>
          <a:prstGeom prst="rect">
            <a:avLst/>
          </a:prstGeom>
          <a:noFill/>
        </p:spPr>
        <p:txBody>
          <a:bodyPr wrap="square" anchor="t" lIns="0" rIns="0" tIns="0" bIns="0">
            <a:spAutoFit/>
          </a:bodyPr>
          <a:lstStyle/>
          <a:p>
            <a:pPr algn="l"/>
            <a:r>
              <a:rPr sz="1600" b="1" i="0">
                <a:solidFill>
                  <a:srgbClr val="1B2A4A"/>
                </a:solidFill>
                <a:latin typeface="Calibri"/>
              </a:rPr>
              <a:t>2. Makroiqtisodiy barqarorlik</a:t>
            </a:r>
          </a:p>
        </p:txBody>
      </p:sp>
      <p:sp>
        <p:nvSpPr>
          <p:cNvPr id="10" name="TextBox 9"/>
          <p:cNvSpPr txBox="1"/>
          <p:nvPr/>
        </p:nvSpPr>
        <p:spPr>
          <a:xfrm>
            <a:off x="6675120" y="2651760"/>
            <a:ext cx="4754880" cy="1188720"/>
          </a:xfrm>
          <a:prstGeom prst="rect">
            <a:avLst/>
          </a:prstGeom>
          <a:noFill/>
        </p:spPr>
        <p:txBody>
          <a:bodyPr wrap="square" anchor="t" lIns="0" rIns="0" tIns="0" bIns="0">
            <a:spAutoFit/>
          </a:bodyPr>
          <a:lstStyle/>
          <a:p>
            <a:pPr algn="l"/>
            <a:r>
              <a:rPr sz="1300" b="0" i="0">
                <a:solidFill>
                  <a:srgbClr val="3A3A4A"/>
                </a:solidFill>
                <a:latin typeface="Calibri"/>
              </a:rPr>
              <a:t>YaIM, ishsizlik va inflyatsiya — iqtisodiyot holatini baholashning uch asosiy ko'rsatkichi. Ularning muvozanati barqaror iqtisodiy o'sishni ta'minlaydi.</a:t>
            </a:r>
          </a:p>
        </p:txBody>
      </p:sp>
      <p:sp>
        <p:nvSpPr>
          <p:cNvPr id="11" name="Rounded Rectangle 10"/>
          <p:cNvSpPr/>
          <p:nvPr/>
        </p:nvSpPr>
        <p:spPr>
          <a:xfrm>
            <a:off x="457200" y="4160520"/>
            <a:ext cx="5577840" cy="2011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4846320" cy="457200"/>
          </a:xfrm>
          <a:prstGeom prst="rect">
            <a:avLst/>
          </a:prstGeom>
          <a:noFill/>
        </p:spPr>
        <p:txBody>
          <a:bodyPr wrap="square" anchor="t" lIns="0" rIns="0" tIns="0" bIns="0">
            <a:spAutoFit/>
          </a:bodyPr>
          <a:lstStyle/>
          <a:p>
            <a:pPr algn="l"/>
            <a:r>
              <a:rPr sz="1600" b="1" i="0">
                <a:solidFill>
                  <a:srgbClr val="1B2A4A"/>
                </a:solidFill>
                <a:latin typeface="Calibri"/>
              </a:rPr>
              <a:t>3. Davlat tartibga solishi</a:t>
            </a:r>
          </a:p>
        </p:txBody>
      </p:sp>
      <p:sp>
        <p:nvSpPr>
          <p:cNvPr id="13" name="TextBox 12"/>
          <p:cNvSpPr txBox="1"/>
          <p:nvPr/>
        </p:nvSpPr>
        <p:spPr>
          <a:xfrm>
            <a:off x="822960" y="4892040"/>
            <a:ext cx="4846320" cy="1188720"/>
          </a:xfrm>
          <a:prstGeom prst="rect">
            <a:avLst/>
          </a:prstGeom>
          <a:noFill/>
        </p:spPr>
        <p:txBody>
          <a:bodyPr wrap="square" anchor="t" lIns="0" rIns="0" tIns="0" bIns="0">
            <a:spAutoFit/>
          </a:bodyPr>
          <a:lstStyle/>
          <a:p>
            <a:pPr algn="l"/>
            <a:r>
              <a:rPr sz="1300" b="0" i="0">
                <a:solidFill>
                  <a:srgbClr val="3A3A4A"/>
                </a:solidFill>
                <a:latin typeface="Calibri"/>
              </a:rPr>
              <a:t>Fiskal va monetar siyosat vositalari iqtisodiy tsiklning salbiy ta'sirini yumshatadi. Hukumat va markaziy bank hamkorlikda makroiqtisodiy barqarorlikni saqlaydi.</a:t>
            </a:r>
          </a:p>
        </p:txBody>
      </p:sp>
      <p:sp>
        <p:nvSpPr>
          <p:cNvPr id="14" name="Rounded Rectangle 13"/>
          <p:cNvSpPr/>
          <p:nvPr/>
        </p:nvSpPr>
        <p:spPr>
          <a:xfrm>
            <a:off x="6309360" y="4160520"/>
            <a:ext cx="5486400" cy="2011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4389120"/>
            <a:ext cx="4754880" cy="457200"/>
          </a:xfrm>
          <a:prstGeom prst="rect">
            <a:avLst/>
          </a:prstGeom>
          <a:noFill/>
        </p:spPr>
        <p:txBody>
          <a:bodyPr wrap="square" anchor="t" lIns="0" rIns="0" tIns="0" bIns="0">
            <a:spAutoFit/>
          </a:bodyPr>
          <a:lstStyle/>
          <a:p>
            <a:pPr algn="l"/>
            <a:r>
              <a:rPr sz="1600" b="1" i="0">
                <a:solidFill>
                  <a:srgbClr val="E8A020"/>
                </a:solidFill>
                <a:latin typeface="Calibri"/>
              </a:rPr>
              <a:t>4. Amaliy xulosa</a:t>
            </a:r>
          </a:p>
        </p:txBody>
      </p:sp>
      <p:sp>
        <p:nvSpPr>
          <p:cNvPr id="16" name="TextBox 15"/>
          <p:cNvSpPr txBox="1"/>
          <p:nvPr/>
        </p:nvSpPr>
        <p:spPr>
          <a:xfrm>
            <a:off x="6675120" y="4892040"/>
            <a:ext cx="4754880" cy="1188720"/>
          </a:xfrm>
          <a:prstGeom prst="rect">
            <a:avLst/>
          </a:prstGeom>
          <a:noFill/>
        </p:spPr>
        <p:txBody>
          <a:bodyPr wrap="square" anchor="t" lIns="0" rIns="0" tIns="0" bIns="0">
            <a:spAutoFit/>
          </a:bodyPr>
          <a:lstStyle/>
          <a:p>
            <a:pPr algn="l"/>
            <a:r>
              <a:rPr sz="1300" b="0" i="0">
                <a:solidFill>
                  <a:srgbClr val="D0D5E0"/>
                </a:solidFill>
                <a:latin typeface="Calibri"/>
              </a:rPr>
              <a:t>Iqtisodiyot nazariyasi faqat akademik bilim emas — u kundalik hayotda, biznes qarorlarida va davlat siyosatini tushunishda zaruriy analitik vosita hisoblanadi.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